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263" r:id="rId3"/>
    <p:sldId id="264" r:id="rId4"/>
    <p:sldId id="262" r:id="rId5"/>
    <p:sldId id="1143" r:id="rId6"/>
    <p:sldId id="1134" r:id="rId7"/>
    <p:sldId id="1144" r:id="rId8"/>
    <p:sldId id="1135" r:id="rId9"/>
    <p:sldId id="1136" r:id="rId10"/>
    <p:sldId id="1142" r:id="rId11"/>
    <p:sldId id="1138" r:id="rId12"/>
    <p:sldId id="1139" r:id="rId13"/>
    <p:sldId id="1140" r:id="rId14"/>
    <p:sldId id="1141" r:id="rId15"/>
    <p:sldId id="1137" r:id="rId16"/>
    <p:sldId id="268" r:id="rId17"/>
    <p:sldId id="269" r:id="rId18"/>
    <p:sldId id="266" r:id="rId19"/>
    <p:sldId id="442" r:id="rId20"/>
    <p:sldId id="1109" r:id="rId21"/>
    <p:sldId id="444" r:id="rId22"/>
    <p:sldId id="1108" r:id="rId23"/>
    <p:sldId id="1099" r:id="rId24"/>
    <p:sldId id="1102" r:id="rId25"/>
    <p:sldId id="1118" r:id="rId26"/>
    <p:sldId id="1119" r:id="rId27"/>
    <p:sldId id="1100" r:id="rId28"/>
    <p:sldId id="1101" r:id="rId29"/>
    <p:sldId id="1105" r:id="rId30"/>
    <p:sldId id="1123" r:id="rId31"/>
    <p:sldId id="1124" r:id="rId32"/>
    <p:sldId id="1125" r:id="rId33"/>
    <p:sldId id="1126" r:id="rId34"/>
    <p:sldId id="1127" r:id="rId35"/>
    <p:sldId id="1128" r:id="rId36"/>
    <p:sldId id="1129" r:id="rId37"/>
    <p:sldId id="1104" r:id="rId38"/>
    <p:sldId id="1103" r:id="rId39"/>
    <p:sldId id="1116" r:id="rId40"/>
    <p:sldId id="1112" r:id="rId41"/>
    <p:sldId id="1114" r:id="rId42"/>
    <p:sldId id="1113" r:id="rId43"/>
    <p:sldId id="1120" r:id="rId44"/>
    <p:sldId id="1121" r:id="rId45"/>
    <p:sldId id="1122" r:id="rId46"/>
    <p:sldId id="1131" r:id="rId47"/>
    <p:sldId id="1130" r:id="rId48"/>
    <p:sldId id="1110" r:id="rId49"/>
    <p:sldId id="1023" r:id="rId50"/>
    <p:sldId id="1111" r:id="rId51"/>
    <p:sldId id="1106" r:id="rId52"/>
    <p:sldId id="110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C290C-72E1-49E9-88B7-A9530E580388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5F689-775F-4C65-BC1C-E1DA92DCB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39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Exact </a:t>
            </a:r>
            <a:r>
              <a:rPr lang="de-DE" err="1"/>
              <a:t>solution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some</a:t>
            </a:r>
            <a:r>
              <a:rPr lang="de-DE"/>
              <a:t> </a:t>
            </a:r>
            <a:r>
              <a:rPr lang="de-DE" err="1"/>
              <a:t>distribution</a:t>
            </a:r>
            <a:r>
              <a:rPr lang="de-DE"/>
              <a:t> (</a:t>
            </a:r>
            <a:r>
              <a:rPr lang="de-DE" err="1"/>
              <a:t>exponential</a:t>
            </a:r>
            <a:r>
              <a:rPr lang="de-DE"/>
              <a:t>, </a:t>
            </a:r>
            <a:r>
              <a:rPr lang="de-DE" err="1"/>
              <a:t>Weibull</a:t>
            </a:r>
            <a:r>
              <a:rPr lang="de-DE"/>
              <a:t>, </a:t>
            </a:r>
            <a:r>
              <a:rPr lang="de-DE" err="1"/>
              <a:t>logistic</a:t>
            </a:r>
            <a:r>
              <a:rPr lang="de-DE"/>
              <a:t>), </a:t>
            </a:r>
            <a:r>
              <a:rPr lang="de-DE" err="1"/>
              <a:t>good</a:t>
            </a:r>
            <a:r>
              <a:rPr lang="de-DE"/>
              <a:t> </a:t>
            </a:r>
            <a:r>
              <a:rPr lang="de-DE" err="1"/>
              <a:t>approximation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distribution</a:t>
            </a:r>
            <a:r>
              <a:rPr lang="de-DE"/>
              <a:t> (Gamma)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40EDF-F3FF-4362-A11D-1537BECCD93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598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3770-BAF3-9C44-BC5A-AD818AFBA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60A5C-407D-F7EF-E6AA-07A5BAFDB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154A5-496B-8BD4-6DD1-A1499479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65472-4F98-B51A-BA6F-EC48277E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E9CA9-8E6D-B87C-D954-13C4569F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55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F5C7-B768-E942-F752-61EF7A09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E0F4-34F4-5FD7-D173-D1B8E20E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B61B7-F2E0-5E6F-4738-81CDC4DB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C3FD-EF55-1537-2293-FE9B10D4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6F9E-1112-083B-41A1-62519456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350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752B-59E9-BD9A-C29E-32FC5579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1D39F-1387-ECCF-927E-ADA848D0A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95FE6-AE62-9EDA-9E30-FC6A371D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D3A3E-D1DE-BD0F-1AA1-58AC821F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3A9B-F20F-E5CF-C149-8DB12635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067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785B-22A3-BCEC-5087-C1341253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0F39-1B57-EBA9-49BC-DEF49B0B1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0737C-1EF9-B1F5-B9D3-DF0ED3CDE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246B4-470F-AA16-3723-BC80A4DF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A445-BC56-7761-F635-351557CE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B15DB-89C8-1D25-AF87-E25A00C2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37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592C-2404-C11E-A9C2-47FE4CAD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68EB-74FA-573F-A671-678117E9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FBEDD-A191-0D89-55CC-14CAC4778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D79B2-A1F7-222D-169D-5EB13BD15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7BC0A-E334-9E8E-CAE9-59A6D7CC9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E43B2-DB09-2564-E92F-410C8283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0919E-4EE8-58AA-2C86-57B6119C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9C268-2C68-6F06-5A2F-52F5AADC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646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CD71-AAC2-A158-ED25-5704B5F4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A9CDD-0212-4521-A6F3-4D57784D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E42E3-FFD5-957E-567C-EC813D1A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1C5E-8486-6B9F-3337-A0B28D83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956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2D7B1-CAEA-C6AC-42DE-3E11CD6B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7714D-BBA1-CF08-B6A9-02CFD039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E9BF-B4FD-70AB-4D41-68F8BC3A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92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7BB0-6FF4-3A49-E428-E9C81C14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DE79-DF2F-074B-3A93-67597FB88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3116C-9C6F-D54A-33E1-52C1C73EB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FC093-1400-AD4A-13D5-282D1C91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8BB89-59BA-91ED-9CEC-7F3BE023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74E0F-23E4-4114-C075-A0E4556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44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6D32-5C59-E0A2-604E-45A53F6C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FE2CD-1C96-6B97-739E-9528AAAC7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0293D-7894-22B7-74BD-4F784A1C6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97102-836D-669C-87AE-8F9C4940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F039B-57C6-521A-7F6E-AF35B379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0FF17-4258-579B-D455-890A3759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15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5C21-F5E2-E301-0C1C-017641AF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7845A-2008-9D79-9800-ADE3B2C56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A0559-076A-3625-E111-54B7C438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8EF4B-6911-B6D9-DAD5-CE21E8A7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E86C-5551-21BC-D369-FAB9748B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12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E1BA4-2978-FDA5-BF93-B726BC8A9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FBC30-059C-DD4C-9A05-EE7D9D25C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E893-F982-9291-2AE8-3F011A9C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F2DE1-2FFF-F268-600A-7A470B24F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9FBD-6390-44BA-1FCD-8DA7D961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14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DE069-EEAC-290D-C8F4-C730688D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373A6-D3C4-6F8E-BD75-4AFCA230F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2527-C076-55CF-41E6-169DEB4A9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18680-BFD5-476C-8B1C-ABD86A942991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A2AA0-9D2F-BBBC-635A-464E57CE8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8969-00DF-EBE8-3CCA-3A1CB84E3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3D154-415A-4699-9011-FEDF2CCC9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25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5203-A6CC-A9C6-0C5D-994A55358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noProof="0" dirty="0"/>
              <a:t>Cognitive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3F0A8-0D21-E0F3-9498-95893AE439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GB" noProof="0" dirty="0"/>
              <a:t>Week 4: Aggregating data across participants</a:t>
            </a:r>
          </a:p>
          <a:p>
            <a:pPr algn="l"/>
            <a:endParaRPr lang="en-GB" noProof="0" dirty="0"/>
          </a:p>
          <a:p>
            <a:pPr algn="l"/>
            <a:r>
              <a:rPr lang="en-GB" noProof="0" dirty="0"/>
              <a:t>2026</a:t>
            </a:r>
          </a:p>
          <a:p>
            <a:pPr algn="l"/>
            <a:r>
              <a:rPr lang="en-GB" noProof="0" dirty="0"/>
              <a:t>Erik Skjoldan Mortensen</a:t>
            </a:r>
          </a:p>
          <a:p>
            <a:pPr algn="l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49141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A7EE-9861-9334-6C4F-ECBC30EF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FEF5-7B42-32C8-CD32-27327E46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4055-1DFC-0DFD-53E1-2AEF85C2F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Lecture 1 (w16): Introduction + What is a (cognitive) model? </a:t>
            </a:r>
          </a:p>
          <a:p>
            <a:r>
              <a:rPr lang="en-GB" noProof="0" dirty="0"/>
              <a:t>Lecture 2 (w17): Parameter estimation </a:t>
            </a:r>
          </a:p>
          <a:p>
            <a:r>
              <a:rPr lang="en-GB" noProof="0" dirty="0"/>
              <a:t>Lecture 3 (w18): Bayesian modelling</a:t>
            </a:r>
          </a:p>
          <a:p>
            <a:r>
              <a:rPr lang="en-GB" noProof="0" dirty="0"/>
              <a:t>Lecture 4 (w19): Hierarchical models</a:t>
            </a:r>
          </a:p>
          <a:p>
            <a:r>
              <a:rPr lang="en-GB" noProof="0" dirty="0"/>
              <a:t>Lecture 5 (w20): Model comparison</a:t>
            </a:r>
          </a:p>
          <a:p>
            <a:r>
              <a:rPr lang="en-GB" noProof="0" dirty="0"/>
              <a:t>Lecture 6 (w21): Neural network models</a:t>
            </a:r>
          </a:p>
          <a:p>
            <a:r>
              <a:rPr lang="en-GB" noProof="0" dirty="0"/>
              <a:t>                     (w22): Pentecost, no lecture! But still seminars</a:t>
            </a:r>
          </a:p>
          <a:p>
            <a:r>
              <a:rPr lang="en-GB" noProof="0" dirty="0"/>
              <a:t>Lecture 7 (w23): Summary, exam questions, no seminars</a:t>
            </a:r>
          </a:p>
          <a:p>
            <a:r>
              <a:rPr lang="en-GB" noProof="0" dirty="0"/>
              <a:t>Exam         (w24): 4-11</a:t>
            </a:r>
            <a:r>
              <a:rPr lang="en-GB" baseline="30000" noProof="0" dirty="0"/>
              <a:t>th</a:t>
            </a:r>
            <a:r>
              <a:rPr lang="en-GB" noProof="0" dirty="0"/>
              <a:t> June</a:t>
            </a:r>
          </a:p>
          <a:p>
            <a:pPr marL="45720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582F9-F50F-A00A-D058-3C803F058B74}"/>
              </a:ext>
            </a:extLst>
          </p:cNvPr>
          <p:cNvSpPr/>
          <p:nvPr/>
        </p:nvSpPr>
        <p:spPr>
          <a:xfrm>
            <a:off x="730044" y="2704751"/>
            <a:ext cx="9674943" cy="5046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9404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FDD8-58C3-DAD6-C4A4-0B056A68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E1C5-DAB9-8FEF-F92B-02BFA05B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9931-F125-20C0-5E2F-ADB11FAE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Lecture 1 (w16): Introduction + What is a (cognitive) model? </a:t>
            </a:r>
          </a:p>
          <a:p>
            <a:r>
              <a:rPr lang="en-GB" noProof="0" dirty="0"/>
              <a:t>Lecture 2 (w17): Parameter estimation </a:t>
            </a:r>
          </a:p>
          <a:p>
            <a:r>
              <a:rPr lang="en-GB" noProof="0" dirty="0"/>
              <a:t>Lecture 3 (w18): Bayesian modelling</a:t>
            </a:r>
          </a:p>
          <a:p>
            <a:r>
              <a:rPr lang="en-GB" noProof="0" dirty="0"/>
              <a:t>Lecture 4 (w19): Hierarchical models</a:t>
            </a:r>
          </a:p>
          <a:p>
            <a:r>
              <a:rPr lang="en-GB" noProof="0" dirty="0"/>
              <a:t>Lecture 5 (w20): Model comparison</a:t>
            </a:r>
          </a:p>
          <a:p>
            <a:r>
              <a:rPr lang="en-GB" noProof="0" dirty="0"/>
              <a:t>Lecture 6 (w21): Neural network models</a:t>
            </a:r>
          </a:p>
          <a:p>
            <a:r>
              <a:rPr lang="en-GB" noProof="0" dirty="0"/>
              <a:t>                     (w22): Pentecost, no lecture! But still seminars</a:t>
            </a:r>
          </a:p>
          <a:p>
            <a:r>
              <a:rPr lang="en-GB" noProof="0" dirty="0"/>
              <a:t>Lecture 7 (w23): Summary, exam questions, no seminars</a:t>
            </a:r>
          </a:p>
          <a:p>
            <a:r>
              <a:rPr lang="en-GB" noProof="0" dirty="0"/>
              <a:t>Exam         (w24): 4-11</a:t>
            </a:r>
            <a:r>
              <a:rPr lang="en-GB" baseline="30000" noProof="0" dirty="0"/>
              <a:t>th</a:t>
            </a:r>
            <a:r>
              <a:rPr lang="en-GB" noProof="0" dirty="0"/>
              <a:t> June</a:t>
            </a:r>
          </a:p>
          <a:p>
            <a:pPr marL="45720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FADA2-A9F1-3AAD-D220-FEE7DA4661CE}"/>
              </a:ext>
            </a:extLst>
          </p:cNvPr>
          <p:cNvSpPr/>
          <p:nvPr/>
        </p:nvSpPr>
        <p:spPr>
          <a:xfrm>
            <a:off x="730044" y="3176244"/>
            <a:ext cx="9674943" cy="5046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9151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19FC-458F-BABD-81EA-B9EC59BE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Recap from last week(s)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1A1B-6648-BA2E-DAFE-81C6EF280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With neighbour:</a:t>
            </a:r>
          </a:p>
          <a:p>
            <a:r>
              <a:rPr lang="en-GB" noProof="0" dirty="0"/>
              <a:t>What are some key difference between optimisation versus Bayesian parameter estimation?</a:t>
            </a:r>
          </a:p>
          <a:p>
            <a:r>
              <a:rPr lang="en-GB" dirty="0"/>
              <a:t>What do we need to do Bayesian estimation of the posterior?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75933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1792-C067-D0DA-A1E9-9828763D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57867-87AC-CDFD-C8F8-DE3AF619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Options for aggregating data from multiple groups/subjects/other structure in the data</a:t>
            </a:r>
          </a:p>
          <a:p>
            <a:r>
              <a:rPr lang="en-GB" dirty="0"/>
              <a:t>Complete pooling</a:t>
            </a:r>
          </a:p>
          <a:p>
            <a:r>
              <a:rPr lang="en-GB" dirty="0"/>
              <a:t>No pooling</a:t>
            </a:r>
          </a:p>
          <a:p>
            <a:r>
              <a:rPr lang="en-GB" dirty="0"/>
              <a:t>Partial pooling</a:t>
            </a:r>
          </a:p>
          <a:p>
            <a:r>
              <a:rPr lang="en-GB" dirty="0"/>
              <a:t>Continue working with Stan: Implement your own multi-level model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2325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58-35B9-FCB9-1C62-16149CAF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4E986-580B-C54C-2AA3-4F7FCA8F7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2283284"/>
                <a:ext cx="4448820" cy="4527049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example, if we wanted to describe outcomes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as normally distributed: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GB" dirty="0"/>
                  <a:t>Now imagine we have collected data from </a:t>
                </a:r>
                <a:r>
                  <a:rPr lang="en-GB" i="1" dirty="0"/>
                  <a:t>k</a:t>
                </a:r>
                <a:r>
                  <a:rPr lang="en-GB" dirty="0"/>
                  <a:t>=10 individuals;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are now nested within </a:t>
                </a:r>
                <a:r>
                  <a:rPr lang="en-GB" i="1" dirty="0"/>
                  <a:t>k </a:t>
                </a:r>
                <a:r>
                  <a:rPr lang="en-GB" dirty="0"/>
                  <a:t>individuals.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Strategies for pooling data:</a:t>
                </a:r>
              </a:p>
              <a:p>
                <a:r>
                  <a:rPr lang="en-GB" dirty="0"/>
                  <a:t>Complete pooling</a:t>
                </a:r>
              </a:p>
              <a:p>
                <a:r>
                  <a:rPr lang="en-GB" dirty="0"/>
                  <a:t>No pooling</a:t>
                </a:r>
              </a:p>
              <a:p>
                <a:r>
                  <a:rPr lang="en-GB" dirty="0"/>
                  <a:t>Partial pooling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4E986-580B-C54C-2AA3-4F7FCA8F7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2283284"/>
                <a:ext cx="4448820" cy="4527049"/>
              </a:xfrm>
              <a:blipFill>
                <a:blip r:embed="rId2"/>
                <a:stretch>
                  <a:fillRect l="-2195" t="-2965" r="-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42F93F-23E7-DF52-ED3F-B860BBF8AABF}"/>
              </a:ext>
            </a:extLst>
          </p:cNvPr>
          <p:cNvSpPr/>
          <p:nvPr/>
        </p:nvSpPr>
        <p:spPr>
          <a:xfrm>
            <a:off x="7160561" y="4395760"/>
            <a:ext cx="1999397" cy="12078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E85BAE-C64A-F1D6-C83D-3AD7435100FD}"/>
                  </a:ext>
                </a:extLst>
              </p:cNvPr>
              <p:cNvSpPr/>
              <p:nvPr/>
            </p:nvSpPr>
            <p:spPr>
              <a:xfrm>
                <a:off x="7502473" y="4546809"/>
                <a:ext cx="764274" cy="7642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E85BAE-C64A-F1D6-C83D-3AD743510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473" y="4546809"/>
                <a:ext cx="764274" cy="76427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F2A38E-28AB-FFC3-522B-9F39DC453F08}"/>
                  </a:ext>
                </a:extLst>
              </p:cNvPr>
              <p:cNvSpPr txBox="1"/>
              <p:nvPr/>
            </p:nvSpPr>
            <p:spPr>
              <a:xfrm>
                <a:off x="8812552" y="5125386"/>
                <a:ext cx="14228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F2A38E-28AB-FFC3-522B-9F39DC453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552" y="5125386"/>
                <a:ext cx="142283" cy="553998"/>
              </a:xfrm>
              <a:prstGeom prst="rect">
                <a:avLst/>
              </a:prstGeom>
              <a:blipFill>
                <a:blip r:embed="rId4"/>
                <a:stretch>
                  <a:fillRect l="-39130" r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9A6AFD0-A783-EAD1-D82B-FB96927C6950}"/>
                  </a:ext>
                </a:extLst>
              </p:cNvPr>
              <p:cNvSpPr/>
              <p:nvPr/>
            </p:nvSpPr>
            <p:spPr>
              <a:xfrm>
                <a:off x="6656074" y="2103622"/>
                <a:ext cx="792046" cy="79204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9A6AFD0-A783-EAD1-D82B-FB96927C6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074" y="2103622"/>
                <a:ext cx="792046" cy="79204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882E766-EEFA-999C-8D32-A40568C031E2}"/>
                  </a:ext>
                </a:extLst>
              </p:cNvPr>
              <p:cNvSpPr/>
              <p:nvPr/>
            </p:nvSpPr>
            <p:spPr>
              <a:xfrm>
                <a:off x="8416529" y="2103622"/>
                <a:ext cx="792046" cy="79204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882E766-EEFA-999C-8D32-A40568C031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529" y="2103622"/>
                <a:ext cx="792046" cy="79204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F0770F-10C5-2C06-03C1-BBCDC41DCC16}"/>
              </a:ext>
            </a:extLst>
          </p:cNvPr>
          <p:cNvCxnSpPr>
            <a:stCxn id="9" idx="4"/>
            <a:endCxn id="7" idx="1"/>
          </p:cNvCxnSpPr>
          <p:nvPr/>
        </p:nvCxnSpPr>
        <p:spPr>
          <a:xfrm>
            <a:off x="7052097" y="2895668"/>
            <a:ext cx="562301" cy="176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B56AC9-A956-AF4D-7EC6-C68A6AF09C4B}"/>
              </a:ext>
            </a:extLst>
          </p:cNvPr>
          <p:cNvCxnSpPr>
            <a:cxnSpLocks/>
            <a:stCxn id="10" idx="4"/>
            <a:endCxn id="7" idx="7"/>
          </p:cNvCxnSpPr>
          <p:nvPr/>
        </p:nvCxnSpPr>
        <p:spPr>
          <a:xfrm flipH="1">
            <a:off x="8154822" y="2895668"/>
            <a:ext cx="657730" cy="176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753E832C-2CEA-2828-C252-32AC2C5D4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 far we have fit models to individuals; what about when we have a group of individuals?</a:t>
            </a:r>
          </a:p>
        </p:txBody>
      </p:sp>
    </p:spTree>
    <p:extLst>
      <p:ext uri="{BB962C8B-B14F-4D97-AF65-F5344CB8AC3E}">
        <p14:creationId xmlns:p14="http://schemas.microsoft.com/office/powerpoint/2010/main" val="2963886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4855-CD92-5615-D4F4-B02CC349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DD08A-C9EE-6304-1A44-90C8E2383D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4448820" cy="452704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dirty="0"/>
                  <a:t>Ignore grouping structure, average across all observations/participants</a:t>
                </a:r>
              </a:p>
              <a:p>
                <a:r>
                  <a:rPr lang="en-GB" dirty="0"/>
                  <a:t>Computationally cheap</a:t>
                </a:r>
              </a:p>
              <a:p>
                <a:r>
                  <a:rPr lang="en-GB" dirty="0"/>
                  <a:t>Difficult to account for imbalance in n_trials per subject</a:t>
                </a:r>
              </a:p>
              <a:p>
                <a:r>
                  <a:rPr lang="en-GB" dirty="0"/>
                  <a:t>Fitting an average might mean our fit describes no individuals well</a:t>
                </a:r>
              </a:p>
              <a:p>
                <a:r>
                  <a:rPr lang="en-GB" dirty="0"/>
                  <a:t>Imagine a dataset with 5 participants with mean </a:t>
                </a:r>
                <a:r>
                  <a:rPr lang="en-GB" i="1" dirty="0"/>
                  <a:t>y</a:t>
                </a:r>
                <a:r>
                  <a:rPr lang="en-GB" dirty="0"/>
                  <a:t> of 0, and 5 with mean </a:t>
                </a:r>
                <a:r>
                  <a:rPr lang="en-GB" i="1" dirty="0"/>
                  <a:t>y </a:t>
                </a:r>
                <a:r>
                  <a:rPr lang="en-GB" dirty="0"/>
                  <a:t>of 10. We would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GB" dirty="0"/>
                  <a:t> to be 5, which does not describe any individual</a:t>
                </a:r>
              </a:p>
              <a:p>
                <a:r>
                  <a:rPr lang="en-GB" dirty="0"/>
                  <a:t>Priors are put on group-average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DD08A-C9EE-6304-1A44-90C8E2383D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4448820" cy="4527049"/>
              </a:xfrm>
              <a:blipFill>
                <a:blip r:embed="rId2"/>
                <a:stretch>
                  <a:fillRect l="-1646" t="-2557" r="-3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4A6B5D-90FF-A36F-6866-788126EE995F}"/>
              </a:ext>
            </a:extLst>
          </p:cNvPr>
          <p:cNvSpPr/>
          <p:nvPr/>
        </p:nvSpPr>
        <p:spPr>
          <a:xfrm>
            <a:off x="7160561" y="4395760"/>
            <a:ext cx="1999397" cy="12078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9F6A8FC-0134-831B-E92A-DEF92320F3AE}"/>
                  </a:ext>
                </a:extLst>
              </p:cNvPr>
              <p:cNvSpPr/>
              <p:nvPr/>
            </p:nvSpPr>
            <p:spPr>
              <a:xfrm>
                <a:off x="7502473" y="4546809"/>
                <a:ext cx="764274" cy="7642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9F6A8FC-0134-831B-E92A-DEF92320F3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473" y="4546809"/>
                <a:ext cx="764274" cy="76427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ECBA-4C91-5487-61FC-E486E89C0A95}"/>
                  </a:ext>
                </a:extLst>
              </p:cNvPr>
              <p:cNvSpPr txBox="1"/>
              <p:nvPr/>
            </p:nvSpPr>
            <p:spPr>
              <a:xfrm>
                <a:off x="8812552" y="5125386"/>
                <a:ext cx="14228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ECBA-4C91-5487-61FC-E486E89C0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552" y="5125386"/>
                <a:ext cx="142283" cy="553998"/>
              </a:xfrm>
              <a:prstGeom prst="rect">
                <a:avLst/>
              </a:prstGeom>
              <a:blipFill>
                <a:blip r:embed="rId4"/>
                <a:stretch>
                  <a:fillRect l="-39130" r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0A627D-50B5-EB8B-C19B-C78E03701D8C}"/>
                  </a:ext>
                </a:extLst>
              </p:cNvPr>
              <p:cNvSpPr/>
              <p:nvPr/>
            </p:nvSpPr>
            <p:spPr>
              <a:xfrm>
                <a:off x="6656074" y="2103622"/>
                <a:ext cx="792046" cy="79204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0A627D-50B5-EB8B-C19B-C78E03701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074" y="2103622"/>
                <a:ext cx="792046" cy="79204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13C444C-3F4B-CA00-535B-9301CAD03C1E}"/>
                  </a:ext>
                </a:extLst>
              </p:cNvPr>
              <p:cNvSpPr/>
              <p:nvPr/>
            </p:nvSpPr>
            <p:spPr>
              <a:xfrm>
                <a:off x="8416529" y="2103622"/>
                <a:ext cx="792046" cy="79204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13C444C-3F4B-CA00-535B-9301CAD03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529" y="2103622"/>
                <a:ext cx="792046" cy="79204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AD853B-E243-9F56-ABE7-C1CAC9FD91C7}"/>
              </a:ext>
            </a:extLst>
          </p:cNvPr>
          <p:cNvCxnSpPr>
            <a:stCxn id="9" idx="4"/>
            <a:endCxn id="7" idx="1"/>
          </p:cNvCxnSpPr>
          <p:nvPr/>
        </p:nvCxnSpPr>
        <p:spPr>
          <a:xfrm>
            <a:off x="7052097" y="2895668"/>
            <a:ext cx="562301" cy="176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24E0FC-366D-ADF8-79C0-0A6F4F299217}"/>
              </a:ext>
            </a:extLst>
          </p:cNvPr>
          <p:cNvCxnSpPr>
            <a:cxnSpLocks/>
            <a:stCxn id="10" idx="4"/>
            <a:endCxn id="7" idx="7"/>
          </p:cNvCxnSpPr>
          <p:nvPr/>
        </p:nvCxnSpPr>
        <p:spPr>
          <a:xfrm flipH="1">
            <a:off x="8154822" y="2895668"/>
            <a:ext cx="657730" cy="176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7802356D-4236-97C5-247A-9CDE2BA9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pooling</a:t>
            </a:r>
          </a:p>
        </p:txBody>
      </p:sp>
    </p:spTree>
    <p:extLst>
      <p:ext uri="{BB962C8B-B14F-4D97-AF65-F5344CB8AC3E}">
        <p14:creationId xmlns:p14="http://schemas.microsoft.com/office/powerpoint/2010/main" val="943320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7EFD3-9B19-0355-0629-C40917E2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EE52BF3-9B7F-91CB-D0C9-8A99E0935F7D}"/>
              </a:ext>
            </a:extLst>
          </p:cNvPr>
          <p:cNvSpPr txBox="1">
            <a:spLocks/>
          </p:cNvSpPr>
          <p:nvPr/>
        </p:nvSpPr>
        <p:spPr>
          <a:xfrm>
            <a:off x="844616" y="1825625"/>
            <a:ext cx="44488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 cognitive models to each individual</a:t>
            </a:r>
          </a:p>
          <a:p>
            <a:r>
              <a:rPr lang="en-GB" dirty="0"/>
              <a:t>Allows description of between-individual differences</a:t>
            </a:r>
          </a:p>
          <a:p>
            <a:r>
              <a:rPr lang="en-GB" dirty="0"/>
              <a:t>Easier to spot fitting issues</a:t>
            </a:r>
          </a:p>
          <a:p>
            <a:r>
              <a:rPr lang="en-GB" dirty="0"/>
              <a:t>(More) likely to overfit to noise in data</a:t>
            </a:r>
          </a:p>
          <a:p>
            <a:r>
              <a:rPr lang="en-GB" dirty="0"/>
              <a:t>Can work well for large n_trials; less well, or not at all for small n_trials</a:t>
            </a:r>
          </a:p>
          <a:p>
            <a:r>
              <a:rPr lang="en-GB" dirty="0"/>
              <a:t>We can describe group-level characteristics by summarising individual parameter estimates; we are however discarding uncertainty at this step</a:t>
            </a:r>
          </a:p>
          <a:p>
            <a:r>
              <a:rPr lang="en-GB" dirty="0"/>
              <a:t>Difficult to account for imbalance in n_trials per subject</a:t>
            </a:r>
          </a:p>
          <a:p>
            <a:r>
              <a:rPr lang="en-GB" dirty="0"/>
              <a:t>Priors are put on subject-level parameters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9E5753-EB29-2803-62D6-A6667CB1F678}"/>
              </a:ext>
            </a:extLst>
          </p:cNvPr>
          <p:cNvSpPr/>
          <p:nvPr/>
        </p:nvSpPr>
        <p:spPr>
          <a:xfrm>
            <a:off x="7130484" y="4360248"/>
            <a:ext cx="1777505" cy="10737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D887505-23A1-91FD-F9F6-17BEED828017}"/>
                  </a:ext>
                </a:extLst>
              </p:cNvPr>
              <p:cNvSpPr/>
              <p:nvPr/>
            </p:nvSpPr>
            <p:spPr>
              <a:xfrm>
                <a:off x="7434451" y="4494534"/>
                <a:ext cx="679455" cy="67945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D887505-23A1-91FD-F9F6-17BEED828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51" y="4494534"/>
                <a:ext cx="679455" cy="67945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ECE5BB-71C8-1BFD-B56F-7047AE5E7379}"/>
                  </a:ext>
                </a:extLst>
              </p:cNvPr>
              <p:cNvSpPr txBox="1"/>
              <p:nvPr/>
            </p:nvSpPr>
            <p:spPr>
              <a:xfrm>
                <a:off x="8599138" y="5008900"/>
                <a:ext cx="126493" cy="492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ECE5BB-71C8-1BFD-B56F-7047AE5E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138" y="5008900"/>
                <a:ext cx="126493" cy="492515"/>
              </a:xfrm>
              <a:prstGeom prst="rect">
                <a:avLst/>
              </a:prstGeom>
              <a:blipFill>
                <a:blip r:embed="rId3"/>
                <a:stretch>
                  <a:fillRect l="-50000"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63C0F47-BD47-F92F-1C29-92C68143ADC5}"/>
                  </a:ext>
                </a:extLst>
              </p:cNvPr>
              <p:cNvSpPr/>
              <p:nvPr/>
            </p:nvSpPr>
            <p:spPr>
              <a:xfrm>
                <a:off x="6681985" y="2322492"/>
                <a:ext cx="704145" cy="70414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63C0F47-BD47-F92F-1C29-92C68143A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985" y="2322492"/>
                <a:ext cx="704145" cy="7041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EFAD64D-ADCE-40CE-503E-B2DC7A707C44}"/>
                  </a:ext>
                </a:extLst>
              </p:cNvPr>
              <p:cNvSpPr/>
              <p:nvPr/>
            </p:nvSpPr>
            <p:spPr>
              <a:xfrm>
                <a:off x="8247066" y="2322492"/>
                <a:ext cx="704145" cy="70414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EFAD64D-ADCE-40CE-503E-B2DC7A707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066" y="2322492"/>
                <a:ext cx="704145" cy="70414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AD21BA-BEF5-75C7-BFB4-AE9EF24978C4}"/>
              </a:ext>
            </a:extLst>
          </p:cNvPr>
          <p:cNvCxnSpPr>
            <a:stCxn id="22" idx="4"/>
            <a:endCxn id="20" idx="1"/>
          </p:cNvCxnSpPr>
          <p:nvPr/>
        </p:nvCxnSpPr>
        <p:spPr>
          <a:xfrm>
            <a:off x="7034058" y="3026637"/>
            <a:ext cx="499897" cy="1567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11D460-129F-E95E-0E38-64F6C66ECC61}"/>
              </a:ext>
            </a:extLst>
          </p:cNvPr>
          <p:cNvCxnSpPr>
            <a:cxnSpLocks/>
            <a:stCxn id="23" idx="4"/>
            <a:endCxn id="20" idx="7"/>
          </p:cNvCxnSpPr>
          <p:nvPr/>
        </p:nvCxnSpPr>
        <p:spPr>
          <a:xfrm flipH="1">
            <a:off x="8014403" y="3026637"/>
            <a:ext cx="584735" cy="1567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1383ACC-C1D1-F5EA-00E2-B62EF4E51647}"/>
                  </a:ext>
                </a:extLst>
              </p:cNvPr>
              <p:cNvSpPr txBox="1"/>
              <p:nvPr/>
            </p:nvSpPr>
            <p:spPr>
              <a:xfrm>
                <a:off x="9210863" y="5187772"/>
                <a:ext cx="17068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1383ACC-C1D1-F5EA-00E2-B62EF4E5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863" y="5187772"/>
                <a:ext cx="170688" cy="553998"/>
              </a:xfrm>
              <a:prstGeom prst="rect">
                <a:avLst/>
              </a:prstGeom>
              <a:blipFill>
                <a:blip r:embed="rId6"/>
                <a:stretch>
                  <a:fillRect l="-35714" r="-3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1C6FAC-3CB3-C80E-F34A-3FB09F1EE8DB}"/>
              </a:ext>
            </a:extLst>
          </p:cNvPr>
          <p:cNvSpPr/>
          <p:nvPr/>
        </p:nvSpPr>
        <p:spPr>
          <a:xfrm>
            <a:off x="6475606" y="2122925"/>
            <a:ext cx="3328499" cy="37567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58A8113-867F-D040-E055-6B207F95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pooling</a:t>
            </a:r>
          </a:p>
        </p:txBody>
      </p:sp>
    </p:spTree>
    <p:extLst>
      <p:ext uri="{BB962C8B-B14F-4D97-AF65-F5344CB8AC3E}">
        <p14:creationId xmlns:p14="http://schemas.microsoft.com/office/powerpoint/2010/main" val="845779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670A-AD12-AA36-121D-04177696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BCDECF-CD2E-8E95-4F34-1BC254726162}"/>
              </a:ext>
            </a:extLst>
          </p:cNvPr>
          <p:cNvSpPr/>
          <p:nvPr/>
        </p:nvSpPr>
        <p:spPr>
          <a:xfrm>
            <a:off x="8426066" y="5119846"/>
            <a:ext cx="1504112" cy="9086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661FBE4-4204-C1F4-79AD-081EE60EEAAF}"/>
                  </a:ext>
                </a:extLst>
              </p:cNvPr>
              <p:cNvSpPr/>
              <p:nvPr/>
            </p:nvSpPr>
            <p:spPr>
              <a:xfrm>
                <a:off x="8683280" y="5233478"/>
                <a:ext cx="574950" cy="57495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661FBE4-4204-C1F4-79AD-081EE60EE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280" y="5233478"/>
                <a:ext cx="574950" cy="5749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2AC9DD-3EDD-BEEA-F004-6629D616EF18}"/>
                  </a:ext>
                </a:extLst>
              </p:cNvPr>
              <p:cNvSpPr txBox="1"/>
              <p:nvPr/>
            </p:nvSpPr>
            <p:spPr>
              <a:xfrm>
                <a:off x="9668830" y="5668731"/>
                <a:ext cx="107038" cy="416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2AC9DD-3EDD-BEEA-F004-6629D616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830" y="5668731"/>
                <a:ext cx="107038" cy="416763"/>
              </a:xfrm>
              <a:prstGeom prst="rect">
                <a:avLst/>
              </a:prstGeom>
              <a:blipFill>
                <a:blip r:embed="rId3"/>
                <a:stretch>
                  <a:fillRect l="-66667" r="-5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673B351-FDC8-3625-7A3E-136CAA77C0C0}"/>
                  </a:ext>
                </a:extLst>
              </p:cNvPr>
              <p:cNvSpPr/>
              <p:nvPr/>
            </p:nvSpPr>
            <p:spPr>
              <a:xfrm>
                <a:off x="8046549" y="3395512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673B351-FDC8-3625-7A3E-136CAA77C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549" y="3395512"/>
                <a:ext cx="595842" cy="59584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696ABB8-A344-3CB7-6219-E283BD03D815}"/>
                  </a:ext>
                </a:extLst>
              </p:cNvPr>
              <p:cNvSpPr/>
              <p:nvPr/>
            </p:nvSpPr>
            <p:spPr>
              <a:xfrm>
                <a:off x="9370909" y="3395512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696ABB8-A344-3CB7-6219-E283BD03D8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909" y="3395512"/>
                <a:ext cx="595842" cy="59584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DB045F-B207-016E-DCE7-35337015CCB2}"/>
              </a:ext>
            </a:extLst>
          </p:cNvPr>
          <p:cNvCxnSpPr>
            <a:cxnSpLocks/>
            <a:stCxn id="30" idx="4"/>
            <a:endCxn id="28" idx="1"/>
          </p:cNvCxnSpPr>
          <p:nvPr/>
        </p:nvCxnSpPr>
        <p:spPr>
          <a:xfrm>
            <a:off x="8344470" y="3991354"/>
            <a:ext cx="423009" cy="13263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3AF2A8-3410-9F8D-4625-A1887BF92D4B}"/>
              </a:ext>
            </a:extLst>
          </p:cNvPr>
          <p:cNvCxnSpPr>
            <a:cxnSpLocks/>
            <a:stCxn id="31" idx="4"/>
            <a:endCxn id="28" idx="7"/>
          </p:cNvCxnSpPr>
          <p:nvPr/>
        </p:nvCxnSpPr>
        <p:spPr>
          <a:xfrm flipH="1">
            <a:off x="9174031" y="3991354"/>
            <a:ext cx="494799" cy="13263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DC8509-4708-F01A-5CEA-DB8890A4BAEE}"/>
                  </a:ext>
                </a:extLst>
              </p:cNvPr>
              <p:cNvSpPr txBox="1"/>
              <p:nvPr/>
            </p:nvSpPr>
            <p:spPr>
              <a:xfrm>
                <a:off x="10186467" y="5820091"/>
                <a:ext cx="144435" cy="46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DC8509-4708-F01A-5CEA-DB8890A4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6467" y="5820091"/>
                <a:ext cx="144435" cy="468789"/>
              </a:xfrm>
              <a:prstGeom prst="rect">
                <a:avLst/>
              </a:prstGeom>
              <a:blipFill>
                <a:blip r:embed="rId6"/>
                <a:stretch>
                  <a:fillRect l="-50000"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B65832-D43A-9376-B327-7F3BD7EB120D}"/>
              </a:ext>
            </a:extLst>
          </p:cNvPr>
          <p:cNvSpPr/>
          <p:nvPr/>
        </p:nvSpPr>
        <p:spPr>
          <a:xfrm>
            <a:off x="7871913" y="3226640"/>
            <a:ext cx="2816551" cy="3178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0409080-BF48-56E3-2587-DC6B6427271D}"/>
                  </a:ext>
                </a:extLst>
              </p:cNvPr>
              <p:cNvSpPr/>
              <p:nvPr/>
            </p:nvSpPr>
            <p:spPr>
              <a:xfrm>
                <a:off x="7276071" y="1547977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0409080-BF48-56E3-2587-DC6B64272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071" y="1547977"/>
                <a:ext cx="595842" cy="59584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988FB1-9062-FE2F-B810-647BD3CB9908}"/>
                  </a:ext>
                </a:extLst>
              </p:cNvPr>
              <p:cNvSpPr/>
              <p:nvPr/>
            </p:nvSpPr>
            <p:spPr>
              <a:xfrm>
                <a:off x="8249137" y="1547977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988FB1-9062-FE2F-B810-647BD3CB9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137" y="1547977"/>
                <a:ext cx="595842" cy="5958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28F827E-C9A0-08AB-86DF-E1F636639369}"/>
                  </a:ext>
                </a:extLst>
              </p:cNvPr>
              <p:cNvSpPr/>
              <p:nvPr/>
            </p:nvSpPr>
            <p:spPr>
              <a:xfrm>
                <a:off x="9370909" y="1549124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28F827E-C9A0-08AB-86DF-E1F636639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909" y="1549124"/>
                <a:ext cx="595842" cy="59584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54B597-0177-B437-80FF-8F7670736781}"/>
              </a:ext>
            </a:extLst>
          </p:cNvPr>
          <p:cNvCxnSpPr>
            <a:cxnSpLocks/>
            <a:stCxn id="5" idx="4"/>
            <a:endCxn id="30" idx="0"/>
          </p:cNvCxnSpPr>
          <p:nvPr/>
        </p:nvCxnSpPr>
        <p:spPr>
          <a:xfrm>
            <a:off x="7573992" y="2143819"/>
            <a:ext cx="770478" cy="1251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0ECE27-64C8-6840-CA9B-DD00FD2BD425}"/>
              </a:ext>
            </a:extLst>
          </p:cNvPr>
          <p:cNvCxnSpPr>
            <a:cxnSpLocks/>
            <a:stCxn id="6" idx="4"/>
            <a:endCxn id="30" idx="0"/>
          </p:cNvCxnSpPr>
          <p:nvPr/>
        </p:nvCxnSpPr>
        <p:spPr>
          <a:xfrm flipH="1">
            <a:off x="8344470" y="2143819"/>
            <a:ext cx="202588" cy="1251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E8D3B9-8058-53E3-5D46-8F9BB47302CC}"/>
              </a:ext>
            </a:extLst>
          </p:cNvPr>
          <p:cNvCxnSpPr>
            <a:cxnSpLocks/>
            <a:stCxn id="7" idx="4"/>
            <a:endCxn id="31" idx="0"/>
          </p:cNvCxnSpPr>
          <p:nvPr/>
        </p:nvCxnSpPr>
        <p:spPr>
          <a:xfrm>
            <a:off x="9668830" y="2144966"/>
            <a:ext cx="0" cy="1250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35">
            <a:extLst>
              <a:ext uri="{FF2B5EF4-FFF2-40B4-BE49-F238E27FC236}">
                <a16:creationId xmlns:a16="http://schemas.microsoft.com/office/drawing/2014/main" id="{15FBB3E5-5563-AABF-DB6F-4A34CB1D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1C6CE7B-3EC5-4A5A-01ED-67BAC19F9411}"/>
              </a:ext>
            </a:extLst>
          </p:cNvPr>
          <p:cNvSpPr txBox="1">
            <a:spLocks/>
          </p:cNvSpPr>
          <p:nvPr/>
        </p:nvSpPr>
        <p:spPr>
          <a:xfrm>
            <a:off x="844616" y="1825625"/>
            <a:ext cx="44488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Model subjects as samples from a group; e.g., subject means are normally distributed within the group</a:t>
            </a:r>
          </a:p>
          <a:p>
            <a:r>
              <a:rPr lang="en-GB" dirty="0"/>
              <a:t>Put priors on group-level parameters; learn subject-level priors during fitting</a:t>
            </a:r>
          </a:p>
          <a:p>
            <a:r>
              <a:rPr lang="en-GB" dirty="0"/>
              <a:t>Allows for </a:t>
            </a:r>
            <a:r>
              <a:rPr lang="en-GB" b="1" dirty="0"/>
              <a:t>bi-directional </a:t>
            </a:r>
            <a:r>
              <a:rPr lang="en-GB" dirty="0"/>
              <a:t>pooling of information; group-level estimates informs subject-level estimates, and vice versa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05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EEA0-6EE3-87B8-8E1F-B4CEB7E0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5F1CA3-A57A-543C-AD2B-A97A5FF22277}"/>
              </a:ext>
            </a:extLst>
          </p:cNvPr>
          <p:cNvSpPr/>
          <p:nvPr/>
        </p:nvSpPr>
        <p:spPr>
          <a:xfrm>
            <a:off x="2183396" y="5119846"/>
            <a:ext cx="1504112" cy="9086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C6AEA9E-2059-F2CB-0544-93F0A086C5BF}"/>
                  </a:ext>
                </a:extLst>
              </p:cNvPr>
              <p:cNvSpPr/>
              <p:nvPr/>
            </p:nvSpPr>
            <p:spPr>
              <a:xfrm>
                <a:off x="2440610" y="5233478"/>
                <a:ext cx="574950" cy="57495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C6AEA9E-2059-F2CB-0544-93F0A086C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610" y="5233478"/>
                <a:ext cx="574950" cy="57495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AABBF6-091E-5F02-2153-B9A7B721403F}"/>
                  </a:ext>
                </a:extLst>
              </p:cNvPr>
              <p:cNvSpPr txBox="1"/>
              <p:nvPr/>
            </p:nvSpPr>
            <p:spPr>
              <a:xfrm>
                <a:off x="3426160" y="5668731"/>
                <a:ext cx="107038" cy="416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AABBF6-091E-5F02-2153-B9A7B7214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160" y="5668731"/>
                <a:ext cx="107038" cy="416763"/>
              </a:xfrm>
              <a:prstGeom prst="rect">
                <a:avLst/>
              </a:prstGeom>
              <a:blipFill>
                <a:blip r:embed="rId3"/>
                <a:stretch>
                  <a:fillRect l="-66667" r="-5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9A73DDE-D576-9651-4FA4-44682286EF39}"/>
                  </a:ext>
                </a:extLst>
              </p:cNvPr>
              <p:cNvSpPr/>
              <p:nvPr/>
            </p:nvSpPr>
            <p:spPr>
              <a:xfrm>
                <a:off x="1803879" y="3395512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9A73DDE-D576-9651-4FA4-44682286E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79" y="3395512"/>
                <a:ext cx="595842" cy="59584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E8C64B2-D99D-3D9F-C826-54CEA479B3CA}"/>
                  </a:ext>
                </a:extLst>
              </p:cNvPr>
              <p:cNvSpPr/>
              <p:nvPr/>
            </p:nvSpPr>
            <p:spPr>
              <a:xfrm>
                <a:off x="3128239" y="3395512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E8C64B2-D99D-3D9F-C826-54CEA479B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39" y="3395512"/>
                <a:ext cx="595842" cy="59584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F5A823-0044-9B02-9D40-53A3F6E2E69B}"/>
              </a:ext>
            </a:extLst>
          </p:cNvPr>
          <p:cNvCxnSpPr>
            <a:cxnSpLocks/>
            <a:stCxn id="30" idx="4"/>
            <a:endCxn id="28" idx="1"/>
          </p:cNvCxnSpPr>
          <p:nvPr/>
        </p:nvCxnSpPr>
        <p:spPr>
          <a:xfrm>
            <a:off x="2101800" y="3991354"/>
            <a:ext cx="423009" cy="13263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AFB7DD-4A0D-300B-5258-8721E9511678}"/>
              </a:ext>
            </a:extLst>
          </p:cNvPr>
          <p:cNvCxnSpPr>
            <a:cxnSpLocks/>
            <a:stCxn id="31" idx="4"/>
            <a:endCxn id="28" idx="7"/>
          </p:cNvCxnSpPr>
          <p:nvPr/>
        </p:nvCxnSpPr>
        <p:spPr>
          <a:xfrm flipH="1">
            <a:off x="2931361" y="3991354"/>
            <a:ext cx="494799" cy="13263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98C07D-8F94-7753-14D7-AE76D8022892}"/>
                  </a:ext>
                </a:extLst>
              </p:cNvPr>
              <p:cNvSpPr txBox="1"/>
              <p:nvPr/>
            </p:nvSpPr>
            <p:spPr>
              <a:xfrm>
                <a:off x="3943797" y="5820091"/>
                <a:ext cx="144435" cy="46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98C07D-8F94-7753-14D7-AE76D8022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797" y="5820091"/>
                <a:ext cx="144435" cy="468789"/>
              </a:xfrm>
              <a:prstGeom prst="rect">
                <a:avLst/>
              </a:prstGeom>
              <a:blipFill>
                <a:blip r:embed="rId6"/>
                <a:stretch>
                  <a:fillRect l="-50000"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4FFCC0-1EF8-C729-70FC-514939DD7FBA}"/>
              </a:ext>
            </a:extLst>
          </p:cNvPr>
          <p:cNvSpPr/>
          <p:nvPr/>
        </p:nvSpPr>
        <p:spPr>
          <a:xfrm>
            <a:off x="1629243" y="3226640"/>
            <a:ext cx="2816551" cy="3178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8FDB1AC-2848-67EB-FBC7-524749C30193}"/>
                  </a:ext>
                </a:extLst>
              </p:cNvPr>
              <p:cNvSpPr/>
              <p:nvPr/>
            </p:nvSpPr>
            <p:spPr>
              <a:xfrm>
                <a:off x="1033401" y="1547977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8FDB1AC-2848-67EB-FBC7-524749C301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01" y="1547977"/>
                <a:ext cx="595842" cy="59584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E5EFEB-83EF-E3C9-FC9A-D7980895C6A3}"/>
                  </a:ext>
                </a:extLst>
              </p:cNvPr>
              <p:cNvSpPr/>
              <p:nvPr/>
            </p:nvSpPr>
            <p:spPr>
              <a:xfrm>
                <a:off x="2006467" y="1547977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E5EFEB-83EF-E3C9-FC9A-D7980895C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67" y="1547977"/>
                <a:ext cx="595842" cy="5958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DF9E0E-FA26-3696-7F5F-CDC50BC30138}"/>
                  </a:ext>
                </a:extLst>
              </p:cNvPr>
              <p:cNvSpPr/>
              <p:nvPr/>
            </p:nvSpPr>
            <p:spPr>
              <a:xfrm>
                <a:off x="3128239" y="1549124"/>
                <a:ext cx="595842" cy="59584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DF9E0E-FA26-3696-7F5F-CDC50BC30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39" y="1549124"/>
                <a:ext cx="595842" cy="59584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E8E257-6E7D-B17E-D3A9-0E1CD5C54BB5}"/>
              </a:ext>
            </a:extLst>
          </p:cNvPr>
          <p:cNvCxnSpPr>
            <a:cxnSpLocks/>
            <a:stCxn id="5" idx="4"/>
            <a:endCxn id="30" idx="0"/>
          </p:cNvCxnSpPr>
          <p:nvPr/>
        </p:nvCxnSpPr>
        <p:spPr>
          <a:xfrm>
            <a:off x="1331322" y="2143819"/>
            <a:ext cx="770478" cy="1251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CF9E8-00B9-023E-6912-747557C44F2C}"/>
              </a:ext>
            </a:extLst>
          </p:cNvPr>
          <p:cNvCxnSpPr>
            <a:cxnSpLocks/>
            <a:stCxn id="6" idx="4"/>
            <a:endCxn id="30" idx="0"/>
          </p:cNvCxnSpPr>
          <p:nvPr/>
        </p:nvCxnSpPr>
        <p:spPr>
          <a:xfrm flipH="1">
            <a:off x="2101800" y="2143819"/>
            <a:ext cx="202588" cy="1251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521062-716A-0380-F1AE-8F24BF566D47}"/>
              </a:ext>
            </a:extLst>
          </p:cNvPr>
          <p:cNvCxnSpPr>
            <a:cxnSpLocks/>
            <a:stCxn id="7" idx="4"/>
            <a:endCxn id="31" idx="0"/>
          </p:cNvCxnSpPr>
          <p:nvPr/>
        </p:nvCxnSpPr>
        <p:spPr>
          <a:xfrm>
            <a:off x="3426160" y="2144966"/>
            <a:ext cx="0" cy="1250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35">
            <a:extLst>
              <a:ext uri="{FF2B5EF4-FFF2-40B4-BE49-F238E27FC236}">
                <a16:creationId xmlns:a16="http://schemas.microsoft.com/office/drawing/2014/main" id="{125B7B65-1822-F3CA-8F29-CA135F89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8025DE-8946-2613-C195-BF8816D874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733E-55AD-7068-6066-BE1FBF1D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990C509-9B51-0255-3C14-3AA10C4B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2A703B-6E64-BDA1-E7E3-DAC63529D7E7}"/>
              </a:ext>
            </a:extLst>
          </p:cNvPr>
          <p:cNvGrpSpPr/>
          <p:nvPr/>
        </p:nvGrpSpPr>
        <p:grpSpPr>
          <a:xfrm>
            <a:off x="1033401" y="1547977"/>
            <a:ext cx="3412393" cy="4857586"/>
            <a:chOff x="4222629" y="1869950"/>
            <a:chExt cx="3412393" cy="48575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BBA39B-1287-D208-2A1D-A495E581EEA8}"/>
                </a:ext>
              </a:extLst>
            </p:cNvPr>
            <p:cNvGrpSpPr/>
            <p:nvPr/>
          </p:nvGrpSpPr>
          <p:grpSpPr>
            <a:xfrm>
              <a:off x="4818471" y="3548613"/>
              <a:ext cx="2816551" cy="3178923"/>
              <a:chOff x="5595582" y="2736138"/>
              <a:chExt cx="3328499" cy="37567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00DC59A-FBD1-DB90-B991-502B8D5517A0}"/>
                  </a:ext>
                </a:extLst>
              </p:cNvPr>
              <p:cNvGrpSpPr/>
              <p:nvPr/>
            </p:nvGrpSpPr>
            <p:grpSpPr>
              <a:xfrm>
                <a:off x="5801961" y="2935705"/>
                <a:ext cx="2699566" cy="3419278"/>
                <a:chOff x="5660323" y="2737286"/>
                <a:chExt cx="3036562" cy="3846121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D4E7D9C9-7C1E-B2DF-1CE0-F45B8C30CF8D}"/>
                    </a:ext>
                  </a:extLst>
                </p:cNvPr>
                <p:cNvSpPr/>
                <p:nvPr/>
              </p:nvSpPr>
              <p:spPr>
                <a:xfrm>
                  <a:off x="6164810" y="5029424"/>
                  <a:ext cx="1999397" cy="120782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17200741-8DA9-FED9-C9FD-7581ADDCE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i="1" dirty="0"/>
                    </a:p>
                  </p:txBody>
                </p:sp>
              </mc:Choice>
              <mc:Fallback xmlns="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17200741-8DA9-FED9-C9FD-7581ADDCEB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0D173D11-09A8-B423-DD23-2486F2A8F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0D173D11-09A8-B423-DD23-2486F2A8F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6667" r="-5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0A7F54F6-D704-2917-9515-94979C4C49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0A7F54F6-D704-2917-9515-94979C4C498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B44E2A95-6B37-9016-2C14-884387FB1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B44E2A95-6B37-9016-2C14-884387FB14A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11B3F2C9-0CDE-A204-C391-8FA6EB5C073D}"/>
                    </a:ext>
                  </a:extLst>
                </p:cNvPr>
                <p:cNvCxnSpPr>
                  <a:cxnSpLocks/>
                  <a:stCxn id="30" idx="4"/>
                  <a:endCxn id="28" idx="1"/>
                </p:cNvCxnSpPr>
                <p:nvPr/>
              </p:nvCxnSpPr>
              <p:spPr>
                <a:xfrm>
                  <a:off x="6056346" y="3529332"/>
                  <a:ext cx="562301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BDB1451-E96C-5C33-5488-C967D4A39288}"/>
                    </a:ext>
                  </a:extLst>
                </p:cNvPr>
                <p:cNvCxnSpPr>
                  <a:cxnSpLocks/>
                  <a:stCxn id="31" idx="4"/>
                  <a:endCxn id="28" idx="7"/>
                </p:cNvCxnSpPr>
                <p:nvPr/>
              </p:nvCxnSpPr>
              <p:spPr>
                <a:xfrm flipH="1">
                  <a:off x="7159071" y="3529332"/>
                  <a:ext cx="657730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546589FB-4907-66E8-7729-6CB745F212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546589FB-4907-66E8-7729-6CB745F212D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0000"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235FE43-B62A-19C6-AB55-377D6293D274}"/>
                  </a:ext>
                </a:extLst>
              </p:cNvPr>
              <p:cNvSpPr/>
              <p:nvPr/>
            </p:nvSpPr>
            <p:spPr>
              <a:xfrm>
                <a:off x="5595582" y="2736138"/>
                <a:ext cx="3328499" cy="375673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3C3935B9-9CAD-E460-0A1E-3E519A140D92}"/>
                    </a:ext>
                  </a:extLst>
                </p:cNvPr>
                <p:cNvSpPr/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3C3935B9-9CAD-E460-0A1E-3E519A140D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01EFF1C-5443-7272-5FA3-4951E3A920FE}"/>
                    </a:ext>
                  </a:extLst>
                </p:cNvPr>
                <p:cNvSpPr/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01EFF1C-5443-7272-5FA3-4951E3A920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3D8962-F660-0DE8-F85A-0C718EF092F8}"/>
                    </a:ext>
                  </a:extLst>
                </p:cNvPr>
                <p:cNvSpPr/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3D8962-F660-0DE8-F85A-0C718EF092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F81E6A7-3714-068E-ABBC-8448AA8B98C7}"/>
                </a:ext>
              </a:extLst>
            </p:cNvPr>
            <p:cNvCxnSpPr>
              <a:cxnSpLocks/>
              <a:stCxn id="5" idx="4"/>
              <a:endCxn id="30" idx="0"/>
            </p:cNvCxnSpPr>
            <p:nvPr/>
          </p:nvCxnSpPr>
          <p:spPr>
            <a:xfrm>
              <a:off x="4520550" y="2465792"/>
              <a:ext cx="77047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88D5F88-3008-71B1-C310-DB0D9DB7C8EB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5291028" y="2465792"/>
              <a:ext cx="20258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0911A97-B093-2FC4-CFE7-0778E51A1B37}"/>
                </a:ext>
              </a:extLst>
            </p:cNvPr>
            <p:cNvCxnSpPr>
              <a:cxnSpLocks/>
              <a:stCxn id="7" idx="4"/>
              <a:endCxn id="31" idx="0"/>
            </p:cNvCxnSpPr>
            <p:nvPr/>
          </p:nvCxnSpPr>
          <p:spPr>
            <a:xfrm>
              <a:off x="6615388" y="2466939"/>
              <a:ext cx="0" cy="125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58F83971-7AE8-2EA9-FDD4-4D86F29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C81C1D-07B7-58B8-487E-C7E940EAFDE9}"/>
              </a:ext>
            </a:extLst>
          </p:cNvPr>
          <p:cNvSpPr/>
          <p:nvPr/>
        </p:nvSpPr>
        <p:spPr>
          <a:xfrm>
            <a:off x="6338923" y="552734"/>
            <a:ext cx="3685358" cy="8461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3655A-B20A-3252-4FA1-EC33829AE561}"/>
              </a:ext>
            </a:extLst>
          </p:cNvPr>
          <p:cNvSpPr txBox="1"/>
          <p:nvPr/>
        </p:nvSpPr>
        <p:spPr>
          <a:xfrm>
            <a:off x="10024281" y="843240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Input data</a:t>
            </a:r>
          </a:p>
        </p:txBody>
      </p:sp>
    </p:spTree>
    <p:extLst>
      <p:ext uri="{BB962C8B-B14F-4D97-AF65-F5344CB8AC3E}">
        <p14:creationId xmlns:p14="http://schemas.microsoft.com/office/powerpoint/2010/main" val="41500553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A9A4-E78B-338F-5947-11213F95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F1396C5-E218-BD0A-E0B9-C2C913C77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1877E15-1E55-BC27-DB45-8AACD413E6F8}"/>
              </a:ext>
            </a:extLst>
          </p:cNvPr>
          <p:cNvGrpSpPr/>
          <p:nvPr/>
        </p:nvGrpSpPr>
        <p:grpSpPr>
          <a:xfrm>
            <a:off x="1033401" y="1547977"/>
            <a:ext cx="3412393" cy="4857586"/>
            <a:chOff x="4222629" y="1869950"/>
            <a:chExt cx="3412393" cy="48575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6DB78FE-6208-F6B7-9388-89CC8EB5662F}"/>
                </a:ext>
              </a:extLst>
            </p:cNvPr>
            <p:cNvGrpSpPr/>
            <p:nvPr/>
          </p:nvGrpSpPr>
          <p:grpSpPr>
            <a:xfrm>
              <a:off x="4818471" y="3548613"/>
              <a:ext cx="2816551" cy="3178923"/>
              <a:chOff x="5595582" y="2736138"/>
              <a:chExt cx="3328499" cy="37567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69EAC66-7A03-656A-C75A-AB2CBD67BC23}"/>
                  </a:ext>
                </a:extLst>
              </p:cNvPr>
              <p:cNvGrpSpPr/>
              <p:nvPr/>
            </p:nvGrpSpPr>
            <p:grpSpPr>
              <a:xfrm>
                <a:off x="5801961" y="2935705"/>
                <a:ext cx="2699566" cy="3419278"/>
                <a:chOff x="5660323" y="2737286"/>
                <a:chExt cx="3036562" cy="3846121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FAD1370D-5EA4-58E7-32AB-6EC1C3BE79B5}"/>
                    </a:ext>
                  </a:extLst>
                </p:cNvPr>
                <p:cNvSpPr/>
                <p:nvPr/>
              </p:nvSpPr>
              <p:spPr>
                <a:xfrm>
                  <a:off x="6164810" y="5029424"/>
                  <a:ext cx="1999397" cy="120782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4F93A3F8-0850-C7B0-516E-D61BD1BBE7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i="1" dirty="0"/>
                    </a:p>
                  </p:txBody>
                </p:sp>
              </mc:Choice>
              <mc:Fallback xmlns="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4F93A3F8-0850-C7B0-516E-D61BD1BBE77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D533D90-F78E-0B88-093F-6C1D4380D0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D533D90-F78E-0B88-093F-6C1D4380D0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6667" r="-5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79D76837-62F8-ACA6-AE6B-269752B166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79D76837-62F8-ACA6-AE6B-269752B1669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365F591D-2263-75C8-DEC0-ECBD496299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365F591D-2263-75C8-DEC0-ECBD496299F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52D3B163-90DA-4DF1-22E1-537909CAC7F8}"/>
                    </a:ext>
                  </a:extLst>
                </p:cNvPr>
                <p:cNvCxnSpPr>
                  <a:cxnSpLocks/>
                  <a:stCxn id="30" idx="4"/>
                  <a:endCxn id="28" idx="1"/>
                </p:cNvCxnSpPr>
                <p:nvPr/>
              </p:nvCxnSpPr>
              <p:spPr>
                <a:xfrm>
                  <a:off x="6056346" y="3529332"/>
                  <a:ext cx="562301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46BE9FA9-BD4D-6824-B39B-6EF4E4C1F8EF}"/>
                    </a:ext>
                  </a:extLst>
                </p:cNvPr>
                <p:cNvCxnSpPr>
                  <a:cxnSpLocks/>
                  <a:stCxn id="31" idx="4"/>
                  <a:endCxn id="28" idx="7"/>
                </p:cNvCxnSpPr>
                <p:nvPr/>
              </p:nvCxnSpPr>
              <p:spPr>
                <a:xfrm flipH="1">
                  <a:off x="7159071" y="3529332"/>
                  <a:ext cx="657730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A42418D2-D075-D0CC-D569-2D0C6F5640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A42418D2-D075-D0CC-D569-2D0C6F5640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0000"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93E029F6-10BA-DB86-CB10-A5F8FA45E78D}"/>
                  </a:ext>
                </a:extLst>
              </p:cNvPr>
              <p:cNvSpPr/>
              <p:nvPr/>
            </p:nvSpPr>
            <p:spPr>
              <a:xfrm>
                <a:off x="5595582" y="2736138"/>
                <a:ext cx="3328499" cy="375673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5FBD5A8-7452-3068-1948-475246931AE3}"/>
                    </a:ext>
                  </a:extLst>
                </p:cNvPr>
                <p:cNvSpPr/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A5FBD5A8-7452-3068-1948-475246931A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8D728FD-90F1-4911-F382-A79E6FE0882E}"/>
                    </a:ext>
                  </a:extLst>
                </p:cNvPr>
                <p:cNvSpPr/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8D728FD-90F1-4911-F382-A79E6FE088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ED98469-21E4-6D42-4B1F-FCD1CA41F0A5}"/>
                    </a:ext>
                  </a:extLst>
                </p:cNvPr>
                <p:cNvSpPr/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ED98469-21E4-6D42-4B1F-FCD1CA41F0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9D76267-53BC-D18F-9F42-C2CB533BB564}"/>
                </a:ext>
              </a:extLst>
            </p:cNvPr>
            <p:cNvCxnSpPr>
              <a:cxnSpLocks/>
              <a:stCxn id="5" idx="4"/>
              <a:endCxn id="30" idx="0"/>
            </p:cNvCxnSpPr>
            <p:nvPr/>
          </p:nvCxnSpPr>
          <p:spPr>
            <a:xfrm>
              <a:off x="4520550" y="2465792"/>
              <a:ext cx="77047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58BDFD2-F98F-9B66-D202-B057300D02AB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5291028" y="2465792"/>
              <a:ext cx="20258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7FDDAC-556C-FB48-C591-B9170E794DA8}"/>
                </a:ext>
              </a:extLst>
            </p:cNvPr>
            <p:cNvCxnSpPr>
              <a:cxnSpLocks/>
              <a:stCxn id="7" idx="4"/>
              <a:endCxn id="31" idx="0"/>
            </p:cNvCxnSpPr>
            <p:nvPr/>
          </p:nvCxnSpPr>
          <p:spPr>
            <a:xfrm>
              <a:off x="6615388" y="2466939"/>
              <a:ext cx="0" cy="125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429F678D-2A83-D314-5E4E-746C23AA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B10EAC-E44C-521D-ADA6-2208F15BC6A7}"/>
              </a:ext>
            </a:extLst>
          </p:cNvPr>
          <p:cNvSpPr/>
          <p:nvPr/>
        </p:nvSpPr>
        <p:spPr>
          <a:xfrm>
            <a:off x="6237689" y="1612501"/>
            <a:ext cx="3685358" cy="19488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88D79-C223-0211-AC62-87DAA86C89B3}"/>
              </a:ext>
            </a:extLst>
          </p:cNvPr>
          <p:cNvSpPr txBox="1"/>
          <p:nvPr/>
        </p:nvSpPr>
        <p:spPr>
          <a:xfrm>
            <a:off x="10024281" y="843240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9B4D4B-FA4B-BB06-74F5-977BF3D9CD86}"/>
              </a:ext>
            </a:extLst>
          </p:cNvPr>
          <p:cNvSpPr txBox="1"/>
          <p:nvPr/>
        </p:nvSpPr>
        <p:spPr>
          <a:xfrm>
            <a:off x="10024282" y="2586923"/>
            <a:ext cx="132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Parameters to fit</a:t>
            </a:r>
          </a:p>
        </p:txBody>
      </p:sp>
    </p:spTree>
    <p:extLst>
      <p:ext uri="{BB962C8B-B14F-4D97-AF65-F5344CB8AC3E}">
        <p14:creationId xmlns:p14="http://schemas.microsoft.com/office/powerpoint/2010/main" val="1939209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4FC5-0351-BB11-C1F4-80861295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3C4416F-4AC0-D099-55E7-7655CB44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75873FB-12DF-0470-8D73-15770DEC57ED}"/>
              </a:ext>
            </a:extLst>
          </p:cNvPr>
          <p:cNvGrpSpPr/>
          <p:nvPr/>
        </p:nvGrpSpPr>
        <p:grpSpPr>
          <a:xfrm>
            <a:off x="1033401" y="1547977"/>
            <a:ext cx="3412393" cy="4857586"/>
            <a:chOff x="4222629" y="1869950"/>
            <a:chExt cx="3412393" cy="48575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EF269-E235-05E8-3265-74ACE2C81383}"/>
                </a:ext>
              </a:extLst>
            </p:cNvPr>
            <p:cNvGrpSpPr/>
            <p:nvPr/>
          </p:nvGrpSpPr>
          <p:grpSpPr>
            <a:xfrm>
              <a:off x="4818471" y="3548613"/>
              <a:ext cx="2816551" cy="3178923"/>
              <a:chOff x="5595582" y="2736138"/>
              <a:chExt cx="3328499" cy="37567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1BA01F2-0327-E0A0-08CB-9BC2D92CC0EE}"/>
                  </a:ext>
                </a:extLst>
              </p:cNvPr>
              <p:cNvGrpSpPr/>
              <p:nvPr/>
            </p:nvGrpSpPr>
            <p:grpSpPr>
              <a:xfrm>
                <a:off x="5801961" y="2935705"/>
                <a:ext cx="2699566" cy="3419278"/>
                <a:chOff x="5660323" y="2737286"/>
                <a:chExt cx="3036562" cy="3846121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8333FD1-692D-078F-8B19-EDF22271A35E}"/>
                    </a:ext>
                  </a:extLst>
                </p:cNvPr>
                <p:cNvSpPr/>
                <p:nvPr/>
              </p:nvSpPr>
              <p:spPr>
                <a:xfrm>
                  <a:off x="6164810" y="5029424"/>
                  <a:ext cx="1999397" cy="120782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42596C6B-3994-FF31-F43C-DB96420C9C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i="1" dirty="0"/>
                    </a:p>
                  </p:txBody>
                </p:sp>
              </mc:Choice>
              <mc:Fallback xmlns="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42596C6B-3994-FF31-F43C-DB96420C9C3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2A7543E3-5957-73EF-7AA5-BDCD08CC1A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2A7543E3-5957-73EF-7AA5-BDCD08CC1AC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6667" r="-5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6F39B32B-20F9-E1F9-A9D2-F52CAC8FB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6F39B32B-20F9-E1F9-A9D2-F52CAC8FB24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981CDA14-4093-0272-7061-E7995AE380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981CDA14-4093-0272-7061-E7995AE380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196FFD0-CF27-F736-CC90-4E34B1EC047A}"/>
                    </a:ext>
                  </a:extLst>
                </p:cNvPr>
                <p:cNvCxnSpPr>
                  <a:cxnSpLocks/>
                  <a:stCxn id="30" idx="4"/>
                  <a:endCxn id="28" idx="1"/>
                </p:cNvCxnSpPr>
                <p:nvPr/>
              </p:nvCxnSpPr>
              <p:spPr>
                <a:xfrm>
                  <a:off x="6056346" y="3529332"/>
                  <a:ext cx="562301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B47254FF-A998-2948-DA05-3E6B5FDC2FC5}"/>
                    </a:ext>
                  </a:extLst>
                </p:cNvPr>
                <p:cNvCxnSpPr>
                  <a:cxnSpLocks/>
                  <a:stCxn id="31" idx="4"/>
                  <a:endCxn id="28" idx="7"/>
                </p:cNvCxnSpPr>
                <p:nvPr/>
              </p:nvCxnSpPr>
              <p:spPr>
                <a:xfrm flipH="1">
                  <a:off x="7159071" y="3529332"/>
                  <a:ext cx="657730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E3F7CF6F-D4A8-657A-B9BE-5640499393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E3F7CF6F-D4A8-657A-B9BE-5640499393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0000"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B214AD3-0C13-B237-CF75-6A944CD533DF}"/>
                  </a:ext>
                </a:extLst>
              </p:cNvPr>
              <p:cNvSpPr/>
              <p:nvPr/>
            </p:nvSpPr>
            <p:spPr>
              <a:xfrm>
                <a:off x="5595582" y="2736138"/>
                <a:ext cx="3328499" cy="375673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D0E47F8-ED44-15C2-FB73-01E76ACD2A8B}"/>
                    </a:ext>
                  </a:extLst>
                </p:cNvPr>
                <p:cNvSpPr/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D0E47F8-ED44-15C2-FB73-01E76ACD2A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B02CBF14-0AC9-3859-0C4F-0CAB2766CC65}"/>
                    </a:ext>
                  </a:extLst>
                </p:cNvPr>
                <p:cNvSpPr/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B02CBF14-0AC9-3859-0C4F-0CAB2766CC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0CF32E6A-75F3-211E-02FB-E2C88CD5E5E1}"/>
                    </a:ext>
                  </a:extLst>
                </p:cNvPr>
                <p:cNvSpPr/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0CF32E6A-75F3-211E-02FB-E2C88CD5E5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0EF777A-5857-6BDB-924A-6F6595DD81E9}"/>
                </a:ext>
              </a:extLst>
            </p:cNvPr>
            <p:cNvCxnSpPr>
              <a:cxnSpLocks/>
              <a:stCxn id="5" idx="4"/>
              <a:endCxn id="30" idx="0"/>
            </p:cNvCxnSpPr>
            <p:nvPr/>
          </p:nvCxnSpPr>
          <p:spPr>
            <a:xfrm>
              <a:off x="4520550" y="2465792"/>
              <a:ext cx="77047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47BD465-8167-8639-7A83-F1AFB5BDBB0E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5291028" y="2465792"/>
              <a:ext cx="20258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C8639B-5910-F0B7-ED55-120F61C476E5}"/>
                </a:ext>
              </a:extLst>
            </p:cNvPr>
            <p:cNvCxnSpPr>
              <a:cxnSpLocks/>
              <a:stCxn id="7" idx="4"/>
              <a:endCxn id="31" idx="0"/>
            </p:cNvCxnSpPr>
            <p:nvPr/>
          </p:nvCxnSpPr>
          <p:spPr>
            <a:xfrm>
              <a:off x="6615388" y="2466939"/>
              <a:ext cx="0" cy="125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737AC1D2-4447-1717-8C61-2E75CB1B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D8C8B7-FE69-E178-EB0E-2E74FA74DC1F}"/>
              </a:ext>
            </a:extLst>
          </p:cNvPr>
          <p:cNvSpPr/>
          <p:nvPr/>
        </p:nvSpPr>
        <p:spPr>
          <a:xfrm>
            <a:off x="6237689" y="3625314"/>
            <a:ext cx="3685358" cy="18335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07B8D-08FA-0788-4ADC-92E9CDC3461D}"/>
              </a:ext>
            </a:extLst>
          </p:cNvPr>
          <p:cNvSpPr txBox="1"/>
          <p:nvPr/>
        </p:nvSpPr>
        <p:spPr>
          <a:xfrm>
            <a:off x="10024281" y="843240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212D1-430B-D6EA-887D-01CDF5A5F8E4}"/>
              </a:ext>
            </a:extLst>
          </p:cNvPr>
          <p:cNvSpPr txBox="1"/>
          <p:nvPr/>
        </p:nvSpPr>
        <p:spPr>
          <a:xfrm>
            <a:off x="10024282" y="2586923"/>
            <a:ext cx="132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Parameters to 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1BAD0-F4F2-A3DC-87DF-39D4E7EF442B}"/>
              </a:ext>
            </a:extLst>
          </p:cNvPr>
          <p:cNvSpPr txBox="1"/>
          <p:nvPr/>
        </p:nvSpPr>
        <p:spPr>
          <a:xfrm>
            <a:off x="10024282" y="4331349"/>
            <a:ext cx="132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Priors</a:t>
            </a:r>
          </a:p>
        </p:txBody>
      </p:sp>
    </p:spTree>
    <p:extLst>
      <p:ext uri="{BB962C8B-B14F-4D97-AF65-F5344CB8AC3E}">
        <p14:creationId xmlns:p14="http://schemas.microsoft.com/office/powerpoint/2010/main" val="181850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53C8-1F42-2904-ECB0-8C930F611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16C3F6F-9ED5-7CA9-773E-22EACDA19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9B8989-4091-E64A-FD23-35386AF50572}"/>
              </a:ext>
            </a:extLst>
          </p:cNvPr>
          <p:cNvGrpSpPr/>
          <p:nvPr/>
        </p:nvGrpSpPr>
        <p:grpSpPr>
          <a:xfrm>
            <a:off x="1033401" y="1547977"/>
            <a:ext cx="3412393" cy="4857586"/>
            <a:chOff x="4222629" y="1869950"/>
            <a:chExt cx="3412393" cy="48575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A48DFE-F669-E4B0-06A1-33113C6A3603}"/>
                </a:ext>
              </a:extLst>
            </p:cNvPr>
            <p:cNvGrpSpPr/>
            <p:nvPr/>
          </p:nvGrpSpPr>
          <p:grpSpPr>
            <a:xfrm>
              <a:off x="4818471" y="3548613"/>
              <a:ext cx="2816551" cy="3178923"/>
              <a:chOff x="5595582" y="2736138"/>
              <a:chExt cx="3328499" cy="37567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341DF15-5A57-BC94-FE2B-B6317251EA36}"/>
                  </a:ext>
                </a:extLst>
              </p:cNvPr>
              <p:cNvGrpSpPr/>
              <p:nvPr/>
            </p:nvGrpSpPr>
            <p:grpSpPr>
              <a:xfrm>
                <a:off x="5801961" y="2935705"/>
                <a:ext cx="2699566" cy="3419278"/>
                <a:chOff x="5660323" y="2737286"/>
                <a:chExt cx="3036562" cy="3846121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7C7D9088-01F7-9AE0-B0BF-2CB3C87527DD}"/>
                    </a:ext>
                  </a:extLst>
                </p:cNvPr>
                <p:cNvSpPr/>
                <p:nvPr/>
              </p:nvSpPr>
              <p:spPr>
                <a:xfrm>
                  <a:off x="6164810" y="5029424"/>
                  <a:ext cx="1999397" cy="120782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EEF9321A-C2D2-7DE6-3C4C-233356EF18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i="1" dirty="0"/>
                    </a:p>
                  </p:txBody>
                </p:sp>
              </mc:Choice>
              <mc:Fallback xmlns="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EEF9321A-C2D2-7DE6-3C4C-233356EF18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0BA9993F-4F45-2836-A320-2DBD6355AD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0BA9993F-4F45-2836-A320-2DBD6355AD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6667" r="-5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B3ACB220-A5CB-D776-80A1-B667120E5A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B3ACB220-A5CB-D776-80A1-B667120E5A9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E2EFCDF4-4F10-BC11-7536-B1F1765F2F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E2EFCDF4-4F10-BC11-7536-B1F1765F2F6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3CC44464-8516-B414-0F52-41DD22FF459A}"/>
                    </a:ext>
                  </a:extLst>
                </p:cNvPr>
                <p:cNvCxnSpPr>
                  <a:cxnSpLocks/>
                  <a:stCxn id="30" idx="4"/>
                  <a:endCxn id="28" idx="1"/>
                </p:cNvCxnSpPr>
                <p:nvPr/>
              </p:nvCxnSpPr>
              <p:spPr>
                <a:xfrm>
                  <a:off x="6056346" y="3529332"/>
                  <a:ext cx="562301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3A9A813-112D-C97A-6820-4B863F3F3905}"/>
                    </a:ext>
                  </a:extLst>
                </p:cNvPr>
                <p:cNvCxnSpPr>
                  <a:cxnSpLocks/>
                  <a:stCxn id="31" idx="4"/>
                  <a:endCxn id="28" idx="7"/>
                </p:cNvCxnSpPr>
                <p:nvPr/>
              </p:nvCxnSpPr>
              <p:spPr>
                <a:xfrm flipH="1">
                  <a:off x="7159071" y="3529332"/>
                  <a:ext cx="657730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9250FCE-E4CD-0C17-49B8-CDE433D6CD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9250FCE-E4CD-0C17-49B8-CDE433D6CD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0000"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016B9BCA-C266-CFD3-38D5-FACC3E87561F}"/>
                  </a:ext>
                </a:extLst>
              </p:cNvPr>
              <p:cNvSpPr/>
              <p:nvPr/>
            </p:nvSpPr>
            <p:spPr>
              <a:xfrm>
                <a:off x="5595582" y="2736138"/>
                <a:ext cx="3328499" cy="375673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46624C4-6B25-FB18-3548-3E2CE315F997}"/>
                    </a:ext>
                  </a:extLst>
                </p:cNvPr>
                <p:cNvSpPr/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46624C4-6B25-FB18-3548-3E2CE315F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6DCFF65-BEF8-6444-3D60-BF55B9CCD86B}"/>
                    </a:ext>
                  </a:extLst>
                </p:cNvPr>
                <p:cNvSpPr/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6DCFF65-BEF8-6444-3D60-BF55B9CCD8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BFD7DD84-C84A-10A0-DD32-A305EF470679}"/>
                    </a:ext>
                  </a:extLst>
                </p:cNvPr>
                <p:cNvSpPr/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BFD7DD84-C84A-10A0-DD32-A305EF4706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912022-E088-0308-52C5-868CD60429D1}"/>
                </a:ext>
              </a:extLst>
            </p:cNvPr>
            <p:cNvCxnSpPr>
              <a:cxnSpLocks/>
              <a:stCxn id="5" idx="4"/>
              <a:endCxn id="30" idx="0"/>
            </p:cNvCxnSpPr>
            <p:nvPr/>
          </p:nvCxnSpPr>
          <p:spPr>
            <a:xfrm>
              <a:off x="4520550" y="2465792"/>
              <a:ext cx="77047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5DA070A-9D56-0CAE-8E7D-5D7F0B2C4D66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5291028" y="2465792"/>
              <a:ext cx="20258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952DEF-8C2B-E107-B249-E272DF53D43E}"/>
                </a:ext>
              </a:extLst>
            </p:cNvPr>
            <p:cNvCxnSpPr>
              <a:cxnSpLocks/>
              <a:stCxn id="7" idx="4"/>
              <a:endCxn id="31" idx="0"/>
            </p:cNvCxnSpPr>
            <p:nvPr/>
          </p:nvCxnSpPr>
          <p:spPr>
            <a:xfrm>
              <a:off x="6615388" y="2466939"/>
              <a:ext cx="0" cy="125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DAE87AEA-BD7B-9C1B-B8B6-DAD8F29A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CAE9C1-0CC3-F1EF-9987-B4BE92E12CB9}"/>
              </a:ext>
            </a:extLst>
          </p:cNvPr>
          <p:cNvSpPr/>
          <p:nvPr/>
        </p:nvSpPr>
        <p:spPr>
          <a:xfrm>
            <a:off x="6237688" y="5479525"/>
            <a:ext cx="4872615" cy="742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75EE2-CC24-3388-15E8-326D981BCBF5}"/>
              </a:ext>
            </a:extLst>
          </p:cNvPr>
          <p:cNvSpPr txBox="1"/>
          <p:nvPr/>
        </p:nvSpPr>
        <p:spPr>
          <a:xfrm>
            <a:off x="10024281" y="843240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44847-B14E-21F9-3605-7E8C1A79A292}"/>
              </a:ext>
            </a:extLst>
          </p:cNvPr>
          <p:cNvSpPr txBox="1"/>
          <p:nvPr/>
        </p:nvSpPr>
        <p:spPr>
          <a:xfrm>
            <a:off x="10024282" y="2586923"/>
            <a:ext cx="132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Parameters to 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85C96-8A8D-2D01-747D-47E27EA94E7D}"/>
              </a:ext>
            </a:extLst>
          </p:cNvPr>
          <p:cNvSpPr txBox="1"/>
          <p:nvPr/>
        </p:nvSpPr>
        <p:spPr>
          <a:xfrm>
            <a:off x="10024282" y="4331349"/>
            <a:ext cx="132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Priors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A39531-8230-36E2-493C-9F18A9A65CB3}"/>
              </a:ext>
            </a:extLst>
          </p:cNvPr>
          <p:cNvSpPr txBox="1"/>
          <p:nvPr/>
        </p:nvSpPr>
        <p:spPr>
          <a:xfrm>
            <a:off x="9894387" y="5484065"/>
            <a:ext cx="132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1422500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8870B-8721-C63D-3686-B6D1BC88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5B647103-25FD-CA64-2E53-5BD3AC8A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60" y="395205"/>
            <a:ext cx="6289310" cy="59906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428C1CC-0201-2D43-BE4B-E71ACB7DF98C}"/>
              </a:ext>
            </a:extLst>
          </p:cNvPr>
          <p:cNvGrpSpPr/>
          <p:nvPr/>
        </p:nvGrpSpPr>
        <p:grpSpPr>
          <a:xfrm>
            <a:off x="1033401" y="1547977"/>
            <a:ext cx="3412393" cy="4857586"/>
            <a:chOff x="4222629" y="1869950"/>
            <a:chExt cx="3412393" cy="48575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4A9EBD-C272-9647-D3E6-032F78D30A8C}"/>
                </a:ext>
              </a:extLst>
            </p:cNvPr>
            <p:cNvGrpSpPr/>
            <p:nvPr/>
          </p:nvGrpSpPr>
          <p:grpSpPr>
            <a:xfrm>
              <a:off x="4818471" y="3548613"/>
              <a:ext cx="2816551" cy="3178923"/>
              <a:chOff x="5595582" y="2736138"/>
              <a:chExt cx="3328499" cy="37567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098336B-ABC4-77CB-A333-016A328816BC}"/>
                  </a:ext>
                </a:extLst>
              </p:cNvPr>
              <p:cNvGrpSpPr/>
              <p:nvPr/>
            </p:nvGrpSpPr>
            <p:grpSpPr>
              <a:xfrm>
                <a:off x="5801961" y="2935705"/>
                <a:ext cx="2699566" cy="3419278"/>
                <a:chOff x="5660323" y="2737286"/>
                <a:chExt cx="3036562" cy="3846121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13F26A0-726B-7851-FD02-1BCC845D3F6A}"/>
                    </a:ext>
                  </a:extLst>
                </p:cNvPr>
                <p:cNvSpPr/>
                <p:nvPr/>
              </p:nvSpPr>
              <p:spPr>
                <a:xfrm>
                  <a:off x="6164810" y="5029424"/>
                  <a:ext cx="1999397" cy="120782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7A08BC79-15A6-0D71-114A-94B95886FE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i="1" dirty="0"/>
                    </a:p>
                  </p:txBody>
                </p:sp>
              </mc:Choice>
              <mc:Fallback xmlns="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7A08BC79-15A6-0D71-114A-94B95886FE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6722" y="5180473"/>
                      <a:ext cx="764274" cy="764274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658788E0-47B7-DCE4-F5F0-368D639552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658788E0-47B7-DCE4-F5F0-368D639552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16801" y="5759050"/>
                      <a:ext cx="142284" cy="5539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6667" r="-5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CA51F02F-BD4D-EA04-9F27-EFF961E0E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CA51F02F-BD4D-EA04-9F27-EFF961E0E5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0323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860E511F-A060-970D-48E5-95A5C8A388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860E511F-A060-970D-48E5-95A5C8A3888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78" y="2737286"/>
                      <a:ext cx="792046" cy="792046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4A01C83-A1B1-4752-60B6-7609864DF6AA}"/>
                    </a:ext>
                  </a:extLst>
                </p:cNvPr>
                <p:cNvCxnSpPr>
                  <a:cxnSpLocks/>
                  <a:stCxn id="30" idx="4"/>
                  <a:endCxn id="28" idx="1"/>
                </p:cNvCxnSpPr>
                <p:nvPr/>
              </p:nvCxnSpPr>
              <p:spPr>
                <a:xfrm>
                  <a:off x="6056346" y="3529332"/>
                  <a:ext cx="562301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2F2FC08F-FBAB-06B7-1F5D-A5251D6FB072}"/>
                    </a:ext>
                  </a:extLst>
                </p:cNvPr>
                <p:cNvCxnSpPr>
                  <a:cxnSpLocks/>
                  <a:stCxn id="31" idx="4"/>
                  <a:endCxn id="28" idx="7"/>
                </p:cNvCxnSpPr>
                <p:nvPr/>
              </p:nvCxnSpPr>
              <p:spPr>
                <a:xfrm flipH="1">
                  <a:off x="7159071" y="3529332"/>
                  <a:ext cx="657730" cy="17630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B5E1027-1F73-C45A-CB5A-CF030FC45C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oMath>
                        </m:oMathPara>
                      </a14:m>
                      <a:endParaRPr lang="en-GB" b="0" dirty="0"/>
                    </a:p>
                    <a:p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B5E1027-1F73-C45A-CB5A-CF030FC45C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04889" y="5960251"/>
                      <a:ext cx="191996" cy="62315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0000"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4FC5C89-D814-776D-2124-30E27D0500B0}"/>
                  </a:ext>
                </a:extLst>
              </p:cNvPr>
              <p:cNvSpPr/>
              <p:nvPr/>
            </p:nvSpPr>
            <p:spPr>
              <a:xfrm>
                <a:off x="5595582" y="2736138"/>
                <a:ext cx="3328499" cy="375673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451EF24-7679-3470-CBAE-3288B3191696}"/>
                    </a:ext>
                  </a:extLst>
                </p:cNvPr>
                <p:cNvSpPr/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451EF24-7679-3470-CBAE-3288B31916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629" y="1869950"/>
                  <a:ext cx="595842" cy="595842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61B2E3FD-719A-5BBB-6A99-3CCCF96CF70B}"/>
                    </a:ext>
                  </a:extLst>
                </p:cNvPr>
                <p:cNvSpPr/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61B2E3FD-719A-5BBB-6A99-3CCCF96CF7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695" y="1869950"/>
                  <a:ext cx="595842" cy="59584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63ED4C3-CAC1-FC71-1386-85005A16A3EE}"/>
                    </a:ext>
                  </a:extLst>
                </p:cNvPr>
                <p:cNvSpPr/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63ED4C3-CAC1-FC71-1386-85005A16A3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467" y="1871097"/>
                  <a:ext cx="595842" cy="59584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EA28C01-047D-2A93-27C0-6DCD2B4348B6}"/>
                </a:ext>
              </a:extLst>
            </p:cNvPr>
            <p:cNvCxnSpPr>
              <a:cxnSpLocks/>
              <a:stCxn id="5" idx="4"/>
              <a:endCxn id="30" idx="0"/>
            </p:cNvCxnSpPr>
            <p:nvPr/>
          </p:nvCxnSpPr>
          <p:spPr>
            <a:xfrm>
              <a:off x="4520550" y="2465792"/>
              <a:ext cx="77047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738B728-E876-95E4-A45F-CBDFA876DE2F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5291028" y="2465792"/>
              <a:ext cx="202588" cy="1251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9D1C8F-ACC5-6FA7-BD80-D93BD7967227}"/>
                </a:ext>
              </a:extLst>
            </p:cNvPr>
            <p:cNvCxnSpPr>
              <a:cxnSpLocks/>
              <a:stCxn id="7" idx="4"/>
              <a:endCxn id="31" idx="0"/>
            </p:cNvCxnSpPr>
            <p:nvPr/>
          </p:nvCxnSpPr>
          <p:spPr>
            <a:xfrm>
              <a:off x="6615388" y="2466939"/>
              <a:ext cx="0" cy="125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68536ECC-3F34-1545-6D1C-69C82ADA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pooling in Stan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32E4CE-81C8-25F8-9C7E-499DA16711FF}"/>
              </a:ext>
            </a:extLst>
          </p:cNvPr>
          <p:cNvCxnSpPr>
            <a:cxnSpLocks/>
          </p:cNvCxnSpPr>
          <p:nvPr/>
        </p:nvCxnSpPr>
        <p:spPr>
          <a:xfrm flipH="1" flipV="1">
            <a:off x="1629243" y="2143819"/>
            <a:ext cx="4709680" cy="1970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E30FEB-C011-E95C-D615-5327EF4414F1}"/>
              </a:ext>
            </a:extLst>
          </p:cNvPr>
          <p:cNvCxnSpPr>
            <a:cxnSpLocks/>
          </p:cNvCxnSpPr>
          <p:nvPr/>
        </p:nvCxnSpPr>
        <p:spPr>
          <a:xfrm flipH="1" flipV="1">
            <a:off x="2524809" y="2227561"/>
            <a:ext cx="3814114" cy="2041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984EEE-BA8E-3280-7B7E-C8695E9C8D61}"/>
              </a:ext>
            </a:extLst>
          </p:cNvPr>
          <p:cNvCxnSpPr>
            <a:cxnSpLocks/>
          </p:cNvCxnSpPr>
          <p:nvPr/>
        </p:nvCxnSpPr>
        <p:spPr>
          <a:xfrm flipH="1" flipV="1">
            <a:off x="3609474" y="2227561"/>
            <a:ext cx="2805076" cy="2213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94CCB4-9838-C819-9E77-F86B7B030C16}"/>
              </a:ext>
            </a:extLst>
          </p:cNvPr>
          <p:cNvCxnSpPr>
            <a:cxnSpLocks/>
          </p:cNvCxnSpPr>
          <p:nvPr/>
        </p:nvCxnSpPr>
        <p:spPr>
          <a:xfrm flipH="1" flipV="1">
            <a:off x="3856980" y="3829480"/>
            <a:ext cx="2557570" cy="1340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28846B-8087-B877-8038-1E21133D81F0}"/>
              </a:ext>
            </a:extLst>
          </p:cNvPr>
          <p:cNvCxnSpPr>
            <a:cxnSpLocks/>
          </p:cNvCxnSpPr>
          <p:nvPr/>
        </p:nvCxnSpPr>
        <p:spPr>
          <a:xfrm flipH="1" flipV="1">
            <a:off x="2440610" y="3905107"/>
            <a:ext cx="3898313" cy="11083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5C903CC-14C7-3FBA-AD26-A708C9A7CA7F}"/>
              </a:ext>
            </a:extLst>
          </p:cNvPr>
          <p:cNvCxnSpPr>
            <a:cxnSpLocks/>
          </p:cNvCxnSpPr>
          <p:nvPr/>
        </p:nvCxnSpPr>
        <p:spPr>
          <a:xfrm flipH="1" flipV="1">
            <a:off x="3334466" y="5589528"/>
            <a:ext cx="3196963" cy="316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2FA614-B1CE-8C3A-4ED6-5EE2F1112962}"/>
              </a:ext>
            </a:extLst>
          </p:cNvPr>
          <p:cNvSpPr txBox="1"/>
          <p:nvPr/>
        </p:nvSpPr>
        <p:spPr>
          <a:xfrm>
            <a:off x="10024281" y="843240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Input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79D5D6-D937-EE07-AA55-F4A34A144A9F}"/>
              </a:ext>
            </a:extLst>
          </p:cNvPr>
          <p:cNvSpPr txBox="1"/>
          <p:nvPr/>
        </p:nvSpPr>
        <p:spPr>
          <a:xfrm>
            <a:off x="10024282" y="2586923"/>
            <a:ext cx="132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Parameters to fit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9C5D93-2722-EB12-C3A6-BDAF993827B4}"/>
              </a:ext>
            </a:extLst>
          </p:cNvPr>
          <p:cNvSpPr txBox="1"/>
          <p:nvPr/>
        </p:nvSpPr>
        <p:spPr>
          <a:xfrm>
            <a:off x="10024282" y="4331349"/>
            <a:ext cx="132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Priors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A4C562-D4C2-B72C-A036-240CF74D1660}"/>
              </a:ext>
            </a:extLst>
          </p:cNvPr>
          <p:cNvSpPr txBox="1"/>
          <p:nvPr/>
        </p:nvSpPr>
        <p:spPr>
          <a:xfrm>
            <a:off x="9894387" y="5484065"/>
            <a:ext cx="132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982059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5156-9434-423C-6EDD-C9FCFCCC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1DE-A125-C904-7EF3-F25BBD5D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Traditional approaches to grouped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843F9-C204-79CD-306C-EE22018E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448820" cy="4351338"/>
          </a:xfrm>
        </p:spPr>
        <p:txBody>
          <a:bodyPr/>
          <a:lstStyle/>
          <a:p>
            <a:r>
              <a:rPr lang="en-GB" dirty="0"/>
              <a:t>Ignore grouping structure, average across all observations/participants</a:t>
            </a:r>
          </a:p>
          <a:p>
            <a:r>
              <a:rPr lang="en-GB" dirty="0"/>
              <a:t>Fit cognitive models to each individual</a:t>
            </a:r>
          </a:p>
        </p:txBody>
      </p:sp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617EDBA0-93E8-96B0-5A9D-8EF4331E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887" y="1575377"/>
            <a:ext cx="6510340" cy="4917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DA7C3-A22C-4E11-FBB5-2A4327995827}"/>
              </a:ext>
            </a:extLst>
          </p:cNvPr>
          <p:cNvSpPr txBox="1"/>
          <p:nvPr/>
        </p:nvSpPr>
        <p:spPr>
          <a:xfrm>
            <a:off x="8647326" y="6488668"/>
            <a:ext cx="344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Farrel &amp; Lewandowsky, chapter 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AD4D3-A393-F96E-A0FD-AC023ACEB5AF}"/>
              </a:ext>
            </a:extLst>
          </p:cNvPr>
          <p:cNvSpPr/>
          <p:nvPr/>
        </p:nvSpPr>
        <p:spPr>
          <a:xfrm>
            <a:off x="838200" y="1825625"/>
            <a:ext cx="4683919" cy="12319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81529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9745-2B02-5490-CBD6-F79199DD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F720-3EA6-9C9E-5D5B-02B0999F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Traditional approaches to grouped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FA638-92F1-2CA9-DE7F-E8A6DEB29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448820" cy="4351338"/>
          </a:xfrm>
        </p:spPr>
        <p:txBody>
          <a:bodyPr/>
          <a:lstStyle/>
          <a:p>
            <a:r>
              <a:rPr lang="en-GB" dirty="0"/>
              <a:t>Ignore grouping structure, average across all observations/participants</a:t>
            </a:r>
          </a:p>
          <a:p>
            <a:r>
              <a:rPr lang="en-GB" dirty="0"/>
              <a:t>Fit cognitive models to each individual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EFE06-3302-F3CE-6C09-D6B7CA32C95E}"/>
              </a:ext>
            </a:extLst>
          </p:cNvPr>
          <p:cNvSpPr/>
          <p:nvPr/>
        </p:nvSpPr>
        <p:spPr>
          <a:xfrm>
            <a:off x="838200" y="3068643"/>
            <a:ext cx="4683919" cy="9104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D89B22-0C4E-6A59-8049-C156B0D2C40A}"/>
              </a:ext>
            </a:extLst>
          </p:cNvPr>
          <p:cNvSpPr txBox="1">
            <a:spLocks/>
          </p:cNvSpPr>
          <p:nvPr/>
        </p:nvSpPr>
        <p:spPr>
          <a:xfrm>
            <a:off x="5838218" y="3037967"/>
            <a:ext cx="44488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Easy to overfit! Especially for smaller data sets.</a:t>
            </a:r>
          </a:p>
          <a:p>
            <a:r>
              <a:rPr lang="en-GB" dirty="0"/>
              <a:t>When summarising effects across the group, we are discarding uncertainty</a:t>
            </a:r>
          </a:p>
          <a:p>
            <a:r>
              <a:rPr lang="en-GB" dirty="0"/>
              <a:t>Difficult to account correctly for unbalanced samples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002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E79C-73FC-137A-A737-2103653E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7F3D-5D2D-91F7-0BCB-97B3E5B4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3B14-9E46-EC0F-C50B-61BC6285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the actual individual, not the averaged effect</a:t>
            </a:r>
          </a:p>
          <a:p>
            <a:r>
              <a:rPr lang="en-GB" dirty="0"/>
              <a:t>Model participant structure in the data</a:t>
            </a:r>
          </a:p>
          <a:p>
            <a:r>
              <a:rPr lang="en-GB" dirty="0"/>
              <a:t>Handle unbalanced observations within groups</a:t>
            </a:r>
          </a:p>
          <a:p>
            <a:r>
              <a:rPr lang="en-GB" dirty="0"/>
              <a:t>Propagate uncertainty correctly across hierarchies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778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4AF2-FE06-3256-4FE0-D883C74E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0B807-CCB7-45FB-7E9A-AE0A85A8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Lecture:</a:t>
            </a:r>
          </a:p>
          <a:p>
            <a:r>
              <a:rPr lang="en-GB" sz="2400"/>
              <a:t>Fitting an average participant</a:t>
            </a:r>
          </a:p>
          <a:p>
            <a:r>
              <a:rPr lang="en-GB" sz="2400"/>
              <a:t>Fitting single participants</a:t>
            </a:r>
          </a:p>
          <a:p>
            <a:r>
              <a:rPr lang="en-GB" sz="2400"/>
              <a:t>Bootstrap (hierarchical bootstrap)</a:t>
            </a:r>
          </a:p>
          <a:p>
            <a:r>
              <a:rPr lang="en-GB" sz="2400"/>
              <a:t>Hierarchical modelling (classic &amp; Bayes)</a:t>
            </a:r>
          </a:p>
          <a:p>
            <a:pPr marL="0" indent="0">
              <a:buNone/>
            </a:pPr>
            <a:r>
              <a:rPr lang="en-GB"/>
              <a:t>Seminar: </a:t>
            </a:r>
          </a:p>
          <a:p>
            <a:r>
              <a:rPr lang="en-GB" sz="2400"/>
              <a:t>Model presentation: Theory of Visual Attention (TVA)</a:t>
            </a:r>
          </a:p>
          <a:p>
            <a:r>
              <a:rPr lang="en-GB" sz="2400"/>
              <a:t>Setting up and using STAN for Bayesian Hierarchical TVA</a:t>
            </a:r>
          </a:p>
          <a:p>
            <a:r>
              <a:rPr lang="en-GB" sz="2400"/>
              <a:t>Implementing TVA as a simulation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43D5D33-24A3-65F8-86DD-299CE81AF90E}"/>
              </a:ext>
            </a:extLst>
          </p:cNvPr>
          <p:cNvSpPr txBox="1"/>
          <p:nvPr/>
        </p:nvSpPr>
        <p:spPr>
          <a:xfrm>
            <a:off x="3863545" y="6384324"/>
            <a:ext cx="3508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>
                <a:solidFill>
                  <a:schemeClr val="bg1">
                    <a:lumMod val="50000"/>
                  </a:schemeClr>
                </a:solidFill>
              </a:rPr>
              <a:t>Relevant reading: F&amp;L Ch. 5 and 9</a:t>
            </a:r>
          </a:p>
        </p:txBody>
      </p:sp>
    </p:spTree>
    <p:extLst>
      <p:ext uri="{BB962C8B-B14F-4D97-AF65-F5344CB8AC3E}">
        <p14:creationId xmlns:p14="http://schemas.microsoft.com/office/powerpoint/2010/main" val="369943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17640-3264-DBD3-D033-A79268E3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Motivation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97FFA4-691B-6377-AA7E-2CB0DB4F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Until now, we have considered fitting cognitive models to datasets  of single participants only</a:t>
            </a:r>
          </a:p>
          <a:p>
            <a:r>
              <a:rPr lang="en-GB" noProof="0" dirty="0"/>
              <a:t>Cognitive models are, in general, non-linear models, making aggregation of data from multiple participants difficult</a:t>
            </a:r>
          </a:p>
          <a:p>
            <a:r>
              <a:rPr lang="en-GB" noProof="0" dirty="0"/>
              <a:t>Today, we are treating different methods to aggregate data, model fits, or modelling an entire sample of data from multiple participants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2665639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B32C0C-3427-AA70-5EBF-FA47BE2A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Aggregation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5AA88-FD6B-F00D-5ACD-2D123C877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/>
              <a:t>Averaging and </a:t>
            </a:r>
            <a:r>
              <a:rPr lang="en-GB" noProof="0" err="1"/>
              <a:t>Vincentizing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9560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E41949F-CAB9-4613-9B03-C4BC613D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Principal approaches to aggregation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E94429-BE9F-0017-2436-5D6A1C130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/>
              <a:t>Fitting a model to averaged data (a)</a:t>
            </a:r>
          </a:p>
          <a:p>
            <a:r>
              <a:rPr lang="en-GB"/>
              <a:t>Fitting a model to individual datasets (b)</a:t>
            </a:r>
            <a:endParaRPr lang="en-GB" noProof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8B305E1E-083B-9CD1-7093-23757DDB35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59305"/>
            <a:ext cx="5181600" cy="3083978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8E21512-C8FC-69E1-4BDF-59149BDE36F5}"/>
              </a:ext>
            </a:extLst>
          </p:cNvPr>
          <p:cNvSpPr txBox="1"/>
          <p:nvPr/>
        </p:nvSpPr>
        <p:spPr>
          <a:xfrm>
            <a:off x="7760043" y="6311900"/>
            <a:ext cx="417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>
                    <a:lumMod val="50000"/>
                  </a:schemeClr>
                </a:solidFill>
              </a:rPr>
              <a:t>Navarro, Griffiths, </a:t>
            </a:r>
            <a:r>
              <a:rPr lang="de-DE" err="1">
                <a:solidFill>
                  <a:schemeClr val="bg1">
                    <a:lumMod val="50000"/>
                  </a:schemeClr>
                </a:solidFill>
              </a:rPr>
              <a:t>Steyvers</a:t>
            </a:r>
            <a:r>
              <a:rPr lang="de-DE">
                <a:solidFill>
                  <a:schemeClr val="bg1">
                    <a:lumMod val="50000"/>
                  </a:schemeClr>
                </a:solidFill>
              </a:rPr>
              <a:t>, &amp; Lee (2006)</a:t>
            </a:r>
          </a:p>
        </p:txBody>
      </p:sp>
    </p:spTree>
    <p:extLst>
      <p:ext uri="{BB962C8B-B14F-4D97-AF65-F5344CB8AC3E}">
        <p14:creationId xmlns:p14="http://schemas.microsoft.com/office/powerpoint/2010/main" val="340065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6E36044-D529-C687-10C2-537E9535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Fitting the model to averaged data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C04C176-E7EA-AB8C-D352-F4B59FA711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We can fit a single model to the averaged data (the “average participant”)</a:t>
            </a:r>
          </a:p>
          <a:p>
            <a:r>
              <a:rPr lang="en-GB" sz="2400"/>
              <a:t>Advantages:</a:t>
            </a:r>
          </a:p>
          <a:p>
            <a:pPr lvl="1"/>
            <a:r>
              <a:rPr lang="en-GB" sz="2000"/>
              <a:t>Fastest option</a:t>
            </a:r>
          </a:p>
          <a:p>
            <a:pPr lvl="1"/>
            <a:r>
              <a:rPr lang="en-GB" sz="2000"/>
              <a:t>The fitting to average data usually involves much less problems than fitting to individual data</a:t>
            </a:r>
          </a:p>
          <a:p>
            <a:pPr lvl="1"/>
            <a:r>
              <a:rPr lang="en-GB" sz="2000"/>
              <a:t>Depending on the model (e.g., DDM) the parameter estimates are approximately the same as those obtained from averaging individual fits</a:t>
            </a:r>
          </a:p>
        </p:txBody>
      </p:sp>
      <p:pic>
        <p:nvPicPr>
          <p:cNvPr id="11" name="Inhaltsplatzhalter 8">
            <a:extLst>
              <a:ext uri="{FF2B5EF4-FFF2-40B4-BE49-F238E27FC236}">
                <a16:creationId xmlns:a16="http://schemas.microsoft.com/office/drawing/2014/main" id="{2FE97210-6E0B-4835-63C7-A06F453C19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49406"/>
          <a:stretch/>
        </p:blipFill>
        <p:spPr>
          <a:xfrm>
            <a:off x="6913542" y="1825625"/>
            <a:ext cx="3698915" cy="4351338"/>
          </a:xfrm>
        </p:spPr>
      </p:pic>
    </p:spTree>
    <p:extLst>
      <p:ext uri="{BB962C8B-B14F-4D97-AF65-F5344CB8AC3E}">
        <p14:creationId xmlns:p14="http://schemas.microsoft.com/office/powerpoint/2010/main" val="324974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0218-7758-DE4A-81CD-208B7069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8AE738-ED5F-E95B-5DCD-D3040ED6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Fitting the model to averaged data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7BC1E27-816C-956A-8451-4F4B8F30B6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Alternatively, we can fit the model once to the averaged data (the “average participant”)</a:t>
            </a:r>
          </a:p>
          <a:p>
            <a:r>
              <a:rPr lang="en-GB" sz="2400"/>
              <a:t>Disadvantages: </a:t>
            </a:r>
          </a:p>
          <a:p>
            <a:pPr lvl="1"/>
            <a:r>
              <a:rPr lang="en-GB" sz="2000"/>
              <a:t>Absolutely no information about individual performance</a:t>
            </a:r>
          </a:p>
          <a:p>
            <a:pPr lvl="1"/>
            <a:r>
              <a:rPr lang="en-GB" sz="2000"/>
              <a:t>Approach makes little sense from a Bayesian perspective</a:t>
            </a:r>
          </a:p>
          <a:p>
            <a:pPr lvl="1"/>
            <a:r>
              <a:rPr lang="en-GB" sz="2000"/>
              <a:t>Averaging can lead to an artificial dataset that is not indicative of any individual performance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9A2514B-61CD-A58D-1C49-B6F684ADC8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65665"/>
            <a:ext cx="5181600" cy="4071257"/>
          </a:xfrm>
        </p:spPr>
      </p:pic>
    </p:spTree>
    <p:extLst>
      <p:ext uri="{BB962C8B-B14F-4D97-AF65-F5344CB8AC3E}">
        <p14:creationId xmlns:p14="http://schemas.microsoft.com/office/powerpoint/2010/main" val="255385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BFE6-57BA-13E5-167C-A3722ED2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Example: Data averaging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A70E9C-9718-B739-64E1-40F83B4727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„Ratcliff’s diffusion model (…) is designed to account for response time and accuracy in experimental paradigms in which participants are asked to make two-choice decisions. The model has been successful in dealing with both averaged group data and with data from individual subjects across a range of experimental paradigms (…).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B268A00D-A6D5-3887-DFBA-B67900DEDA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6251" y="1825625"/>
            <a:ext cx="5013498" cy="43513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BC67033-2850-711E-A339-7097FA167BFF}"/>
              </a:ext>
            </a:extLst>
          </p:cNvPr>
          <p:cNvSpPr txBox="1"/>
          <p:nvPr/>
        </p:nvSpPr>
        <p:spPr>
          <a:xfrm>
            <a:off x="7823859" y="6308209"/>
            <a:ext cx="352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>
                <a:solidFill>
                  <a:schemeClr val="bg1">
                    <a:lumMod val="50000"/>
                  </a:schemeClr>
                </a:solidFill>
              </a:rPr>
              <a:t>Ratcliff, Thapar, &amp; McKoon (2001).</a:t>
            </a:r>
          </a:p>
        </p:txBody>
      </p:sp>
    </p:spTree>
    <p:extLst>
      <p:ext uri="{BB962C8B-B14F-4D97-AF65-F5344CB8AC3E}">
        <p14:creationId xmlns:p14="http://schemas.microsoft.com/office/powerpoint/2010/main" val="4036207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677F-DC4A-259F-B3C9-1472F258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AC6E3D-BFA5-59D3-5B02-B6A31F50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Vincentizing</a:t>
            </a:r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B3805D-3B63-B366-1EAA-5ADEAC21637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/>
                  <a:t>Obtaining the average of a discrete distribution is unproblematic</a:t>
                </a:r>
              </a:p>
              <a:p>
                <a:r>
                  <a:rPr lang="en-GB" sz="2400"/>
                  <a:t>Obtaining the average of a continuous distribution requires </a:t>
                </a:r>
                <a:r>
                  <a:rPr lang="en-GB" sz="2400" err="1"/>
                  <a:t>Vincentizing</a:t>
                </a:r>
                <a:endParaRPr lang="en-GB" sz="2400"/>
              </a:p>
              <a:p>
                <a:r>
                  <a:rPr lang="en-GB" sz="2400" noProof="0"/>
                  <a:t>Instead of calculating the average </a:t>
                </a:r>
                <a14:m>
                  <m:oMath xmlns:m="http://schemas.openxmlformats.org/officeDocument/2006/math">
                    <m:r>
                      <a:rPr lang="de-DE" sz="2400" b="0" i="1" noProof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b="0" i="1" noProof="0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de-DE" sz="2400" b="0" i="1" noProof="0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supHide m:val="on"/>
                        <m:ctrlPr>
                          <a:rPr lang="de-DE" sz="2400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GB" sz="2400" noProof="0"/>
                  <a:t>, calculate the average quantiles of the single distribution</a:t>
                </a:r>
                <a:br>
                  <a:rPr lang="de-DE" sz="2400" b="0" i="1" noProof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de-DE" sz="24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de-DE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de-DE" sz="2400" b="0" i="1" noProof="0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de-DE" sz="2400" b="0" i="1" noProof="0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supHide m:val="on"/>
                        <m:ctrlPr>
                          <a:rPr lang="de-DE" sz="2400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sz="2400" b="0" i="1" noProof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de-DE" sz="24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GB" sz="2400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B3805D-3B63-B366-1EAA-5ADEAC216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D993483-4BBD-A35A-122A-3ED1121B4C0C}"/>
              </a:ext>
            </a:extLst>
          </p:cNvPr>
          <p:cNvSpPr txBox="1"/>
          <p:nvPr/>
        </p:nvSpPr>
        <p:spPr>
          <a:xfrm>
            <a:off x="7823859" y="6308209"/>
            <a:ext cx="3264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>
                <a:solidFill>
                  <a:schemeClr val="bg1">
                    <a:lumMod val="50000"/>
                  </a:schemeClr>
                </a:solidFill>
              </a:rPr>
              <a:t>Ratcliff (1979). </a:t>
            </a:r>
            <a:r>
              <a:rPr lang="en-GB" i="1" noProof="0" err="1">
                <a:solidFill>
                  <a:schemeClr val="bg1">
                    <a:lumMod val="50000"/>
                  </a:schemeClr>
                </a:solidFill>
              </a:rPr>
              <a:t>Psychol</a:t>
            </a:r>
            <a:r>
              <a:rPr lang="en-GB" i="1" noProof="0">
                <a:solidFill>
                  <a:schemeClr val="bg1">
                    <a:lumMod val="50000"/>
                  </a:schemeClr>
                </a:solidFill>
              </a:rPr>
              <a:t> Bulletin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8C55EFA-CC1E-5290-F136-932F3EF60A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81850" y="2339546"/>
            <a:ext cx="4183510" cy="2671398"/>
          </a:xfrm>
        </p:spPr>
      </p:pic>
    </p:spTree>
    <p:extLst>
      <p:ext uri="{BB962C8B-B14F-4D97-AF65-F5344CB8AC3E}">
        <p14:creationId xmlns:p14="http://schemas.microsoft.com/office/powerpoint/2010/main" val="3193354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5CF74-D2CE-94F5-5D37-0797A416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9D5E2C2-3D9C-897A-BC97-0AD3E99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Parameter averaging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395A82A-D758-DE5F-6194-51B0207281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An alternative approach is to fit the model to each individual dataset and perform statistical analyses on the obtained estimates</a:t>
            </a:r>
          </a:p>
          <a:p>
            <a:r>
              <a:rPr lang="en-GB" sz="2400"/>
              <a:t>Advantages:</a:t>
            </a:r>
          </a:p>
          <a:p>
            <a:pPr lvl="1"/>
            <a:r>
              <a:rPr lang="en-GB" sz="2000"/>
              <a:t>Easy screening of individual fits for problems and re-fitting, if necessary</a:t>
            </a:r>
          </a:p>
          <a:p>
            <a:pPr lvl="1"/>
            <a:r>
              <a:rPr lang="en-GB" sz="2000"/>
              <a:t>Sampling variability is accounted for</a:t>
            </a:r>
          </a:p>
          <a:p>
            <a:pPr lvl="1"/>
            <a:r>
              <a:rPr lang="en-GB" sz="2000"/>
              <a:t>Standard methods (w. random effects) for further analyses of parameters</a:t>
            </a:r>
          </a:p>
          <a:p>
            <a:pPr lvl="1"/>
            <a:r>
              <a:rPr lang="en-GB" sz="2000"/>
              <a:t>Individual parameters can be used for participant-specific analyses (e.g., diagnostic tool in clinical applications)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A2DE6753-8F90-6FB9-300C-36A1363C61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50029" r="-623"/>
          <a:stretch/>
        </p:blipFill>
        <p:spPr>
          <a:xfrm>
            <a:off x="6913542" y="1825625"/>
            <a:ext cx="3698915" cy="4351338"/>
          </a:xfrm>
        </p:spPr>
      </p:pic>
    </p:spTree>
    <p:extLst>
      <p:ext uri="{BB962C8B-B14F-4D97-AF65-F5344CB8AC3E}">
        <p14:creationId xmlns:p14="http://schemas.microsoft.com/office/powerpoint/2010/main" val="2726612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9D76-0481-5E70-F567-2B11F777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86E587E-C718-14E4-DA63-D4CFDC73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Parameter averaging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288C410-06AC-2B2A-FFD6-56F52B48D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An alternative approach is to fit the model to each individual dataset and perform statistical analyses on the obtained estimates</a:t>
            </a:r>
          </a:p>
          <a:p>
            <a:r>
              <a:rPr lang="en-GB" sz="2400"/>
              <a:t>Disadvantages:</a:t>
            </a:r>
          </a:p>
          <a:p>
            <a:pPr lvl="1"/>
            <a:r>
              <a:rPr lang="en-GB" sz="2000"/>
              <a:t>Depending on the model, this can be time-consuming or no option at all</a:t>
            </a:r>
          </a:p>
          <a:p>
            <a:pPr lvl="1"/>
            <a:r>
              <a:rPr lang="en-GB" sz="2000" noProof="0"/>
              <a:t>Hypothesis testing on the estimates not the most powerful test option</a:t>
            </a:r>
          </a:p>
        </p:txBody>
      </p:sp>
      <p:pic>
        <p:nvPicPr>
          <p:cNvPr id="2" name="Inhaltsplatzhalter 8">
            <a:extLst>
              <a:ext uri="{FF2B5EF4-FFF2-40B4-BE49-F238E27FC236}">
                <a16:creationId xmlns:a16="http://schemas.microsoft.com/office/drawing/2014/main" id="{3774CEA6-53DB-1B4A-8A7B-5ABBD5D20B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50029" r="-623"/>
          <a:stretch/>
        </p:blipFill>
        <p:spPr>
          <a:xfrm>
            <a:off x="6913542" y="1825625"/>
            <a:ext cx="3698915" cy="4351338"/>
          </a:xfrm>
        </p:spPr>
      </p:pic>
    </p:spTree>
    <p:extLst>
      <p:ext uri="{BB962C8B-B14F-4D97-AF65-F5344CB8AC3E}">
        <p14:creationId xmlns:p14="http://schemas.microsoft.com/office/powerpoint/2010/main" val="405295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8CBC-6E91-EE1D-ABF6-3F08B241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47A455-DDCA-2744-9E7D-68B8735C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Interval estimates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D7917-C97D-A388-7463-6A5BFC765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Bootstrap, hierarchical bootstrap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4755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242139-1C55-5680-8CD7-A3BAC7EE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Interval estimates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B6CD002-8E42-013B-7CBF-ED93B5C65D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The procedures discussed so far only provide point estimates (e.g., the estimate that maximises the likelihood)</a:t>
            </a:r>
          </a:p>
          <a:p>
            <a:r>
              <a:rPr lang="en-GB" sz="2400"/>
              <a:t>Often, we are interested in other properties of the estimator, such as its variation</a:t>
            </a:r>
          </a:p>
          <a:p>
            <a:r>
              <a:rPr lang="en-GB" sz="2400" noProof="0"/>
              <a:t>In the classic frequentist view, variation is due to sampling</a:t>
            </a:r>
          </a:p>
          <a:p>
            <a:r>
              <a:rPr lang="en-GB" sz="2400"/>
              <a:t>Solution: </a:t>
            </a:r>
            <a:r>
              <a:rPr lang="en-GB" sz="2400" b="1"/>
              <a:t>resampling</a:t>
            </a:r>
            <a:r>
              <a:rPr lang="en-GB" sz="2400"/>
              <a:t> of the obtained data</a:t>
            </a:r>
            <a:endParaRPr lang="en-GB" sz="2400" noProof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5C46DCE-9BBE-78E0-E212-DD9443CDFD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10500" y="2572544"/>
            <a:ext cx="1905000" cy="2857500"/>
          </a:xfrm>
        </p:spPr>
      </p:pic>
      <p:sp>
        <p:nvSpPr>
          <p:cNvPr id="9" name="Sprechblase: rechteckig mit abgerundeten Ecken 8">
            <a:extLst>
              <a:ext uri="{FF2B5EF4-FFF2-40B4-BE49-F238E27FC236}">
                <a16:creationId xmlns:a16="http://schemas.microsoft.com/office/drawing/2014/main" id="{9A6E7724-1143-5F93-FADF-D4B19B50B9AF}"/>
              </a:ext>
            </a:extLst>
          </p:cNvPr>
          <p:cNvSpPr/>
          <p:nvPr/>
        </p:nvSpPr>
        <p:spPr>
          <a:xfrm>
            <a:off x="7916693" y="1358017"/>
            <a:ext cx="1692613" cy="107448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/>
              <a:t>Yarr! </a:t>
            </a:r>
            <a:br>
              <a:rPr lang="en-GB" noProof="0"/>
            </a:br>
            <a:r>
              <a:rPr lang="en-GB" noProof="0"/>
              <a:t>Re-sample your data!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9E1D25D-6552-485C-6C72-8FC1397F9FD2}"/>
              </a:ext>
            </a:extLst>
          </p:cNvPr>
          <p:cNvSpPr txBox="1"/>
          <p:nvPr/>
        </p:nvSpPr>
        <p:spPr>
          <a:xfrm>
            <a:off x="6981568" y="5681047"/>
            <a:ext cx="4469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Bootstrap Bill </a:t>
            </a:r>
            <a:br>
              <a:rPr lang="en-GB" sz="1200" noProof="0"/>
            </a:br>
            <a:r>
              <a:rPr lang="en-GB" sz="1200" noProof="0"/>
              <a:t>(from: www.brickeconomy.com/minifig/poc033/bootstrap-bill)</a:t>
            </a:r>
          </a:p>
        </p:txBody>
      </p:sp>
      <p:sp>
        <p:nvSpPr>
          <p:cNvPr id="2" name="Textfeld 6">
            <a:extLst>
              <a:ext uri="{FF2B5EF4-FFF2-40B4-BE49-F238E27FC236}">
                <a16:creationId xmlns:a16="http://schemas.microsoft.com/office/drawing/2014/main" id="{9031CAEC-2B67-FC13-4A68-83DC2E779397}"/>
              </a:ext>
            </a:extLst>
          </p:cNvPr>
          <p:cNvSpPr txBox="1"/>
          <p:nvPr/>
        </p:nvSpPr>
        <p:spPr>
          <a:xfrm>
            <a:off x="8465304" y="6271815"/>
            <a:ext cx="200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>
                <a:solidFill>
                  <a:schemeClr val="bg1">
                    <a:lumMod val="50000"/>
                  </a:schemeClr>
                </a:solidFill>
              </a:rPr>
              <a:t>Efron (1979). </a:t>
            </a:r>
            <a:r>
              <a:rPr lang="en-GB" i="1" noProof="0">
                <a:solidFill>
                  <a:schemeClr val="bg1">
                    <a:lumMod val="50000"/>
                  </a:schemeClr>
                </a:solidFill>
              </a:rPr>
              <a:t>SIAM</a:t>
            </a:r>
          </a:p>
        </p:txBody>
      </p:sp>
    </p:spTree>
    <p:extLst>
      <p:ext uri="{BB962C8B-B14F-4D97-AF65-F5344CB8AC3E}">
        <p14:creationId xmlns:p14="http://schemas.microsoft.com/office/powerpoint/2010/main" val="1063677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2948A7B-AB1A-9CC0-2691-76F6A80A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Outline of the bootstrap procedure</a:t>
            </a:r>
          </a:p>
        </p:txBody>
      </p:sp>
      <p:pic>
        <p:nvPicPr>
          <p:cNvPr id="9" name="Grafik 8" descr="Ein Bild, das Screensho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6D01ECAF-A3C5-59C8-4431-61778E670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4520"/>
            <a:ext cx="12192000" cy="371263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12FD41C-7C68-B2DD-FB52-1703A688D0F3}"/>
              </a:ext>
            </a:extLst>
          </p:cNvPr>
          <p:cNvSpPr txBox="1"/>
          <p:nvPr/>
        </p:nvSpPr>
        <p:spPr>
          <a:xfrm>
            <a:off x="4476074" y="5623208"/>
            <a:ext cx="7415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>
                    <a:lumMod val="50000"/>
                  </a:schemeClr>
                </a:solidFill>
              </a:rPr>
              <a:t>https://en.wikipedia.org/wiki/Bootstrapping_(statistics)#/media/File:Illustration_bootstrap.svg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3F2723D-1387-82FD-1452-1431261F8C90}"/>
              </a:ext>
            </a:extLst>
          </p:cNvPr>
          <p:cNvSpPr/>
          <p:nvPr/>
        </p:nvSpPr>
        <p:spPr>
          <a:xfrm>
            <a:off x="4476074" y="2121031"/>
            <a:ext cx="1236569" cy="61274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8964616-CA99-EAF3-784A-1E7D192336CF}"/>
              </a:ext>
            </a:extLst>
          </p:cNvPr>
          <p:cNvSpPr txBox="1"/>
          <p:nvPr/>
        </p:nvSpPr>
        <p:spPr>
          <a:xfrm>
            <a:off x="5344998" y="212103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29380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2FFE84-3526-6B8A-E87A-35A8B724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Bootstrap procedure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B3D328-011B-A39A-6C81-909BE9967A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The frequentist account includes sampling variation</a:t>
            </a:r>
          </a:p>
          <a:p>
            <a:r>
              <a:rPr lang="en-GB" sz="2400"/>
              <a:t>This variation can be taken into account with analytic solutions</a:t>
            </a:r>
          </a:p>
          <a:p>
            <a:r>
              <a:rPr lang="en-GB" sz="2400"/>
              <a:t>If an analytic solution is not available, this variation can be simulated by re-sampling from the observed data</a:t>
            </a:r>
          </a:p>
          <a:p>
            <a:r>
              <a:rPr lang="en-GB" sz="2400"/>
              <a:t>In the bootstrap procedure, we sample </a:t>
            </a:r>
            <a:r>
              <a:rPr lang="en-GB" sz="2400" u="sng"/>
              <a:t>with</a:t>
            </a:r>
            <a:r>
              <a:rPr lang="en-GB" sz="2400"/>
              <a:t> replacement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CB1934-6DEF-0B00-3C6D-62B3DBB1F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200" err="1">
                <a:latin typeface="Consolas" panose="020B0609020204030204" pitchFamily="49" charset="0"/>
              </a:rPr>
              <a:t>nDataPts</a:t>
            </a:r>
            <a:r>
              <a:rPr lang="en-GB" sz="1200">
                <a:latin typeface="Consolas" panose="020B0609020204030204" pitchFamily="49" charset="0"/>
              </a:rPr>
              <a:t>  &lt;- 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 err="1">
                <a:latin typeface="Consolas" panose="020B0609020204030204" pitchFamily="49" charset="0"/>
              </a:rPr>
              <a:t>nboot</a:t>
            </a:r>
            <a:r>
              <a:rPr lang="en-GB" sz="1200">
                <a:latin typeface="Consolas" panose="020B0609020204030204" pitchFamily="49" charset="0"/>
              </a:rPr>
              <a:t>&lt;-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10000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 err="1">
                <a:latin typeface="Consolas" panose="020B0609020204030204" pitchFamily="49" charset="0"/>
              </a:rPr>
              <a:t>bootpar</a:t>
            </a:r>
            <a:r>
              <a:rPr lang="en-GB" sz="1200">
                <a:latin typeface="Consolas" panose="020B0609020204030204" pitchFamily="49" charset="0"/>
              </a:rPr>
              <a:t> &lt;- matrix(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latin typeface="Consolas" panose="020B0609020204030204" pitchFamily="49" charset="0"/>
              </a:rPr>
              <a:t>, </a:t>
            </a:r>
            <a:r>
              <a:rPr lang="en-GB" sz="1200" err="1">
                <a:latin typeface="Consolas" panose="020B0609020204030204" pitchFamily="49" charset="0"/>
              </a:rPr>
              <a:t>nboot</a:t>
            </a:r>
            <a:r>
              <a:rPr lang="en-GB" sz="1200">
                <a:latin typeface="Consolas" panose="020B0609020204030204" pitchFamily="49" charset="0"/>
              </a:rPr>
              <a:t>, </a:t>
            </a:r>
            <a:r>
              <a:rPr lang="en-GB" sz="1200" err="1">
                <a:latin typeface="Consolas" panose="020B0609020204030204" pitchFamily="49" charset="0"/>
              </a:rPr>
              <a:t>ncol</a:t>
            </a:r>
            <a:r>
              <a:rPr lang="en-GB" sz="1200"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GB" sz="120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GB" sz="1200">
                <a:latin typeface="Consolas" panose="020B0609020204030204" pitchFamily="49" charset="0"/>
              </a:rPr>
              <a:t> (</a:t>
            </a:r>
            <a:r>
              <a:rPr lang="en-GB" sz="1200" err="1">
                <a:latin typeface="Consolas" panose="020B0609020204030204" pitchFamily="49" charset="0"/>
              </a:rPr>
              <a:t>i</a:t>
            </a:r>
            <a:r>
              <a:rPr lang="en-GB" sz="1200"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GB" sz="1200"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GB" sz="1200">
                <a:latin typeface="Consolas" panose="020B0609020204030204" pitchFamily="49" charset="0"/>
              </a:rPr>
              <a:t>:nboot)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 err="1">
                <a:latin typeface="Consolas" panose="020B0609020204030204" pitchFamily="49" charset="0"/>
              </a:rPr>
              <a:t>bootdata</a:t>
            </a:r>
            <a:r>
              <a:rPr lang="en-GB" sz="1200">
                <a:latin typeface="Consolas" panose="020B0609020204030204" pitchFamily="49" charset="0"/>
              </a:rPr>
              <a:t>&lt;-</a:t>
            </a:r>
            <a:br>
              <a:rPr lang="en-GB" sz="1200">
                <a:latin typeface="Consolas" panose="020B0609020204030204" pitchFamily="49" charset="0"/>
              </a:rPr>
            </a:br>
            <a:r>
              <a:rPr lang="en-GB" sz="1200">
                <a:latin typeface="Consolas" panose="020B0609020204030204" pitchFamily="49" charset="0"/>
              </a:rPr>
              <a:t>    data[ceiling(</a:t>
            </a:r>
            <a:r>
              <a:rPr lang="en-GB" sz="1200" err="1">
                <a:latin typeface="Consolas" panose="020B0609020204030204" pitchFamily="49" charset="0"/>
              </a:rPr>
              <a:t>runif</a:t>
            </a:r>
            <a:r>
              <a:rPr lang="en-GB" sz="1200">
                <a:latin typeface="Consolas" panose="020B0609020204030204" pitchFamily="49" charset="0"/>
              </a:rPr>
              <a:t>(</a:t>
            </a:r>
            <a:r>
              <a:rPr lang="en-GB" sz="1200" err="1">
                <a:latin typeface="Consolas" panose="020B0609020204030204" pitchFamily="49" charset="0"/>
              </a:rPr>
              <a:t>nDataPts,min</a:t>
            </a:r>
            <a:r>
              <a:rPr lang="en-GB" sz="1200"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latin typeface="Consolas" panose="020B0609020204030204" pitchFamily="49" charset="0"/>
              </a:rPr>
              <a:t>,max=</a:t>
            </a:r>
            <a:r>
              <a:rPr lang="en-GB" sz="1200" err="1">
                <a:latin typeface="Consolas" panose="020B0609020204030204" pitchFamily="49" charset="0"/>
              </a:rPr>
              <a:t>nDataPts</a:t>
            </a:r>
            <a:r>
              <a:rPr lang="en-GB" sz="1200">
                <a:latin typeface="Consolas" panose="020B0609020204030204" pitchFamily="49" charset="0"/>
              </a:rPr>
              <a:t>)),]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 err="1">
                <a:latin typeface="Consolas" panose="020B0609020204030204" pitchFamily="49" charset="0"/>
              </a:rPr>
              <a:t>simplexboot</a:t>
            </a:r>
            <a:r>
              <a:rPr lang="en-GB" sz="1200">
                <a:latin typeface="Consolas" panose="020B0609020204030204" pitchFamily="49" charset="0"/>
              </a:rPr>
              <a:t>&lt;-</a:t>
            </a:r>
            <a:r>
              <a:rPr lang="en-GB" sz="1200" err="1">
                <a:latin typeface="Consolas" panose="020B0609020204030204" pitchFamily="49" charset="0"/>
              </a:rPr>
              <a:t>optim</a:t>
            </a:r>
            <a:r>
              <a:rPr lang="en-GB" sz="1200">
                <a:latin typeface="Consolas" panose="020B0609020204030204" pitchFamily="49" charset="0"/>
              </a:rPr>
              <a:t>(</a:t>
            </a:r>
            <a:r>
              <a:rPr lang="en-GB" sz="1200" err="1">
                <a:latin typeface="Consolas" panose="020B0609020204030204" pitchFamily="49" charset="0"/>
              </a:rPr>
              <a:t>startParms</a:t>
            </a:r>
            <a:r>
              <a:rPr lang="en-GB" sz="1200">
                <a:latin typeface="Consolas" panose="020B0609020204030204" pitchFamily="49" charset="0"/>
              </a:rPr>
              <a:t>, </a:t>
            </a:r>
            <a:r>
              <a:rPr lang="en-GB" sz="1200" err="1">
                <a:latin typeface="Consolas" panose="020B0609020204030204" pitchFamily="49" charset="0"/>
              </a:rPr>
              <a:t>rmsd</a:t>
            </a:r>
            <a:r>
              <a:rPr lang="en-GB" sz="1200">
                <a:latin typeface="Consolas" panose="020B0609020204030204" pitchFamily="49" charset="0"/>
              </a:rPr>
              <a:t>, data1=</a:t>
            </a:r>
            <a:r>
              <a:rPr lang="en-GB" sz="1200" err="1">
                <a:latin typeface="Consolas" panose="020B0609020204030204" pitchFamily="49" charset="0"/>
              </a:rPr>
              <a:t>bootdata</a:t>
            </a:r>
            <a:r>
              <a:rPr lang="en-GB" sz="120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 err="1">
                <a:latin typeface="Consolas" panose="020B0609020204030204" pitchFamily="49" charset="0"/>
              </a:rPr>
              <a:t>bootpar</a:t>
            </a:r>
            <a:r>
              <a:rPr lang="en-GB" sz="1200">
                <a:latin typeface="Consolas" panose="020B0609020204030204" pitchFamily="49" charset="0"/>
              </a:rPr>
              <a:t>[</a:t>
            </a:r>
            <a:r>
              <a:rPr lang="en-GB" sz="1200" err="1">
                <a:latin typeface="Consolas" panose="020B0609020204030204" pitchFamily="49" charset="0"/>
              </a:rPr>
              <a:t>i</a:t>
            </a:r>
            <a:r>
              <a:rPr lang="en-GB" sz="1200">
                <a:latin typeface="Consolas" panose="020B0609020204030204" pitchFamily="49" charset="0"/>
              </a:rPr>
              <a:t>,]&lt;-</a:t>
            </a:r>
            <a:r>
              <a:rPr lang="en-GB" sz="1200" err="1">
                <a:latin typeface="Consolas" panose="020B0609020204030204" pitchFamily="49" charset="0"/>
              </a:rPr>
              <a:t>simplexboot$par</a:t>
            </a:r>
            <a:endParaRPr lang="en-GB" sz="120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GB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err="1">
                <a:latin typeface="Consolas" panose="020B0609020204030204" pitchFamily="49" charset="0"/>
              </a:rPr>
              <a:t>confint</a:t>
            </a:r>
            <a:r>
              <a:rPr lang="it-IT" sz="1200">
                <a:latin typeface="Consolas" panose="020B0609020204030204" pitchFamily="49" charset="0"/>
              </a:rPr>
              <a:t>(lm(data[,1] ~ data[,2]))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 2.5 %    97.5 %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(</a:t>
            </a:r>
            <a:r>
              <a:rPr lang="it-IT" sz="1200" i="1" err="1">
                <a:solidFill>
                  <a:srgbClr val="002060"/>
                </a:solidFill>
                <a:latin typeface="Consolas" panose="020B0609020204030204" pitchFamily="49" charset="0"/>
              </a:rPr>
              <a:t>Intercept</a:t>
            </a: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) -0.1489338 0.3535273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data[, 2]    0.4061242 0.9398372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>
                <a:latin typeface="Consolas" panose="020B0609020204030204" pitchFamily="49" charset="0"/>
              </a:rPr>
              <a:t>quantile(</a:t>
            </a:r>
            <a:r>
              <a:rPr lang="it-IT" sz="1200" err="1">
                <a:latin typeface="Consolas" panose="020B0609020204030204" pitchFamily="49" charset="0"/>
              </a:rPr>
              <a:t>bootpar</a:t>
            </a:r>
            <a:r>
              <a:rPr lang="it-IT" sz="1200">
                <a:latin typeface="Consolas" panose="020B0609020204030204" pitchFamily="49" charset="0"/>
              </a:rPr>
              <a:t>[,1],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 2.5%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 i="1">
                <a:solidFill>
                  <a:srgbClr val="002060"/>
                </a:solidFill>
                <a:latin typeface="Consolas" panose="020B0609020204030204" pitchFamily="49" charset="0"/>
              </a:rPr>
              <a:t>0.4608943 0.8805472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200">
                <a:latin typeface="Consolas" panose="020B0609020204030204" pitchFamily="49" charset="0"/>
              </a:rPr>
              <a:t>quantile(</a:t>
            </a:r>
            <a:r>
              <a:rPr lang="it-IT" sz="1200" err="1">
                <a:latin typeface="Consolas" panose="020B0609020204030204" pitchFamily="49" charset="0"/>
              </a:rPr>
              <a:t>bootpar</a:t>
            </a:r>
            <a:r>
              <a:rPr lang="it-IT" sz="1200">
                <a:latin typeface="Consolas" panose="020B0609020204030204" pitchFamily="49" charset="0"/>
              </a:rPr>
              <a:t>[,2],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 i="1">
                <a:solidFill>
                  <a:srgbClr val="002060"/>
                </a:solidFill>
                <a:latin typeface="Consolas" panose="020B0609020204030204" pitchFamily="49" charset="0"/>
              </a:rPr>
              <a:t> 2.5% 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200" i="1">
                <a:solidFill>
                  <a:srgbClr val="002060"/>
                </a:solidFill>
                <a:latin typeface="Consolas" panose="020B0609020204030204" pitchFamily="49" charset="0"/>
              </a:rPr>
              <a:t>-0.1188268  0.3230926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C0684B-39D3-DB6B-4658-3A970E943B38}"/>
              </a:ext>
            </a:extLst>
          </p:cNvPr>
          <p:cNvSpPr txBox="1"/>
          <p:nvPr/>
        </p:nvSpPr>
        <p:spPr>
          <a:xfrm>
            <a:off x="6172200" y="6323598"/>
            <a:ext cx="5467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/>
              <a:t>Empirical bootstrap procedure based on Listing 3-1 (F&amp;L)</a:t>
            </a:r>
          </a:p>
        </p:txBody>
      </p:sp>
    </p:spTree>
    <p:extLst>
      <p:ext uri="{BB962C8B-B14F-4D97-AF65-F5344CB8AC3E}">
        <p14:creationId xmlns:p14="http://schemas.microsoft.com/office/powerpoint/2010/main" val="3943058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36354-DF9E-4F5A-BB9B-3136F9A2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Model-based bootstrap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BD512-8E96-CAD2-11B6-6FC8E488A3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In a model-based approach, it can be advantageous to use the model and its estimated parameters to create bootstrap samples (“</a:t>
            </a:r>
            <a:r>
              <a:rPr lang="en-GB" sz="2400" i="1" noProof="0"/>
              <a:t>parametric bootstrap</a:t>
            </a:r>
            <a:r>
              <a:rPr lang="en-GB" sz="2400" noProof="0"/>
              <a:t>”)</a:t>
            </a:r>
          </a:p>
          <a:p>
            <a:r>
              <a:rPr lang="en-GB" sz="2400"/>
              <a:t>Smaller samples can include “leverage points” that greatly influence single bootstrap samples</a:t>
            </a:r>
          </a:p>
          <a:p>
            <a:r>
              <a:rPr lang="en-GB" sz="2400" noProof="0"/>
              <a:t>With increasing sample</a:t>
            </a:r>
            <a:r>
              <a:rPr lang="en-GB" sz="2400"/>
              <a:t> size and number of bootstrap samples, the two approaches should converge</a:t>
            </a:r>
            <a:endParaRPr lang="en-GB" sz="2400" noProof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70E985C-0B66-AA42-E5F8-6ABE215E5C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05599" y="1825625"/>
            <a:ext cx="2514802" cy="4351338"/>
          </a:xfrm>
        </p:spPr>
      </p:pic>
    </p:spTree>
    <p:extLst>
      <p:ext uri="{BB962C8B-B14F-4D97-AF65-F5344CB8AC3E}">
        <p14:creationId xmlns:p14="http://schemas.microsoft.com/office/powerpoint/2010/main" val="282316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83B3-1FAE-6AE8-3F81-6751A64F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EFD1B-ADBD-9028-054A-C3567FF6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Model-based bootstrap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D9B00B-3A7D-CC06-46E9-B2EC30D391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In a model-based approach, it can be advantageous to use the model and its estimated parameters to create bootstrap samples (“</a:t>
            </a:r>
            <a:r>
              <a:rPr lang="en-GB" sz="2400" i="1" noProof="0"/>
              <a:t>parametric bootstrap</a:t>
            </a:r>
            <a:r>
              <a:rPr lang="en-GB" sz="2400" noProof="0"/>
              <a:t>”)</a:t>
            </a:r>
          </a:p>
          <a:p>
            <a:r>
              <a:rPr lang="en-GB" sz="2400"/>
              <a:t>Smaller samples can include “leverage points” that greatly influence single bootstrap samples</a:t>
            </a:r>
          </a:p>
          <a:p>
            <a:r>
              <a:rPr lang="en-GB" sz="2400" noProof="0"/>
              <a:t>With increasing sample</a:t>
            </a:r>
            <a:r>
              <a:rPr lang="en-GB" sz="2400"/>
              <a:t> size and number of bootstrap samples, the two approaches should converge</a:t>
            </a:r>
            <a:endParaRPr lang="en-GB" sz="2400" noProof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04E70F2-867F-478B-AF8F-F68DDB849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492798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100" err="1">
                <a:latin typeface="Consolas" panose="020B0609020204030204" pitchFamily="49" charset="0"/>
              </a:rPr>
              <a:t>nDataPts</a:t>
            </a:r>
            <a:r>
              <a:rPr lang="en-GB" sz="1100">
                <a:latin typeface="Consolas" panose="020B0609020204030204" pitchFamily="49" charset="0"/>
              </a:rPr>
              <a:t>  &lt;- </a:t>
            </a: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>
                <a:latin typeface="Consolas" panose="020B0609020204030204" pitchFamily="49" charset="0"/>
              </a:rPr>
              <a:t>lm0&lt;-</a:t>
            </a:r>
            <a:r>
              <a:rPr lang="en-US" sz="1100" err="1">
                <a:latin typeface="Consolas" panose="020B0609020204030204" pitchFamily="49" charset="0"/>
              </a:rPr>
              <a:t>lm</a:t>
            </a:r>
            <a:r>
              <a:rPr lang="en-US" sz="1100">
                <a:latin typeface="Consolas" panose="020B0609020204030204" pitchFamily="49" charset="0"/>
              </a:rPr>
              <a:t>(data[,1] ~ data[,2])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err="1">
                <a:latin typeface="Consolas" panose="020B0609020204030204" pitchFamily="49" charset="0"/>
              </a:rPr>
              <a:t>estSigma</a:t>
            </a:r>
            <a:r>
              <a:rPr lang="en-US" sz="1100">
                <a:latin typeface="Consolas" panose="020B0609020204030204" pitchFamily="49" charset="0"/>
              </a:rPr>
              <a:t>&lt;-sum(</a:t>
            </a:r>
            <a:r>
              <a:rPr lang="en-US" sz="1100" err="1">
                <a:latin typeface="Consolas" panose="020B0609020204030204" pitchFamily="49" charset="0"/>
              </a:rPr>
              <a:t>residuals.lm</a:t>
            </a:r>
            <a:r>
              <a:rPr lang="en-US" sz="1100">
                <a:latin typeface="Consolas" panose="020B0609020204030204" pitchFamily="49" charset="0"/>
              </a:rPr>
              <a:t>(lm0)^2)/(nDataPts-2)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>
                <a:latin typeface="Consolas" panose="020B0609020204030204" pitchFamily="49" charset="0"/>
              </a:rPr>
              <a:t>simplex0 &lt;- </a:t>
            </a:r>
            <a:r>
              <a:rPr lang="en-US" sz="1100" err="1">
                <a:latin typeface="Consolas" panose="020B0609020204030204" pitchFamily="49" charset="0"/>
              </a:rPr>
              <a:t>optim</a:t>
            </a:r>
            <a:r>
              <a:rPr lang="en-US" sz="1100">
                <a:latin typeface="Consolas" panose="020B0609020204030204" pitchFamily="49" charset="0"/>
              </a:rPr>
              <a:t>(</a:t>
            </a:r>
            <a:r>
              <a:rPr lang="en-US" sz="1100" err="1">
                <a:latin typeface="Consolas" panose="020B0609020204030204" pitchFamily="49" charset="0"/>
              </a:rPr>
              <a:t>startParms</a:t>
            </a:r>
            <a:r>
              <a:rPr lang="en-US" sz="1100">
                <a:latin typeface="Consolas" panose="020B0609020204030204" pitchFamily="49" charset="0"/>
              </a:rPr>
              <a:t>, </a:t>
            </a:r>
            <a:r>
              <a:rPr lang="en-US" sz="1100" err="1">
                <a:latin typeface="Consolas" panose="020B0609020204030204" pitchFamily="49" charset="0"/>
              </a:rPr>
              <a:t>rmsd</a:t>
            </a:r>
            <a:r>
              <a:rPr lang="en-US" sz="1100">
                <a:latin typeface="Consolas" panose="020B0609020204030204" pitchFamily="49" charset="0"/>
              </a:rPr>
              <a:t>, data1=data)</a:t>
            </a:r>
            <a:endParaRPr lang="en-GB" sz="110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err="1">
                <a:latin typeface="Consolas" panose="020B0609020204030204" pitchFamily="49" charset="0"/>
              </a:rPr>
              <a:t>nboot</a:t>
            </a:r>
            <a:r>
              <a:rPr lang="en-GB" sz="1100">
                <a:latin typeface="Consolas" panose="020B0609020204030204" pitchFamily="49" charset="0"/>
              </a:rPr>
              <a:t>&lt;-</a:t>
            </a: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10000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bootpar2 &lt;- matrix(</a:t>
            </a: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GB" sz="1100">
                <a:latin typeface="Consolas" panose="020B0609020204030204" pitchFamily="49" charset="0"/>
              </a:rPr>
              <a:t>, </a:t>
            </a:r>
            <a:r>
              <a:rPr lang="en-GB" sz="1100" err="1">
                <a:latin typeface="Consolas" panose="020B0609020204030204" pitchFamily="49" charset="0"/>
              </a:rPr>
              <a:t>nboot</a:t>
            </a:r>
            <a:r>
              <a:rPr lang="en-GB" sz="1100">
                <a:latin typeface="Consolas" panose="020B0609020204030204" pitchFamily="49" charset="0"/>
              </a:rPr>
              <a:t>, </a:t>
            </a:r>
            <a:r>
              <a:rPr lang="en-GB" sz="1100" err="1">
                <a:latin typeface="Consolas" panose="020B0609020204030204" pitchFamily="49" charset="0"/>
              </a:rPr>
              <a:t>ncol</a:t>
            </a:r>
            <a:r>
              <a:rPr lang="en-GB" sz="1100">
                <a:latin typeface="Consolas" panose="020B0609020204030204" pitchFamily="49" charset="0"/>
              </a:rPr>
              <a:t>=</a:t>
            </a: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GB" sz="110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for (</a:t>
            </a:r>
            <a:r>
              <a:rPr lang="en-GB" sz="1100" err="1">
                <a:latin typeface="Consolas" panose="020B0609020204030204" pitchFamily="49" charset="0"/>
              </a:rPr>
              <a:t>i</a:t>
            </a:r>
            <a:r>
              <a:rPr lang="en-GB" sz="1100">
                <a:latin typeface="Consolas" panose="020B0609020204030204" pitchFamily="49" charset="0"/>
              </a:rPr>
              <a:t> in 1:nboot)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 err="1">
                <a:latin typeface="Consolas" panose="020B0609020204030204" pitchFamily="49" charset="0"/>
              </a:rPr>
              <a:t>bootdata</a:t>
            </a:r>
            <a:r>
              <a:rPr lang="en-GB" sz="1100">
                <a:latin typeface="Consolas" panose="020B0609020204030204" pitchFamily="49" charset="0"/>
              </a:rPr>
              <a:t>&lt;-</a:t>
            </a:r>
            <a:r>
              <a:rPr lang="en-GB" sz="1100" err="1">
                <a:latin typeface="Consolas" panose="020B0609020204030204" pitchFamily="49" charset="0"/>
              </a:rPr>
              <a:t>cbind</a:t>
            </a:r>
            <a:r>
              <a:rPr lang="en-GB" sz="1100">
                <a:latin typeface="Consolas" panose="020B0609020204030204" pitchFamily="49" charset="0"/>
              </a:rPr>
              <a:t>(</a:t>
            </a:r>
            <a:r>
              <a:rPr lang="en-GB" sz="1100" err="1">
                <a:latin typeface="Consolas" panose="020B0609020204030204" pitchFamily="49" charset="0"/>
              </a:rPr>
              <a:t>rnorm</a:t>
            </a:r>
            <a:r>
              <a:rPr lang="en-GB" sz="1100">
                <a:latin typeface="Consolas" panose="020B0609020204030204" pitchFamily="49" charset="0"/>
              </a:rPr>
              <a:t>(</a:t>
            </a:r>
            <a:r>
              <a:rPr lang="en-GB" sz="1100" err="1">
                <a:latin typeface="Consolas" panose="020B0609020204030204" pitchFamily="49" charset="0"/>
              </a:rPr>
              <a:t>nDataPts</a:t>
            </a:r>
            <a:r>
              <a:rPr lang="en-GB" sz="1100">
                <a:latin typeface="Consolas" panose="020B0609020204030204" pitchFamily="49" charset="0"/>
              </a:rPr>
              <a:t>)*sqrt(</a:t>
            </a:r>
            <a:r>
              <a:rPr lang="en-GB" sz="1100" err="1">
                <a:latin typeface="Consolas" panose="020B0609020204030204" pitchFamily="49" charset="0"/>
              </a:rPr>
              <a:t>estSigma</a:t>
            </a:r>
            <a:r>
              <a:rPr lang="en-GB" sz="1100">
                <a:latin typeface="Consolas" panose="020B0609020204030204" pitchFamily="49" charset="0"/>
              </a:rPr>
              <a:t>) + data[ ,2]*simplex0$par[1] + simplex0$par[2], data[,2]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 err="1">
                <a:latin typeface="Consolas" panose="020B0609020204030204" pitchFamily="49" charset="0"/>
              </a:rPr>
              <a:t>simplexboot</a:t>
            </a:r>
            <a:r>
              <a:rPr lang="en-GB" sz="1100">
                <a:latin typeface="Consolas" panose="020B0609020204030204" pitchFamily="49" charset="0"/>
              </a:rPr>
              <a:t>&lt;-</a:t>
            </a:r>
            <a:r>
              <a:rPr lang="en-GB" sz="1100" err="1">
                <a:latin typeface="Consolas" panose="020B0609020204030204" pitchFamily="49" charset="0"/>
              </a:rPr>
              <a:t>optim</a:t>
            </a:r>
            <a:r>
              <a:rPr lang="en-GB" sz="1100">
                <a:latin typeface="Consolas" panose="020B0609020204030204" pitchFamily="49" charset="0"/>
              </a:rPr>
              <a:t>(</a:t>
            </a:r>
            <a:r>
              <a:rPr lang="en-GB" sz="1100" err="1">
                <a:latin typeface="Consolas" panose="020B0609020204030204" pitchFamily="49" charset="0"/>
              </a:rPr>
              <a:t>startParms</a:t>
            </a:r>
            <a:r>
              <a:rPr lang="en-GB" sz="1100">
                <a:latin typeface="Consolas" panose="020B0609020204030204" pitchFamily="49" charset="0"/>
              </a:rPr>
              <a:t>, </a:t>
            </a:r>
            <a:r>
              <a:rPr lang="en-GB" sz="1100" err="1">
                <a:latin typeface="Consolas" panose="020B0609020204030204" pitchFamily="49" charset="0"/>
              </a:rPr>
              <a:t>rmsd</a:t>
            </a:r>
            <a:r>
              <a:rPr lang="en-GB" sz="1100">
                <a:latin typeface="Consolas" panose="020B0609020204030204" pitchFamily="49" charset="0"/>
              </a:rPr>
              <a:t>, data1=</a:t>
            </a:r>
            <a:r>
              <a:rPr lang="en-GB" sz="1100" err="1">
                <a:latin typeface="Consolas" panose="020B0609020204030204" pitchFamily="49" charset="0"/>
              </a:rPr>
              <a:t>bootdata</a:t>
            </a:r>
            <a:r>
              <a:rPr lang="en-GB" sz="110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  bootpar2[</a:t>
            </a:r>
            <a:r>
              <a:rPr lang="en-GB" sz="1100" err="1">
                <a:latin typeface="Consolas" panose="020B0609020204030204" pitchFamily="49" charset="0"/>
              </a:rPr>
              <a:t>i</a:t>
            </a:r>
            <a:r>
              <a:rPr lang="en-GB" sz="1100">
                <a:latin typeface="Consolas" panose="020B0609020204030204" pitchFamily="49" charset="0"/>
              </a:rPr>
              <a:t>,]&lt;-</a:t>
            </a:r>
            <a:r>
              <a:rPr lang="en-GB" sz="1100" err="1">
                <a:latin typeface="Consolas" panose="020B0609020204030204" pitchFamily="49" charset="0"/>
              </a:rPr>
              <a:t>simplexboot$par</a:t>
            </a:r>
            <a:endParaRPr lang="en-GB" sz="110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 err="1">
                <a:latin typeface="Consolas" panose="020B0609020204030204" pitchFamily="49" charset="0"/>
              </a:rPr>
              <a:t>confint</a:t>
            </a:r>
            <a:r>
              <a:rPr lang="it-IT" sz="1100">
                <a:latin typeface="Consolas" panose="020B0609020204030204" pitchFamily="49" charset="0"/>
              </a:rPr>
              <a:t>(lm0))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 2.5 %    97.5 %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(</a:t>
            </a:r>
            <a:r>
              <a:rPr lang="it-IT" sz="1100" err="1">
                <a:solidFill>
                  <a:srgbClr val="002060"/>
                </a:solidFill>
                <a:latin typeface="Consolas" panose="020B0609020204030204" pitchFamily="49" charset="0"/>
              </a:rPr>
              <a:t>Intercept</a:t>
            </a: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) -0.1489338 0.3535273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data[, 2]    0.4061242 0.9398372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latin typeface="Consolas" panose="020B0609020204030204" pitchFamily="49" charset="0"/>
              </a:rPr>
              <a:t>quantile(bootpar2[,1],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 2.5%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solidFill>
                  <a:srgbClr val="002060"/>
                </a:solidFill>
                <a:latin typeface="Consolas" panose="020B0609020204030204" pitchFamily="49" charset="0"/>
              </a:rPr>
              <a:t>0.4200182 0.9248614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it-IT" sz="1100">
                <a:latin typeface="Consolas" panose="020B0609020204030204" pitchFamily="49" charset="0"/>
              </a:rPr>
              <a:t>quantile(bootpar2[,2],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solidFill>
                  <a:srgbClr val="002060"/>
                </a:solidFill>
                <a:latin typeface="Consolas" panose="020B0609020204030204" pitchFamily="49" charset="0"/>
              </a:rPr>
              <a:t> 2.5% 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solidFill>
                  <a:srgbClr val="002060"/>
                </a:solidFill>
                <a:latin typeface="Consolas" panose="020B0609020204030204" pitchFamily="49" charset="0"/>
              </a:rPr>
              <a:t>-0.1300771  0.3344593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D1A2371-A1EC-B5F2-A59F-26E019E6823B}"/>
              </a:ext>
            </a:extLst>
          </p:cNvPr>
          <p:cNvSpPr txBox="1"/>
          <p:nvPr/>
        </p:nvSpPr>
        <p:spPr>
          <a:xfrm>
            <a:off x="6172200" y="6400799"/>
            <a:ext cx="5467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/>
              <a:t>Model-based bootstrap procedure based on Listing 3-1 (F&amp;L)</a:t>
            </a:r>
          </a:p>
        </p:txBody>
      </p:sp>
    </p:spTree>
    <p:extLst>
      <p:ext uri="{BB962C8B-B14F-4D97-AF65-F5344CB8AC3E}">
        <p14:creationId xmlns:p14="http://schemas.microsoft.com/office/powerpoint/2010/main" val="2502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34B5-4096-7B35-B70C-C4C113FA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41FC99-3EC1-FE3A-7D2B-FF0810A6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Model-based bootstrap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59C7A-FCC4-0A11-73E5-31A03EDA7C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In a model-based approach, it can be advantageous to use the model and its estimated parameters to create bootstrap samples (“</a:t>
            </a:r>
            <a:r>
              <a:rPr lang="en-GB" sz="2400" i="1" noProof="0"/>
              <a:t>parametric bootstrap</a:t>
            </a:r>
            <a:r>
              <a:rPr lang="en-GB" sz="2400" noProof="0"/>
              <a:t>”)</a:t>
            </a:r>
          </a:p>
          <a:p>
            <a:r>
              <a:rPr lang="en-GB" sz="2400"/>
              <a:t>Smaller samples can include “leverage points” that greatly influence single bootstrap samples</a:t>
            </a:r>
          </a:p>
          <a:p>
            <a:r>
              <a:rPr lang="en-GB" sz="2400" noProof="0"/>
              <a:t>With increasing sample</a:t>
            </a:r>
            <a:r>
              <a:rPr lang="en-GB" sz="2400"/>
              <a:t> size and number of bootstrap samples, the two approaches should converge</a:t>
            </a:r>
            <a:endParaRPr lang="en-GB" sz="2400" noProof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4F2BD75-6471-24DA-A8EE-1F49D9AD5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492798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100" err="1">
                <a:latin typeface="Consolas" panose="020B0609020204030204" pitchFamily="49" charset="0"/>
              </a:rPr>
              <a:t>nDataPts</a:t>
            </a:r>
            <a:r>
              <a:rPr lang="en-GB" sz="1100">
                <a:latin typeface="Consolas" panose="020B0609020204030204" pitchFamily="49" charset="0"/>
              </a:rPr>
              <a:t>  &lt;- </a:t>
            </a: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err="1">
                <a:latin typeface="Consolas" panose="020B0609020204030204" pitchFamily="49" charset="0"/>
              </a:rPr>
              <a:t>confint</a:t>
            </a:r>
            <a:r>
              <a:rPr lang="en-GB" sz="1100">
                <a:latin typeface="Consolas" panose="020B0609020204030204" pitchFamily="49" charset="0"/>
              </a:rPr>
              <a:t>(</a:t>
            </a:r>
            <a:r>
              <a:rPr lang="en-GB" sz="1100" err="1">
                <a:latin typeface="Consolas" panose="020B0609020204030204" pitchFamily="49" charset="0"/>
              </a:rPr>
              <a:t>lm</a:t>
            </a:r>
            <a:r>
              <a:rPr lang="en-GB" sz="1100">
                <a:latin typeface="Consolas" panose="020B0609020204030204" pitchFamily="49" charset="0"/>
              </a:rPr>
              <a:t>(data[,1] ~ data[,2]))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                  2.5 %    97.5 %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(Intercept) -0.03512928 0.1265954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data[, 2]    0.81929266 0.9697833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quantile(</a:t>
            </a:r>
            <a:r>
              <a:rPr lang="en-GB" sz="1100" err="1">
                <a:latin typeface="Consolas" panose="020B0609020204030204" pitchFamily="49" charset="0"/>
              </a:rPr>
              <a:t>bootpar</a:t>
            </a:r>
            <a:r>
              <a:rPr lang="en-GB" sz="1100">
                <a:latin typeface="Consolas" panose="020B0609020204030204" pitchFamily="49" charset="0"/>
              </a:rPr>
              <a:t>[,1],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     2.5%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0.8108842 0.9748676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quantile(</a:t>
            </a:r>
            <a:r>
              <a:rPr lang="en-GB" sz="1100" err="1">
                <a:latin typeface="Consolas" panose="020B0609020204030204" pitchFamily="49" charset="0"/>
              </a:rPr>
              <a:t>bootpar</a:t>
            </a:r>
            <a:r>
              <a:rPr lang="en-GB" sz="1100">
                <a:latin typeface="Consolas" panose="020B0609020204030204" pitchFamily="49" charset="0"/>
              </a:rPr>
              <a:t>[,2],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       2.5%  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-0.03510039  0.12772456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quantile(bootpar2[,1],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     2.5%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0.8219002 0.9682651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>
                <a:latin typeface="Consolas" panose="020B0609020204030204" pitchFamily="49" charset="0"/>
              </a:rPr>
              <a:t>quantile(bootpar2[,2], c(0.025, 0.975))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       2.5%       97.5%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100" i="1">
                <a:solidFill>
                  <a:srgbClr val="002060"/>
                </a:solidFill>
                <a:latin typeface="Consolas" panose="020B0609020204030204" pitchFamily="49" charset="0"/>
              </a:rPr>
              <a:t>-0.03581619  0.12720128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6ED8E13-B768-39A3-8839-298FE54C4A77}"/>
              </a:ext>
            </a:extLst>
          </p:cNvPr>
          <p:cNvSpPr txBox="1"/>
          <p:nvPr/>
        </p:nvSpPr>
        <p:spPr>
          <a:xfrm>
            <a:off x="6172200" y="6400799"/>
            <a:ext cx="5467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/>
              <a:t>Both bootstrap procedures with increased sample size</a:t>
            </a:r>
          </a:p>
        </p:txBody>
      </p:sp>
      <p:sp>
        <p:nvSpPr>
          <p:cNvPr id="4" name="Pfeil: nach unten 3">
            <a:extLst>
              <a:ext uri="{FF2B5EF4-FFF2-40B4-BE49-F238E27FC236}">
                <a16:creationId xmlns:a16="http://schemas.microsoft.com/office/drawing/2014/main" id="{AD0A245C-1EAE-98A5-8D33-C21DBF57F621}"/>
              </a:ext>
            </a:extLst>
          </p:cNvPr>
          <p:cNvSpPr/>
          <p:nvPr/>
        </p:nvSpPr>
        <p:spPr>
          <a:xfrm>
            <a:off x="7199870" y="1243914"/>
            <a:ext cx="345989" cy="58171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523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4747C-F052-7D22-3AEF-C27D75F8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bootstrap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6CF9FE-1E3D-AB65-C0B1-CDBEAED7D0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/>
              <a:t>The bootstrap procedure can easily be extended to multiple participants</a:t>
            </a:r>
          </a:p>
          <a:p>
            <a:r>
              <a:rPr lang="en-GB"/>
              <a:t>Participants are also sampled </a:t>
            </a:r>
            <a:r>
              <a:rPr lang="en-GB" u="sng"/>
              <a:t>with</a:t>
            </a:r>
            <a:r>
              <a:rPr lang="en-GB"/>
              <a:t> replacement</a:t>
            </a:r>
          </a:p>
          <a:p>
            <a:r>
              <a:rPr lang="en-GB"/>
              <a:t>For each sampled participant, we perform a separate bootstrap</a:t>
            </a:r>
          </a:p>
          <a:p>
            <a:endParaRPr lang="de-DE"/>
          </a:p>
        </p:txBody>
      </p:sp>
      <p:pic>
        <p:nvPicPr>
          <p:cNvPr id="5" name="Inhaltsplatzhalter 5">
            <a:extLst>
              <a:ext uri="{FF2B5EF4-FFF2-40B4-BE49-F238E27FC236}">
                <a16:creationId xmlns:a16="http://schemas.microsoft.com/office/drawing/2014/main" id="{FF3EA3A4-C656-81EA-1CF1-C1F81763E4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05599" y="1825625"/>
            <a:ext cx="2514802" cy="4351338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471654F-CA53-E638-57E9-59349B5FC80B}"/>
              </a:ext>
            </a:extLst>
          </p:cNvPr>
          <p:cNvSpPr txBox="1"/>
          <p:nvPr/>
        </p:nvSpPr>
        <p:spPr>
          <a:xfrm>
            <a:off x="7114039" y="1027906"/>
            <a:ext cx="3914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/>
              <a:t>Re-sample participants, then for each sampled participant do:</a:t>
            </a:r>
          </a:p>
        </p:txBody>
      </p:sp>
    </p:spTree>
    <p:extLst>
      <p:ext uri="{BB962C8B-B14F-4D97-AF65-F5344CB8AC3E}">
        <p14:creationId xmlns:p14="http://schemas.microsoft.com/office/powerpoint/2010/main" val="4088930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FFEA-7EF4-0735-0F23-6A177FDA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8B1C4B-A7ED-0C3F-4694-96E1D869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Hierarchical modelling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ADFDF-C1F9-A55A-1B54-20089EA71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/>
              <a:t>Bayesian Hierarchical modelling, JAGS/STAN</a:t>
            </a:r>
          </a:p>
        </p:txBody>
      </p:sp>
    </p:spTree>
    <p:extLst>
      <p:ext uri="{BB962C8B-B14F-4D97-AF65-F5344CB8AC3E}">
        <p14:creationId xmlns:p14="http://schemas.microsoft.com/office/powerpoint/2010/main" val="348561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1B6F3-45DB-DBB2-2B83-8ABDF2E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5EBDD-BA34-9E5A-1707-841FB54250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The goal of hierarchical modelling is to model fixed effects (e.g., conditions) together with random effect (participants)</a:t>
            </a:r>
          </a:p>
          <a:p>
            <a:r>
              <a:rPr lang="en-GB" sz="2400"/>
              <a:t>The linear mixed model (LMM) is an example of hierarchical modelling</a:t>
            </a:r>
          </a:p>
          <a:p>
            <a:r>
              <a:rPr lang="en-GB" sz="2400" noProof="0"/>
              <a:t>The approach</a:t>
            </a:r>
            <a:r>
              <a:rPr lang="en-GB" sz="2400"/>
              <a:t> is compatible with both the classic/frequentist view and the Bayesian view</a:t>
            </a:r>
          </a:p>
          <a:p>
            <a:r>
              <a:rPr lang="en-GB" sz="2400" noProof="0"/>
              <a:t>In practise, (G)LMM is one of few frequentist approaches, all other models are typically Bayesian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79A64688-C559-F856-AD48-F5660C5CDD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28232"/>
            <a:ext cx="5181600" cy="4346123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73592A7-DFBE-61AF-1B28-6678CA9BB3C5}"/>
              </a:ext>
            </a:extLst>
          </p:cNvPr>
          <p:cNvSpPr txBox="1"/>
          <p:nvPr/>
        </p:nvSpPr>
        <p:spPr>
          <a:xfrm>
            <a:off x="7760043" y="6311900"/>
            <a:ext cx="417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>
                    <a:lumMod val="50000"/>
                  </a:schemeClr>
                </a:solidFill>
              </a:rPr>
              <a:t>Navarro, Griffiths, </a:t>
            </a:r>
            <a:r>
              <a:rPr lang="de-DE" err="1">
                <a:solidFill>
                  <a:schemeClr val="bg1">
                    <a:lumMod val="50000"/>
                  </a:schemeClr>
                </a:solidFill>
              </a:rPr>
              <a:t>Steyvers</a:t>
            </a:r>
            <a:r>
              <a:rPr lang="de-DE">
                <a:solidFill>
                  <a:schemeClr val="bg1">
                    <a:lumMod val="50000"/>
                  </a:schemeClr>
                </a:solidFill>
              </a:rPr>
              <a:t>, &amp; Lee (2006)</a:t>
            </a:r>
          </a:p>
        </p:txBody>
      </p:sp>
    </p:spTree>
    <p:extLst>
      <p:ext uri="{BB962C8B-B14F-4D97-AF65-F5344CB8AC3E}">
        <p14:creationId xmlns:p14="http://schemas.microsoft.com/office/powerpoint/2010/main" val="2505810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F5464-4932-0E5B-A2FC-B1D462E6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LMM as hierarchical</a:t>
            </a:r>
            <a:r>
              <a:rPr lang="en-GB" noProof="0"/>
              <a:t> modelling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3A675-668A-3084-3165-1225F0DE539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/>
                  <a:t>EM1 introduced the linear mixed model (or: multi-level linear model) to solve the problem of analysing data from multiple participants</a:t>
                </a:r>
              </a:p>
              <a:p>
                <a:r>
                  <a:rPr lang="en-GB" sz="2400"/>
                  <a:t>Participants are realizations of random factor</a:t>
                </a:r>
              </a:p>
              <a:p>
                <a:r>
                  <a:rPr lang="en-GB" sz="2400"/>
                  <a:t>Modelling of the whole dataset with the individual parameters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/>
                  <a:t>) being randomly distributed</a:t>
                </a:r>
              </a:p>
              <a:p>
                <a:r>
                  <a:rPr lang="en-GB" sz="2400"/>
                  <a:t>In hierarchical modelling, the goal is to follow a likewise approach for non-linear models</a:t>
                </a:r>
              </a:p>
              <a:p>
                <a:endParaRPr lang="en-GB" sz="2400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3A675-668A-3084-3165-1225F0DE5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1882" b="-49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FCCC2136-BCC6-9AC1-585E-86D98F8DCE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54490"/>
            <a:ext cx="5181600" cy="309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28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A51AC-2558-F1CE-37E9-5B372DE2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modelling via LMM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837345-6FF1-47EF-35CB-637006CA0C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If a model can be reduced to a linear model via a link function, we can use LMM for hierarchical modelling</a:t>
            </a:r>
          </a:p>
          <a:p>
            <a:r>
              <a:rPr lang="en-GB" sz="2400"/>
              <a:t>This is very practical, as we can simply use the LMM functions (</a:t>
            </a:r>
            <a:r>
              <a:rPr lang="en-GB" sz="2400" err="1">
                <a:latin typeface="Consolas" panose="020B0609020204030204" pitchFamily="49" charset="0"/>
              </a:rPr>
              <a:t>glmer</a:t>
            </a:r>
            <a:r>
              <a:rPr lang="en-GB" sz="2400">
                <a:latin typeface="Consolas" panose="020B0609020204030204" pitchFamily="49" charset="0"/>
              </a:rPr>
              <a:t>()</a:t>
            </a:r>
            <a:r>
              <a:rPr lang="en-GB" sz="2400"/>
              <a:t> instead of </a:t>
            </a:r>
            <a:r>
              <a:rPr lang="en-GB" sz="2400" err="1">
                <a:latin typeface="Consolas" panose="020B0609020204030204" pitchFamily="49" charset="0"/>
              </a:rPr>
              <a:t>lmer</a:t>
            </a:r>
            <a:r>
              <a:rPr lang="en-GB" sz="2400">
                <a:latin typeface="Consolas" panose="020B0609020204030204" pitchFamily="49" charset="0"/>
              </a:rPr>
              <a:t>()</a:t>
            </a:r>
            <a:r>
              <a:rPr lang="en-GB" sz="2400"/>
              <a:t> in R)</a:t>
            </a:r>
            <a:endParaRPr lang="en-GB" sz="2400" noProof="0"/>
          </a:p>
          <a:p>
            <a:r>
              <a:rPr lang="en-GB" sz="2400" noProof="0"/>
              <a:t>Examples: </a:t>
            </a:r>
          </a:p>
          <a:p>
            <a:pPr lvl="1"/>
            <a:r>
              <a:rPr lang="en-GB" sz="2000"/>
              <a:t>Logistic regression with logit() link function</a:t>
            </a:r>
          </a:p>
          <a:p>
            <a:pPr lvl="1"/>
            <a:r>
              <a:rPr lang="en-GB" sz="2000" noProof="0"/>
              <a:t>Signal detection theory, with probit() link function (see right)</a:t>
            </a:r>
          </a:p>
          <a:p>
            <a:pPr lvl="1"/>
            <a:endParaRPr lang="en-GB" sz="20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AE6BEB9-1269-78BB-A85C-406B6B4FD8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2000" b="1" noProof="0"/>
                  <a:t>Probit GLM</a:t>
                </a:r>
                <a:r>
                  <a:rPr lang="en-GB" sz="2000" noProof="0"/>
                  <a:t> (</a:t>
                </a:r>
                <a:r>
                  <a:rPr lang="en-GB" sz="2000" b="1" u="sng" noProof="0"/>
                  <a:t>g</a:t>
                </a:r>
                <a:r>
                  <a:rPr lang="en-GB" sz="2000" u="sng" noProof="0"/>
                  <a:t>eneralized</a:t>
                </a:r>
                <a:r>
                  <a:rPr lang="en-GB" sz="2000" noProof="0"/>
                  <a:t> </a:t>
                </a:r>
                <a:r>
                  <a:rPr lang="en-GB" sz="2000" b="1" noProof="0"/>
                  <a:t>l</a:t>
                </a:r>
                <a:r>
                  <a:rPr lang="en-GB" sz="2000" noProof="0"/>
                  <a:t>inear </a:t>
                </a:r>
                <a:r>
                  <a:rPr lang="en-GB" sz="2000" b="1" noProof="0"/>
                  <a:t>m</a:t>
                </a:r>
                <a:r>
                  <a:rPr lang="en-GB" sz="2000" noProof="0"/>
                  <a:t>odel):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2000" b="0" i="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GB" sz="2000" noProof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=0|</m:t>
                          </m:r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2000" b="0" i="0" noProof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GB" sz="2000" noProof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2000"/>
                  <a:t>With link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GB" sz="2000"/>
                  <a:t>,  the normal CDF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2000"/>
                  <a:t>In the signal detection model: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00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2000" noProof="0"/>
                  <a:t>for,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noProof="0"/>
                  <a:t> (noise trial):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=1|0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de-DE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GB" sz="2000" noProof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2000"/>
                  <a:t>and</a:t>
                </a:r>
                <a:r>
                  <a:rPr lang="de-DE" sz="2000" b="0" noProof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noProof="0"/>
                  <a:t> (signal trial):</a:t>
                </a:r>
                <a:endParaRPr lang="en-GB" sz="200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=1|1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de-DE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GB" sz="2000" noProof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GB" sz="2000" noProof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AE6BEB9-1269-78BB-A85C-406B6B4FD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68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F46C-08C2-69F5-4A77-DE132D4E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242F4-02BF-DE2D-1AEA-294B7CDC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modelling via LMM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0501F55-EF9A-A4C4-E7F1-E8FB1F1FDF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/>
                  <a:t>As a special case, the SDT can be recast into a linear model via a link function</a:t>
                </a:r>
              </a:p>
              <a:p>
                <a:pPr lvl="1"/>
                <a:r>
                  <a:rPr lang="en-GB" sz="2000"/>
                  <a:t>The intercept is criterion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/>
              </a:p>
              <a:p>
                <a:pPr lvl="1"/>
                <a:r>
                  <a:rPr lang="en-GB" sz="2000" noProof="0"/>
                  <a:t>The slope is sensitivity </a:t>
                </a: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GB" sz="2000" noProof="0"/>
              </a:p>
              <a:p>
                <a:pPr lvl="1"/>
                <a:r>
                  <a:rPr lang="en-GB" sz="2000"/>
                  <a:t>Variation between participants is modelled as the random effect(s) </a:t>
                </a:r>
                <a:r>
                  <a:rPr lang="de-DE" sz="2000">
                    <a:latin typeface="Consolas" panose="020B0609020204030204" pitchFamily="49" charset="0"/>
                  </a:rPr>
                  <a:t>(1+stim|subj)</a:t>
                </a:r>
              </a:p>
              <a:p>
                <a:r>
                  <a:rPr lang="en-GB" sz="2400" noProof="0"/>
                  <a:t>Except for special  cases like SDT, hierarchical modelling is not usually performed in the classical</a:t>
                </a:r>
                <a:r>
                  <a:rPr lang="en-GB" sz="2400"/>
                  <a:t>/ frequentist framework</a:t>
                </a:r>
                <a:endParaRPr lang="en-GB" sz="2400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0501F55-EF9A-A4C4-E7F1-E8FB1F1FDF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1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F63157-9724-7AF9-556B-9CBB87B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GB" sz="1200" noProof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mlhierarchSDT</a:t>
            </a: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&lt;- </a:t>
            </a:r>
            <a:r>
              <a:rPr lang="en-GB" sz="1200" noProof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glmer</a:t>
            </a: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1200" noProof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resp</a:t>
            </a: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~ stim + (1+stim|subj), 	family=binomial("probit"))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 summary(</a:t>
            </a:r>
            <a:r>
              <a:rPr lang="en-GB" sz="1200" noProof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mlhierarchSDT</a:t>
            </a:r>
            <a:r>
              <a:rPr lang="en-GB" sz="1200" noProof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Generalized linear mixed model fit by maximum likelihood (Laplace Approximation) ['</a:t>
            </a:r>
            <a:r>
              <a:rPr lang="en-GB" sz="1200" noProof="0" err="1">
                <a:latin typeface="Consolas" panose="020B0609020204030204" pitchFamily="49" charset="0"/>
              </a:rPr>
              <a:t>glmerMod</a:t>
            </a:r>
            <a:r>
              <a:rPr lang="en-GB" sz="1200" noProof="0">
                <a:latin typeface="Consolas" panose="020B060902020403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Family: binomial  ( probit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Formula: </a:t>
            </a:r>
            <a:r>
              <a:rPr lang="en-GB" sz="1200" noProof="0" err="1">
                <a:latin typeface="Consolas" panose="020B0609020204030204" pitchFamily="49" charset="0"/>
              </a:rPr>
              <a:t>resp</a:t>
            </a:r>
            <a:r>
              <a:rPr lang="en-GB" sz="1200" noProof="0">
                <a:latin typeface="Consolas" panose="020B0609020204030204" pitchFamily="49" charset="0"/>
              </a:rPr>
              <a:t> ~ stim + (1 + stim | subj)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     AIC       BIC    </a:t>
            </a:r>
            <a:r>
              <a:rPr lang="en-GB" sz="1200" noProof="0" err="1">
                <a:latin typeface="Consolas" panose="020B0609020204030204" pitchFamily="49" charset="0"/>
              </a:rPr>
              <a:t>logLik</a:t>
            </a:r>
            <a:r>
              <a:rPr lang="en-GB" sz="1200" noProof="0">
                <a:latin typeface="Consolas" panose="020B0609020204030204" pitchFamily="49" charset="0"/>
              </a:rPr>
              <a:t> -2*log(L)  </a:t>
            </a:r>
            <a:r>
              <a:rPr lang="en-GB" sz="1200" noProof="0" err="1">
                <a:latin typeface="Consolas" panose="020B0609020204030204" pitchFamily="49" charset="0"/>
              </a:rPr>
              <a:t>df.resid</a:t>
            </a:r>
            <a:r>
              <a:rPr lang="en-GB" sz="1200" noProof="0"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  2039.8    2067.8   -1014.9    2029.8      1995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Random effects: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Groups Name        Variance </a:t>
            </a:r>
            <a:r>
              <a:rPr lang="en-GB" sz="1200" noProof="0" err="1">
                <a:latin typeface="Consolas" panose="020B0609020204030204" pitchFamily="49" charset="0"/>
              </a:rPr>
              <a:t>Std.Dev</a:t>
            </a:r>
            <a:r>
              <a:rPr lang="en-GB" sz="1200" noProof="0">
                <a:latin typeface="Consolas" panose="020B0609020204030204" pitchFamily="49" charset="0"/>
              </a:rPr>
              <a:t>. Corr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subj   (Intercept) 0.014530 0.12054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       stim        0.008151 0.09028  -0.56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Number of </a:t>
            </a:r>
            <a:r>
              <a:rPr lang="en-GB" sz="1200" noProof="0" err="1">
                <a:latin typeface="Consolas" panose="020B0609020204030204" pitchFamily="49" charset="0"/>
              </a:rPr>
              <a:t>obs</a:t>
            </a:r>
            <a:r>
              <a:rPr lang="en-GB" sz="1200" noProof="0">
                <a:latin typeface="Consolas" panose="020B0609020204030204" pitchFamily="49" charset="0"/>
              </a:rPr>
              <a:t>: 2000, groups:  subj, 10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Fixed effects: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           Estimate Std. Error z value </a:t>
            </a:r>
            <a:r>
              <a:rPr lang="en-GB" sz="1200" noProof="0" err="1">
                <a:latin typeface="Consolas" panose="020B0609020204030204" pitchFamily="49" charset="0"/>
              </a:rPr>
              <a:t>Pr</a:t>
            </a:r>
            <a:r>
              <a:rPr lang="en-GB" sz="1200" noProof="0">
                <a:latin typeface="Consolas" panose="020B0609020204030204" pitchFamily="49" charset="0"/>
              </a:rPr>
              <a:t>(&gt;|z|)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(Intercept) -1.23121    0.06600  -18.66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stim         1.51745    0.07312   20.75   &lt;2e-16 ***</a:t>
            </a:r>
          </a:p>
        </p:txBody>
      </p:sp>
    </p:spTree>
    <p:extLst>
      <p:ext uri="{BB962C8B-B14F-4D97-AF65-F5344CB8AC3E}">
        <p14:creationId xmlns:p14="http://schemas.microsoft.com/office/powerpoint/2010/main" val="292070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98E9-9AAF-623D-648A-51D157BB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37F53-96ED-3AED-829D-44B84264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Bayesian hierarchical 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3E2A00-C706-57DE-EB83-14120942E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A reason for most hierarchical modelling being Bayesian is because the extra level in the hierarchy can be quite easily incorporated in a Bayesian framework</a:t>
            </a:r>
          </a:p>
          <a:p>
            <a:r>
              <a:rPr lang="en-GB" sz="2400" noProof="0"/>
              <a:t>That means, for Bayesian hierarchical modelling, we can simply use various sampling techniques, implemented, for example, in JAGS or STAN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8422530-C310-0EEA-AFE8-3131BE807B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5663" y="1825625"/>
            <a:ext cx="5014673" cy="43513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0FE2DBB-CB9E-457F-B459-D3A72B2CC570}"/>
              </a:ext>
            </a:extLst>
          </p:cNvPr>
          <p:cNvSpPr txBox="1"/>
          <p:nvPr/>
        </p:nvSpPr>
        <p:spPr>
          <a:xfrm>
            <a:off x="6499654" y="6311900"/>
            <a:ext cx="470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Bayesian model of SDT for a single participant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1A98E48C-1C9D-946D-850D-F0EBB80B2864}"/>
              </a:ext>
            </a:extLst>
          </p:cNvPr>
          <p:cNvSpPr/>
          <p:nvPr/>
        </p:nvSpPr>
        <p:spPr>
          <a:xfrm>
            <a:off x="10964412" y="2644346"/>
            <a:ext cx="164908" cy="864973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3684F0-8B9D-9379-E124-83571D89C597}"/>
              </a:ext>
            </a:extLst>
          </p:cNvPr>
          <p:cNvSpPr txBox="1"/>
          <p:nvPr/>
        </p:nvSpPr>
        <p:spPr>
          <a:xfrm>
            <a:off x="11096367" y="2815222"/>
            <a:ext cx="1128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hyper-parameters</a:t>
            </a:r>
          </a:p>
        </p:txBody>
      </p:sp>
    </p:spTree>
    <p:extLst>
      <p:ext uri="{BB962C8B-B14F-4D97-AF65-F5344CB8AC3E}">
        <p14:creationId xmlns:p14="http://schemas.microsoft.com/office/powerpoint/2010/main" val="272479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B007-8A47-DADE-7ECD-C1A74C0E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2726A-688C-CB86-B03A-6D8F349A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Bayesian hierarchical 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925A8A-29A3-1F00-54C8-4B945CB0C7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A reason for most hierarchical modelling being Bayesian is because the extra level in the hierarchy can be quite easily incorporated in a Bayesian framework</a:t>
            </a:r>
          </a:p>
          <a:p>
            <a:r>
              <a:rPr lang="en-GB" sz="2400" noProof="0"/>
              <a:t>That means, for Bayesian hierarchical modelling, we can simply use various sampling techniques, implemented, for example, in JAGS or STAN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6C75E6-19E4-F848-48E4-18EAC6D7F976}"/>
              </a:ext>
            </a:extLst>
          </p:cNvPr>
          <p:cNvSpPr txBox="1"/>
          <p:nvPr/>
        </p:nvSpPr>
        <p:spPr>
          <a:xfrm>
            <a:off x="6499654" y="6311900"/>
            <a:ext cx="5057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Bayesian model of SDT for multiple participants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864A8919-BCB4-FC3C-0DF3-2EDF16914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2687" y="1920081"/>
            <a:ext cx="5000625" cy="4162425"/>
          </a:xfrm>
        </p:spPr>
      </p:pic>
      <p:sp>
        <p:nvSpPr>
          <p:cNvPr id="10" name="Geschweifte Klammer rechts 9">
            <a:extLst>
              <a:ext uri="{FF2B5EF4-FFF2-40B4-BE49-F238E27FC236}">
                <a16:creationId xmlns:a16="http://schemas.microsoft.com/office/drawing/2014/main" id="{87EF92A1-A044-B55D-E12A-EA33D88C2AD7}"/>
              </a:ext>
            </a:extLst>
          </p:cNvPr>
          <p:cNvSpPr/>
          <p:nvPr/>
        </p:nvSpPr>
        <p:spPr>
          <a:xfrm>
            <a:off x="11056459" y="3568807"/>
            <a:ext cx="131955" cy="789807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508D1E-C84E-93EB-0F4D-C67233394524}"/>
              </a:ext>
            </a:extLst>
          </p:cNvPr>
          <p:cNvSpPr txBox="1"/>
          <p:nvPr/>
        </p:nvSpPr>
        <p:spPr>
          <a:xfrm>
            <a:off x="11188414" y="3739683"/>
            <a:ext cx="1128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hyper-parameters</a:t>
            </a:r>
          </a:p>
        </p:txBody>
      </p:sp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8AA61C65-6ED1-131A-B09A-C912ABD474F6}"/>
              </a:ext>
            </a:extLst>
          </p:cNvPr>
          <p:cNvSpPr/>
          <p:nvPr/>
        </p:nvSpPr>
        <p:spPr>
          <a:xfrm>
            <a:off x="11056459" y="2097249"/>
            <a:ext cx="164908" cy="1413040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5A644AC-8901-8463-E286-56045E825803}"/>
              </a:ext>
            </a:extLst>
          </p:cNvPr>
          <p:cNvSpPr txBox="1"/>
          <p:nvPr/>
        </p:nvSpPr>
        <p:spPr>
          <a:xfrm>
            <a:off x="11188414" y="2539013"/>
            <a:ext cx="11285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hyper-hyper-parameters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8420AE3-C703-EE82-CAA0-8B8590434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910" y="365125"/>
            <a:ext cx="1465007" cy="14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1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7CD45-EA09-26AF-89CC-EC1A7F6F1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Bayes in JAGS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C2171-F64E-C530-CF17-00B7148E2E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Specifying a hierarchical Bayesian model in JAGS is relatively simple</a:t>
            </a:r>
          </a:p>
          <a:p>
            <a:r>
              <a:rPr lang="en-GB" sz="2400"/>
              <a:t>We add the additional layer of the hierarchy as (parent) distribution of parameters of the participant distribution</a:t>
            </a:r>
          </a:p>
          <a:p>
            <a:r>
              <a:rPr lang="en-GB" sz="2400" noProof="0"/>
              <a:t>The are specified by hyper-hyperparameters, or parameters of the parent distribution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81D7DA-347D-75C0-D48C-74BAD7F27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3986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# Hierarchical Signal Detection Theory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model{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# parent distributions for priors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mud ~ </a:t>
            </a:r>
            <a:r>
              <a:rPr lang="en-GB" sz="1400" noProof="0" err="1">
                <a:latin typeface="Consolas" panose="020B0609020204030204" pitchFamily="49" charset="0"/>
              </a:rPr>
              <a:t>dnorm</a:t>
            </a:r>
            <a:r>
              <a:rPr lang="en-GB" sz="1400" noProof="0">
                <a:latin typeface="Consolas" panose="020B0609020204030204" pitchFamily="49" charset="0"/>
              </a:rPr>
              <a:t>(0,epsilon)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</a:t>
            </a:r>
            <a:r>
              <a:rPr lang="en-GB" sz="1400" noProof="0" err="1">
                <a:latin typeface="Consolas" panose="020B0609020204030204" pitchFamily="49" charset="0"/>
              </a:rPr>
              <a:t>mub</a:t>
            </a:r>
            <a:r>
              <a:rPr lang="en-GB" sz="1400" noProof="0">
                <a:latin typeface="Consolas" panose="020B0609020204030204" pitchFamily="49" charset="0"/>
              </a:rPr>
              <a:t> ~ </a:t>
            </a:r>
            <a:r>
              <a:rPr lang="en-GB" sz="1400" noProof="0" err="1">
                <a:latin typeface="Consolas" panose="020B0609020204030204" pitchFamily="49" charset="0"/>
              </a:rPr>
              <a:t>dnorm</a:t>
            </a:r>
            <a:r>
              <a:rPr lang="en-GB" sz="1400" noProof="0">
                <a:latin typeface="Consolas" panose="020B0609020204030204" pitchFamily="49" charset="0"/>
              </a:rPr>
              <a:t>(0,epsilon)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</a:t>
            </a:r>
            <a:r>
              <a:rPr lang="en-GB" sz="1400" noProof="0" err="1">
                <a:latin typeface="Consolas" panose="020B0609020204030204" pitchFamily="49" charset="0"/>
              </a:rPr>
              <a:t>taud</a:t>
            </a:r>
            <a:r>
              <a:rPr lang="en-GB" sz="1400" noProof="0">
                <a:latin typeface="Consolas" panose="020B0609020204030204" pitchFamily="49" charset="0"/>
              </a:rPr>
              <a:t> ~ </a:t>
            </a:r>
            <a:r>
              <a:rPr lang="en-GB" sz="1400" noProof="0" err="1">
                <a:latin typeface="Consolas" panose="020B0609020204030204" pitchFamily="49" charset="0"/>
              </a:rPr>
              <a:t>dgamma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epsilon,epsilon</a:t>
            </a:r>
            <a:r>
              <a:rPr lang="en-GB" sz="14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</a:t>
            </a:r>
            <a:r>
              <a:rPr lang="en-GB" sz="1400" noProof="0" err="1">
                <a:latin typeface="Consolas" panose="020B0609020204030204" pitchFamily="49" charset="0"/>
              </a:rPr>
              <a:t>taub</a:t>
            </a:r>
            <a:r>
              <a:rPr lang="en-GB" sz="1400" noProof="0">
                <a:latin typeface="Consolas" panose="020B0609020204030204" pitchFamily="49" charset="0"/>
              </a:rPr>
              <a:t> ~ </a:t>
            </a:r>
            <a:r>
              <a:rPr lang="en-GB" sz="1400" noProof="0" err="1">
                <a:latin typeface="Consolas" panose="020B0609020204030204" pitchFamily="49" charset="0"/>
              </a:rPr>
              <a:t>dgamma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epsilon,epsilon</a:t>
            </a:r>
            <a:r>
              <a:rPr lang="en-GB" sz="1400" noProof="0">
                <a:latin typeface="Consolas" panose="020B0609020204030204" pitchFamily="49" charset="0"/>
              </a:rPr>
              <a:t>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#modeling all n subjects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for (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 in 1:n)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# priors for discriminability and bias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d[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~ </a:t>
            </a:r>
            <a:r>
              <a:rPr lang="en-GB" sz="1400" noProof="0" err="1">
                <a:latin typeface="Consolas" panose="020B0609020204030204" pitchFamily="49" charset="0"/>
              </a:rPr>
              <a:t>dnorm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mud,taud</a:t>
            </a:r>
            <a:r>
              <a:rPr lang="en-GB" sz="1400" noProof="0">
                <a:latin typeface="Consolas" panose="020B0609020204030204" pitchFamily="49" charset="0"/>
              </a:rPr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b[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~ </a:t>
            </a:r>
            <a:r>
              <a:rPr lang="en-GB" sz="1400" noProof="0" err="1">
                <a:latin typeface="Consolas" panose="020B0609020204030204" pitchFamily="49" charset="0"/>
              </a:rPr>
              <a:t>dnorm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mub,taub</a:t>
            </a:r>
            <a:r>
              <a:rPr lang="en-GB" sz="14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# predictions for hits and false alarms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</a:t>
            </a:r>
            <a:r>
              <a:rPr lang="en-GB" sz="1400" noProof="0" err="1">
                <a:latin typeface="Consolas" panose="020B0609020204030204" pitchFamily="49" charset="0"/>
              </a:rPr>
              <a:t>phih</a:t>
            </a:r>
            <a:r>
              <a:rPr lang="en-GB" sz="1400" noProof="0">
                <a:latin typeface="Consolas" panose="020B0609020204030204" pitchFamily="49" charset="0"/>
              </a:rPr>
              <a:t>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&lt;- phi( d[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]/2 - b[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])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</a:t>
            </a:r>
            <a:r>
              <a:rPr lang="en-GB" sz="1400" noProof="0" err="1">
                <a:latin typeface="Consolas" panose="020B0609020204030204" pitchFamily="49" charset="0"/>
              </a:rPr>
              <a:t>phif</a:t>
            </a:r>
            <a:r>
              <a:rPr lang="en-GB" sz="1400" noProof="0">
                <a:latin typeface="Consolas" panose="020B0609020204030204" pitchFamily="49" charset="0"/>
              </a:rPr>
              <a:t>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&lt;- phi(-d[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]/2 - b[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# Observed hits and false alarms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h[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~ </a:t>
            </a:r>
            <a:r>
              <a:rPr lang="en-GB" sz="1400" noProof="0" err="1">
                <a:latin typeface="Consolas" panose="020B0609020204030204" pitchFamily="49" charset="0"/>
              </a:rPr>
              <a:t>dbin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phih</a:t>
            </a:r>
            <a:r>
              <a:rPr lang="en-GB" sz="1400" noProof="0">
                <a:latin typeface="Consolas" panose="020B0609020204030204" pitchFamily="49" charset="0"/>
              </a:rPr>
              <a:t>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],</a:t>
            </a:r>
            <a:r>
              <a:rPr lang="en-GB" sz="1400" noProof="0" err="1">
                <a:latin typeface="Consolas" panose="020B0609020204030204" pitchFamily="49" charset="0"/>
              </a:rPr>
              <a:t>sigtrials</a:t>
            </a:r>
            <a:r>
              <a:rPr lang="en-GB" sz="1400" noProof="0">
                <a:latin typeface="Consolas" panose="020B0609020204030204" pitchFamily="49" charset="0"/>
              </a:rPr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f[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 ~ </a:t>
            </a:r>
            <a:r>
              <a:rPr lang="en-GB" sz="1400" noProof="0" err="1">
                <a:latin typeface="Consolas" panose="020B0609020204030204" pitchFamily="49" charset="0"/>
              </a:rPr>
              <a:t>dbin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phif</a:t>
            </a:r>
            <a:r>
              <a:rPr lang="en-GB" sz="1400" noProof="0">
                <a:latin typeface="Consolas" panose="020B0609020204030204" pitchFamily="49" charset="0"/>
              </a:rPr>
              <a:t>[</a:t>
            </a:r>
            <a:r>
              <a:rPr lang="en-GB" sz="1400" noProof="0" err="1">
                <a:latin typeface="Consolas" panose="020B0609020204030204" pitchFamily="49" charset="0"/>
              </a:rPr>
              <a:t>i</a:t>
            </a:r>
            <a:r>
              <a:rPr lang="en-GB" sz="1400" noProof="0">
                <a:latin typeface="Consolas" panose="020B0609020204030204" pitchFamily="49" charset="0"/>
              </a:rPr>
              <a:t>],</a:t>
            </a:r>
            <a:r>
              <a:rPr lang="en-GB" sz="1400" noProof="0" err="1">
                <a:latin typeface="Consolas" panose="020B0609020204030204" pitchFamily="49" charset="0"/>
              </a:rPr>
              <a:t>noistrials</a:t>
            </a:r>
            <a:r>
              <a:rPr lang="en-GB" sz="14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}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3B1F31-983B-E42F-E009-D9E32F435A3A}"/>
              </a:ext>
            </a:extLst>
          </p:cNvPr>
          <p:cNvSpPr txBox="1"/>
          <p:nvPr/>
        </p:nvSpPr>
        <p:spPr>
          <a:xfrm>
            <a:off x="6172201" y="6359611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>
                <a:solidFill>
                  <a:schemeClr val="bg1">
                    <a:lumMod val="50000"/>
                  </a:schemeClr>
                </a:solidFill>
              </a:rPr>
              <a:t>JAGS model definition of hierarchical SDT (Listing 9-1)</a:t>
            </a:r>
          </a:p>
        </p:txBody>
      </p:sp>
    </p:spTree>
    <p:extLst>
      <p:ext uri="{BB962C8B-B14F-4D97-AF65-F5344CB8AC3E}">
        <p14:creationId xmlns:p14="http://schemas.microsoft.com/office/powerpoint/2010/main" val="2753361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1783-2826-0B27-215E-F5A7F79B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027B9-FF56-790F-01A1-D9F1EE6A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Bayes in JAGS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D91480-D3CD-96BB-CD37-0E4FE3F6FE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Specifying a hierarchical Bayesian model in JAGS is relatively simple</a:t>
            </a:r>
          </a:p>
          <a:p>
            <a:r>
              <a:rPr lang="en-GB" sz="2400"/>
              <a:t>We add the additional layer of the hierarchy as (parent) distribution of parameters of the participant distribution</a:t>
            </a:r>
          </a:p>
          <a:p>
            <a:r>
              <a:rPr lang="en-GB" sz="2400" noProof="0"/>
              <a:t>The are specified by hyper-hyperparameters, or parameters of the parent distribution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1C4A09-9416-D5E0-76D3-100D01B5B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3986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library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rjags</a:t>
            </a:r>
            <a:r>
              <a:rPr lang="en-GB" sz="14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#simulate data from experiment with 10 subjects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n &lt;- 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10</a:t>
            </a:r>
            <a:r>
              <a:rPr lang="en-GB" sz="1400" noProof="0">
                <a:latin typeface="Consolas" panose="020B060902020403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 err="1">
                <a:latin typeface="Consolas" panose="020B0609020204030204" pitchFamily="49" charset="0"/>
              </a:rPr>
              <a:t>sigtrials</a:t>
            </a:r>
            <a:r>
              <a:rPr lang="en-GB" sz="1400" noProof="0">
                <a:latin typeface="Consolas" panose="020B0609020204030204" pitchFamily="49" charset="0"/>
              </a:rPr>
              <a:t> &lt;- </a:t>
            </a:r>
            <a:r>
              <a:rPr lang="en-GB" sz="1400" noProof="0" err="1">
                <a:latin typeface="Consolas" panose="020B0609020204030204" pitchFamily="49" charset="0"/>
              </a:rPr>
              <a:t>noistrials</a:t>
            </a:r>
            <a:r>
              <a:rPr lang="en-GB" sz="1400" noProof="0">
                <a:latin typeface="Consolas" panose="020B0609020204030204" pitchFamily="49" charset="0"/>
              </a:rPr>
              <a:t> &lt;- 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100</a:t>
            </a:r>
            <a:r>
              <a:rPr lang="en-GB" sz="1400" noProof="0">
                <a:latin typeface="Consolas" panose="020B06090202040302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h &lt;- </a:t>
            </a:r>
            <a:r>
              <a:rPr lang="en-GB" sz="1400" noProof="0" err="1">
                <a:latin typeface="Consolas" panose="020B0609020204030204" pitchFamily="49" charset="0"/>
              </a:rPr>
              <a:t>rbinom</a:t>
            </a:r>
            <a:r>
              <a:rPr lang="en-GB" sz="1400" noProof="0">
                <a:latin typeface="Consolas" panose="020B0609020204030204" pitchFamily="49" charset="0"/>
              </a:rPr>
              <a:t>(</a:t>
            </a:r>
            <a:r>
              <a:rPr lang="en-GB" sz="1400" noProof="0" err="1">
                <a:latin typeface="Consolas" panose="020B0609020204030204" pitchFamily="49" charset="0"/>
              </a:rPr>
              <a:t>n,sigtrials</a:t>
            </a:r>
            <a:r>
              <a:rPr lang="en-GB" sz="1400" noProof="0">
                <a:latin typeface="Consolas" panose="020B0609020204030204" pitchFamily="49" charset="0"/>
              </a:rPr>
              <a:t>, .8)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f &lt;- </a:t>
            </a:r>
            <a:r>
              <a:rPr lang="en-GB" sz="1400" noProof="0" err="1">
                <a:latin typeface="Consolas" panose="020B0609020204030204" pitchFamily="49" charset="0"/>
              </a:rPr>
              <a:t>rbinom</a:t>
            </a:r>
            <a:r>
              <a:rPr lang="en-GB" sz="1400" noProof="0">
                <a:latin typeface="Consolas" panose="020B0609020204030204" pitchFamily="49" charset="0"/>
              </a:rPr>
              <a:t>(n,noistrials,.2)   </a:t>
            </a:r>
          </a:p>
          <a:p>
            <a:pPr marL="0" indent="0">
              <a:spcBef>
                <a:spcPts val="0"/>
              </a:spcBef>
              <a:buNone/>
            </a:pPr>
            <a:endParaRPr lang="en-GB" sz="14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#initialize for JAGS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 err="1">
                <a:latin typeface="Consolas" panose="020B0609020204030204" pitchFamily="49" charset="0"/>
              </a:rPr>
              <a:t>oneinit</a:t>
            </a:r>
            <a:r>
              <a:rPr lang="en-GB" sz="1400" noProof="0">
                <a:latin typeface="Consolas" panose="020B0609020204030204" pitchFamily="49" charset="0"/>
              </a:rPr>
              <a:t> &lt;- list(mud=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400" noProof="0">
                <a:latin typeface="Consolas" panose="020B0609020204030204" pitchFamily="49" charset="0"/>
              </a:rPr>
              <a:t>, </a:t>
            </a:r>
            <a:r>
              <a:rPr lang="en-GB" sz="1400" noProof="0" err="1">
                <a:latin typeface="Consolas" panose="020B0609020204030204" pitchFamily="49" charset="0"/>
              </a:rPr>
              <a:t>mub</a:t>
            </a:r>
            <a:r>
              <a:rPr lang="en-GB" sz="1400" noProof="0">
                <a:latin typeface="Consolas" panose="020B0609020204030204" pitchFamily="49" charset="0"/>
              </a:rPr>
              <a:t>=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400" noProof="0">
                <a:latin typeface="Consolas" panose="020B0609020204030204" pitchFamily="49" charset="0"/>
              </a:rPr>
              <a:t>, </a:t>
            </a:r>
            <a:r>
              <a:rPr lang="en-GB" sz="1400" noProof="0" err="1">
                <a:latin typeface="Consolas" panose="020B0609020204030204" pitchFamily="49" charset="0"/>
              </a:rPr>
              <a:t>taud</a:t>
            </a:r>
            <a:r>
              <a:rPr lang="en-GB" sz="1400" noProof="0">
                <a:latin typeface="Consolas" panose="020B0609020204030204" pitchFamily="49" charset="0"/>
              </a:rPr>
              <a:t>=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en-GB" sz="1400" noProof="0">
                <a:latin typeface="Consolas" panose="020B0609020204030204" pitchFamily="49" charset="0"/>
              </a:rPr>
              <a:t>, </a:t>
            </a:r>
            <a:r>
              <a:rPr lang="en-GB" sz="1400" noProof="0" err="1">
                <a:latin typeface="Consolas" panose="020B0609020204030204" pitchFamily="49" charset="0"/>
              </a:rPr>
              <a:t>taub</a:t>
            </a:r>
            <a:r>
              <a:rPr lang="en-GB" sz="1400" noProof="0">
                <a:latin typeface="Consolas" panose="020B0609020204030204" pitchFamily="49" charset="0"/>
              </a:rPr>
              <a:t>=</a:t>
            </a:r>
            <a:r>
              <a:rPr lang="en-GB" sz="1400" noProof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en-GB" sz="1400" noProof="0">
                <a:latin typeface="Consolas" panose="020B0609020204030204" pitchFamily="49" charset="0"/>
              </a:rPr>
              <a:t>, d=rep(0,n), b=rep(0,n))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 err="1">
                <a:latin typeface="Consolas" panose="020B0609020204030204" pitchFamily="49" charset="0"/>
              </a:rPr>
              <a:t>myinits</a:t>
            </a:r>
            <a:r>
              <a:rPr lang="en-GB" sz="1400" noProof="0">
                <a:latin typeface="Consolas" panose="020B0609020204030204" pitchFamily="49" charset="0"/>
              </a:rPr>
              <a:t> &lt;- list(</a:t>
            </a:r>
            <a:r>
              <a:rPr lang="en-GB" sz="1400" noProof="0" err="1">
                <a:latin typeface="Consolas" panose="020B0609020204030204" pitchFamily="49" charset="0"/>
              </a:rPr>
              <a:t>oneinit</a:t>
            </a:r>
            <a:r>
              <a:rPr lang="en-GB" sz="1400" noProof="0">
                <a:latin typeface="Consolas" panose="020B0609020204030204" pitchFamily="49" charset="0"/>
              </a:rPr>
              <a:t>)[rep(1,4)]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 err="1">
                <a:latin typeface="Consolas" panose="020B0609020204030204" pitchFamily="49" charset="0"/>
              </a:rPr>
              <a:t>sdtjh</a:t>
            </a:r>
            <a:r>
              <a:rPr lang="en-GB" sz="1400" noProof="0">
                <a:latin typeface="Consolas" panose="020B0609020204030204" pitchFamily="49" charset="0"/>
              </a:rPr>
              <a:t> &lt;- </a:t>
            </a:r>
            <a:r>
              <a:rPr lang="en-GB" sz="1400" noProof="0" err="1">
                <a:latin typeface="Consolas" panose="020B0609020204030204" pitchFamily="49" charset="0"/>
              </a:rPr>
              <a:t>jags.model</a:t>
            </a:r>
            <a:r>
              <a:rPr lang="en-GB" sz="1400" noProof="0">
                <a:latin typeface="Consolas" panose="020B0609020204030204" pitchFamily="49" charset="0"/>
              </a:rPr>
              <a:t>("</a:t>
            </a:r>
            <a:r>
              <a:rPr lang="en-GB" sz="1400" noProof="0" err="1">
                <a:latin typeface="Consolas" panose="020B0609020204030204" pitchFamily="49" charset="0"/>
              </a:rPr>
              <a:t>SDThierarch.j</a:t>
            </a:r>
            <a:r>
              <a:rPr lang="en-GB" sz="1400" noProof="0">
                <a:latin typeface="Consolas" panose="020B0609020204030204" pitchFamily="49" charset="0"/>
              </a:rPr>
              <a:t>",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 data = list("epsilon"=0.001,"h"=h, "f"=f,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>
                <a:latin typeface="Consolas" panose="020B0609020204030204" pitchFamily="49" charset="0"/>
              </a:rPr>
              <a:t>     </a:t>
            </a:r>
            <a:r>
              <a:rPr lang="en-GB" sz="1400" noProof="0">
                <a:latin typeface="Consolas" panose="020B0609020204030204" pitchFamily="49" charset="0"/>
              </a:rPr>
              <a:t>"n"=n, "</a:t>
            </a:r>
            <a:r>
              <a:rPr lang="en-GB" sz="1400" noProof="0" err="1">
                <a:latin typeface="Consolas" panose="020B0609020204030204" pitchFamily="49" charset="0"/>
              </a:rPr>
              <a:t>sigtrials</a:t>
            </a:r>
            <a:r>
              <a:rPr lang="en-GB" sz="1400" noProof="0">
                <a:latin typeface="Consolas" panose="020B0609020204030204" pitchFamily="49" charset="0"/>
              </a:rPr>
              <a:t>" =</a:t>
            </a:r>
            <a:r>
              <a:rPr lang="en-GB" sz="1400" noProof="0" err="1">
                <a:latin typeface="Consolas" panose="020B0609020204030204" pitchFamily="49" charset="0"/>
              </a:rPr>
              <a:t>sigtrials</a:t>
            </a:r>
            <a:r>
              <a:rPr lang="en-GB" sz="1400" noProof="0">
                <a:latin typeface="Consolas" panose="020B0609020204030204" pitchFamily="49" charset="0"/>
              </a:rPr>
              <a:t>,</a:t>
            </a:r>
            <a:r>
              <a:rPr lang="en-GB" sz="1400">
                <a:latin typeface="Consolas" panose="020B06090202040302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 "</a:t>
            </a:r>
            <a:r>
              <a:rPr lang="en-GB" sz="1400" noProof="0" err="1">
                <a:latin typeface="Consolas" panose="020B0609020204030204" pitchFamily="49" charset="0"/>
              </a:rPr>
              <a:t>noistrials</a:t>
            </a:r>
            <a:r>
              <a:rPr lang="en-GB" sz="1400" noProof="0">
                <a:latin typeface="Consolas" panose="020B0609020204030204" pitchFamily="49" charset="0"/>
              </a:rPr>
              <a:t>"=</a:t>
            </a:r>
            <a:r>
              <a:rPr lang="en-GB" sz="1400" noProof="0" err="1">
                <a:latin typeface="Consolas" panose="020B0609020204030204" pitchFamily="49" charset="0"/>
              </a:rPr>
              <a:t>noistrials</a:t>
            </a:r>
            <a:r>
              <a:rPr lang="en-GB" sz="1400" noProof="0">
                <a:latin typeface="Consolas" panose="020B0609020204030204" pitchFamily="49" charset="0"/>
              </a:rPr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     </a:t>
            </a:r>
            <a:r>
              <a:rPr lang="en-GB" sz="1400" noProof="0" err="1">
                <a:latin typeface="Consolas" panose="020B0609020204030204" pitchFamily="49" charset="0"/>
              </a:rPr>
              <a:t>inits</a:t>
            </a:r>
            <a:r>
              <a:rPr lang="en-GB" sz="1400" noProof="0">
                <a:latin typeface="Consolas" panose="020B0609020204030204" pitchFamily="49" charset="0"/>
              </a:rPr>
              <a:t>=</a:t>
            </a:r>
            <a:r>
              <a:rPr lang="en-GB" sz="1400" noProof="0" err="1">
                <a:latin typeface="Consolas" panose="020B0609020204030204" pitchFamily="49" charset="0"/>
              </a:rPr>
              <a:t>myinits</a:t>
            </a:r>
            <a:r>
              <a:rPr lang="en-GB" sz="1400" noProof="0">
                <a:latin typeface="Consolas" panose="020B0609020204030204" pitchFamily="49" charset="0"/>
              </a:rPr>
              <a:t>, </a:t>
            </a:r>
            <a:r>
              <a:rPr lang="en-GB" sz="1400" noProof="0" err="1">
                <a:latin typeface="Consolas" panose="020B0609020204030204" pitchFamily="49" charset="0"/>
              </a:rPr>
              <a:t>n.chains</a:t>
            </a:r>
            <a:r>
              <a:rPr lang="en-GB" sz="1400" noProof="0">
                <a:latin typeface="Consolas" panose="020B0609020204030204" pitchFamily="49" charset="0"/>
              </a:rPr>
              <a:t>=4)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# </a:t>
            </a:r>
            <a:r>
              <a:rPr lang="en-GB" sz="1400" noProof="0" err="1">
                <a:latin typeface="Consolas" panose="020B0609020204030204" pitchFamily="49" charset="0"/>
              </a:rPr>
              <a:t>burnin</a:t>
            </a:r>
            <a:endParaRPr lang="en-GB" sz="14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update(</a:t>
            </a:r>
            <a:r>
              <a:rPr lang="en-GB" sz="1400" noProof="0" err="1">
                <a:latin typeface="Consolas" panose="020B0609020204030204" pitchFamily="49" charset="0"/>
              </a:rPr>
              <a:t>sdtjh,n.iter</a:t>
            </a:r>
            <a:r>
              <a:rPr lang="en-GB" sz="1400" noProof="0">
                <a:latin typeface="Consolas" panose="020B0609020204030204" pitchFamily="49" charset="0"/>
              </a:rPr>
              <a:t>=1000)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# perform MCMC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>
                <a:latin typeface="Consolas" panose="020B0609020204030204" pitchFamily="49" charset="0"/>
              </a:rPr>
              <a:t>parameters &lt;- c("d", "b", "</a:t>
            </a:r>
            <a:r>
              <a:rPr lang="en-GB" sz="1400" noProof="0" err="1">
                <a:latin typeface="Consolas" panose="020B0609020204030204" pitchFamily="49" charset="0"/>
              </a:rPr>
              <a:t>taud</a:t>
            </a:r>
            <a:r>
              <a:rPr lang="en-GB" sz="1400" noProof="0">
                <a:latin typeface="Consolas" panose="020B0609020204030204" pitchFamily="49" charset="0"/>
              </a:rPr>
              <a:t>", "</a:t>
            </a:r>
            <a:r>
              <a:rPr lang="en-GB" sz="1400" noProof="0" err="1">
                <a:latin typeface="Consolas" panose="020B0609020204030204" pitchFamily="49" charset="0"/>
              </a:rPr>
              <a:t>taub</a:t>
            </a:r>
            <a:r>
              <a:rPr lang="en-GB" sz="1400" noProof="0">
                <a:latin typeface="Consolas" panose="020B0609020204030204" pitchFamily="49" charset="0"/>
              </a:rPr>
              <a:t>", "mud", "</a:t>
            </a:r>
            <a:r>
              <a:rPr lang="en-GB" sz="1400" noProof="0" err="1">
                <a:latin typeface="Consolas" panose="020B0609020204030204" pitchFamily="49" charset="0"/>
              </a:rPr>
              <a:t>mub</a:t>
            </a:r>
            <a:r>
              <a:rPr lang="en-GB" sz="1400" noProof="0">
                <a:latin typeface="Consolas" panose="020B0609020204030204" pitchFamily="49" charset="0"/>
              </a:rPr>
              <a:t>", "</a:t>
            </a:r>
            <a:r>
              <a:rPr lang="en-GB" sz="1400" noProof="0" err="1">
                <a:latin typeface="Consolas" panose="020B0609020204030204" pitchFamily="49" charset="0"/>
              </a:rPr>
              <a:t>phih</a:t>
            </a:r>
            <a:r>
              <a:rPr lang="en-GB" sz="1400" noProof="0">
                <a:latin typeface="Consolas" panose="020B0609020204030204" pitchFamily="49" charset="0"/>
              </a:rPr>
              <a:t>", "</a:t>
            </a:r>
            <a:r>
              <a:rPr lang="en-GB" sz="1400" noProof="0" err="1">
                <a:latin typeface="Consolas" panose="020B0609020204030204" pitchFamily="49" charset="0"/>
              </a:rPr>
              <a:t>phif</a:t>
            </a:r>
            <a:r>
              <a:rPr lang="en-GB" sz="1400" noProof="0">
                <a:latin typeface="Consolas" panose="020B0609020204030204" pitchFamily="49" charset="0"/>
              </a:rPr>
              <a:t>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noProof="0" err="1">
                <a:latin typeface="Consolas" panose="020B0609020204030204" pitchFamily="49" charset="0"/>
              </a:rPr>
              <a:t>mcmcfin</a:t>
            </a:r>
            <a:r>
              <a:rPr lang="en-GB" sz="1400" noProof="0">
                <a:latin typeface="Consolas" panose="020B0609020204030204" pitchFamily="49" charset="0"/>
              </a:rPr>
              <a:t>&lt;-</a:t>
            </a:r>
            <a:r>
              <a:rPr lang="en-GB" sz="1400" noProof="0" err="1">
                <a:latin typeface="Consolas" panose="020B0609020204030204" pitchFamily="49" charset="0"/>
              </a:rPr>
              <a:t>coda.samples</a:t>
            </a:r>
            <a:r>
              <a:rPr lang="en-GB" sz="1400" noProof="0">
                <a:latin typeface="Consolas" panose="020B0609020204030204" pitchFamily="49" charset="0"/>
              </a:rPr>
              <a:t>(sdtjh,parameters,5000)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2C7CD2-C467-3E0B-4638-528282555437}"/>
              </a:ext>
            </a:extLst>
          </p:cNvPr>
          <p:cNvSpPr txBox="1"/>
          <p:nvPr/>
        </p:nvSpPr>
        <p:spPr>
          <a:xfrm>
            <a:off x="6172201" y="6359611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>
                <a:solidFill>
                  <a:schemeClr val="bg1">
                    <a:lumMod val="50000"/>
                  </a:schemeClr>
                </a:solidFill>
              </a:rPr>
              <a:t>Running the JAGS model definition (Listing 9-1) in R</a:t>
            </a:r>
          </a:p>
        </p:txBody>
      </p:sp>
    </p:spTree>
    <p:extLst>
      <p:ext uri="{BB962C8B-B14F-4D97-AF65-F5344CB8AC3E}">
        <p14:creationId xmlns:p14="http://schemas.microsoft.com/office/powerpoint/2010/main" val="2577999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34AE-B3A4-78CD-677F-87395590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BF180E-B94D-FA96-A1CC-BC839AB5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Bayes in STAN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84BA1-ED04-1AE0-2E17-0E3B425D37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Specifying a (hierarchical) Bayesian model in </a:t>
            </a:r>
            <a:r>
              <a:rPr lang="en-GB" sz="2400"/>
              <a:t>STAN</a:t>
            </a:r>
            <a:r>
              <a:rPr lang="en-GB" sz="2400" noProof="0"/>
              <a:t> largely follows the approach in JAGS</a:t>
            </a:r>
          </a:p>
          <a:p>
            <a:r>
              <a:rPr lang="en-GB" sz="2400"/>
              <a:t>We add the additional layer of the hierarchy as (parent) distribution of parameters of the participant distribution</a:t>
            </a:r>
          </a:p>
          <a:p>
            <a:r>
              <a:rPr lang="en-GB" sz="2400" noProof="0"/>
              <a:t>The are specified by hyper-hyperparameters, or parameters of the parent distribution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C499A5-874D-F59D-512D-1EB417851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99889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data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int&lt;lower=1&gt;N; // number of participants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int&lt;lower=1&gt;n; // number of trials (signal/noise)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array[N] int&lt;lower=0&gt; 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array[N] int&lt;lower=0&gt; f;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real&lt;lower=0&gt;epsilon;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parameters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real </a:t>
            </a:r>
            <a:r>
              <a:rPr lang="en-GB" sz="1000" noProof="0" err="1">
                <a:latin typeface="Consolas" panose="020B0609020204030204" pitchFamily="49" charset="0"/>
              </a:rPr>
              <a:t>mu_b</a:t>
            </a:r>
            <a:r>
              <a:rPr lang="en-GB" sz="1000" noProof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real </a:t>
            </a:r>
            <a:r>
              <a:rPr lang="en-GB" sz="1000" noProof="0" err="1">
                <a:latin typeface="Consolas" panose="020B0609020204030204" pitchFamily="49" charset="0"/>
              </a:rPr>
              <a:t>mu_d</a:t>
            </a:r>
            <a:r>
              <a:rPr lang="en-GB" sz="1000" noProof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real&lt;lower=0&gt;</a:t>
            </a:r>
            <a:r>
              <a:rPr lang="en-GB" sz="1000" noProof="0" err="1">
                <a:latin typeface="Consolas" panose="020B0609020204030204" pitchFamily="49" charset="0"/>
              </a:rPr>
              <a:t>tau_b</a:t>
            </a:r>
            <a:r>
              <a:rPr lang="en-GB" sz="1000" noProof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real&lt;lower=0&gt;</a:t>
            </a:r>
            <a:r>
              <a:rPr lang="en-GB" sz="1000" noProof="0" err="1">
                <a:latin typeface="Consolas" panose="020B0609020204030204" pitchFamily="49" charset="0"/>
              </a:rPr>
              <a:t>tau_d</a:t>
            </a:r>
            <a:r>
              <a:rPr lang="en-GB" sz="1000" noProof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vector[N] 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vector[N] 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transformed parameters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model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// priors of the parent distribution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</a:t>
            </a:r>
            <a:r>
              <a:rPr lang="en-GB" sz="1000" noProof="0" err="1">
                <a:latin typeface="Consolas" panose="020B0609020204030204" pitchFamily="49" charset="0"/>
              </a:rPr>
              <a:t>mu_b</a:t>
            </a:r>
            <a:r>
              <a:rPr lang="en-GB" sz="1000" noProof="0">
                <a:latin typeface="Consolas" panose="020B0609020204030204" pitchFamily="49" charset="0"/>
              </a:rPr>
              <a:t> ~ normal(0, </a:t>
            </a:r>
            <a:r>
              <a:rPr lang="en-GB" sz="1000" noProof="0" err="1">
                <a:latin typeface="Consolas" panose="020B0609020204030204" pitchFamily="49" charset="0"/>
              </a:rPr>
              <a:t>inv_sqrt</a:t>
            </a:r>
            <a:r>
              <a:rPr lang="en-GB" sz="1000" noProof="0">
                <a:latin typeface="Consolas" panose="020B0609020204030204" pitchFamily="49" charset="0"/>
              </a:rPr>
              <a:t>(epsilon));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</a:t>
            </a:r>
            <a:r>
              <a:rPr lang="en-GB" sz="1000" noProof="0" err="1">
                <a:latin typeface="Consolas" panose="020B0609020204030204" pitchFamily="49" charset="0"/>
              </a:rPr>
              <a:t>mu_d</a:t>
            </a:r>
            <a:r>
              <a:rPr lang="en-GB" sz="1000" noProof="0">
                <a:latin typeface="Consolas" panose="020B0609020204030204" pitchFamily="49" charset="0"/>
              </a:rPr>
              <a:t> ~ normal(0, </a:t>
            </a:r>
            <a:r>
              <a:rPr lang="en-GB" sz="1000" noProof="0" err="1">
                <a:latin typeface="Consolas" panose="020B0609020204030204" pitchFamily="49" charset="0"/>
              </a:rPr>
              <a:t>inv_sqrt</a:t>
            </a:r>
            <a:r>
              <a:rPr lang="en-GB" sz="1000" noProof="0">
                <a:latin typeface="Consolas" panose="020B0609020204030204" pitchFamily="49" charset="0"/>
              </a:rPr>
              <a:t>(epsilon));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</a:t>
            </a:r>
            <a:r>
              <a:rPr lang="en-GB" sz="1000" noProof="0" err="1">
                <a:latin typeface="Consolas" panose="020B0609020204030204" pitchFamily="49" charset="0"/>
              </a:rPr>
              <a:t>tau_b</a:t>
            </a:r>
            <a:r>
              <a:rPr lang="en-GB" sz="1000" noProof="0">
                <a:latin typeface="Consolas" panose="020B0609020204030204" pitchFamily="49" charset="0"/>
              </a:rPr>
              <a:t> ~ gamma(epsilon, epsilon);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</a:t>
            </a:r>
            <a:r>
              <a:rPr lang="en-GB" sz="1000" noProof="0" err="1">
                <a:latin typeface="Consolas" panose="020B0609020204030204" pitchFamily="49" charset="0"/>
              </a:rPr>
              <a:t>tau_d</a:t>
            </a:r>
            <a:r>
              <a:rPr lang="en-GB" sz="1000" noProof="0">
                <a:latin typeface="Consolas" panose="020B0609020204030204" pitchFamily="49" charset="0"/>
              </a:rPr>
              <a:t> ~ gamma(epsilon, epsilon);</a:t>
            </a:r>
          </a:p>
          <a:p>
            <a:pPr marL="0" indent="0">
              <a:spcBef>
                <a:spcPts val="0"/>
              </a:spcBef>
              <a:buNone/>
            </a:pPr>
            <a:endParaRPr lang="en-GB" sz="10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// priors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b ~ normal(</a:t>
            </a:r>
            <a:r>
              <a:rPr lang="en-GB" sz="1000" noProof="0" err="1">
                <a:latin typeface="Consolas" panose="020B0609020204030204" pitchFamily="49" charset="0"/>
              </a:rPr>
              <a:t>mu_b</a:t>
            </a:r>
            <a:r>
              <a:rPr lang="en-GB" sz="1000" noProof="0">
                <a:latin typeface="Consolas" panose="020B0609020204030204" pitchFamily="49" charset="0"/>
              </a:rPr>
              <a:t>, </a:t>
            </a:r>
            <a:r>
              <a:rPr lang="en-GB" sz="1000" noProof="0" err="1">
                <a:latin typeface="Consolas" panose="020B0609020204030204" pitchFamily="49" charset="0"/>
              </a:rPr>
              <a:t>sigma_b</a:t>
            </a:r>
            <a:r>
              <a:rPr lang="en-GB" sz="1000" noProof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d ~ normal(</a:t>
            </a:r>
            <a:r>
              <a:rPr lang="en-GB" sz="1000" noProof="0" err="1">
                <a:latin typeface="Consolas" panose="020B0609020204030204" pitchFamily="49" charset="0"/>
              </a:rPr>
              <a:t>mu_d</a:t>
            </a:r>
            <a:r>
              <a:rPr lang="en-GB" sz="1000" noProof="0">
                <a:latin typeface="Consolas" panose="020B0609020204030204" pitchFamily="49" charset="0"/>
              </a:rPr>
              <a:t>, </a:t>
            </a:r>
            <a:r>
              <a:rPr lang="en-GB" sz="1000" noProof="0" err="1">
                <a:latin typeface="Consolas" panose="020B0609020204030204" pitchFamily="49" charset="0"/>
              </a:rPr>
              <a:t>sigma_d</a:t>
            </a:r>
            <a:r>
              <a:rPr lang="en-GB" sz="1000" noProof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GB" sz="10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// likelihood*prior; observed hits and false alarms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h ~ binomial(n, </a:t>
            </a:r>
            <a:r>
              <a:rPr lang="en-GB" sz="1000" noProof="0" err="1">
                <a:latin typeface="Consolas" panose="020B0609020204030204" pitchFamily="49" charset="0"/>
              </a:rPr>
              <a:t>pred_prob_h</a:t>
            </a:r>
            <a:r>
              <a:rPr lang="en-GB" sz="1000" noProof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  f ~ binomial(n, </a:t>
            </a:r>
            <a:r>
              <a:rPr lang="en-GB" sz="1000" noProof="0" err="1">
                <a:latin typeface="Consolas" panose="020B0609020204030204" pitchFamily="49" charset="0"/>
              </a:rPr>
              <a:t>pred_prob_f</a:t>
            </a:r>
            <a:r>
              <a:rPr lang="en-GB" sz="1000" noProof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00" noProof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3691B3-6732-7633-2BF3-2208510FC900}"/>
              </a:ext>
            </a:extLst>
          </p:cNvPr>
          <p:cNvSpPr txBox="1"/>
          <p:nvPr/>
        </p:nvSpPr>
        <p:spPr>
          <a:xfrm>
            <a:off x="6096000" y="6406560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>
                <a:solidFill>
                  <a:schemeClr val="bg1">
                    <a:lumMod val="50000"/>
                  </a:schemeClr>
                </a:solidFill>
              </a:rPr>
              <a:t>STAN model definition of hierarchical SDT (Listing 9-1)</a:t>
            </a:r>
          </a:p>
        </p:txBody>
      </p:sp>
    </p:spTree>
    <p:extLst>
      <p:ext uri="{BB962C8B-B14F-4D97-AF65-F5344CB8AC3E}">
        <p14:creationId xmlns:p14="http://schemas.microsoft.com/office/powerpoint/2010/main" val="3515685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7F81-55D6-9BB4-4831-D43A54A7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3178F-4196-D4A9-3D07-CBB28D18A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Hierarchical Bayes in STAN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22A617-A951-F284-9A07-6CD2B2AA6D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Specifying a (hierarchical) Bayesian model in </a:t>
            </a:r>
            <a:r>
              <a:rPr lang="en-GB" sz="2400"/>
              <a:t>STAN</a:t>
            </a:r>
            <a:r>
              <a:rPr lang="en-GB" sz="2400" noProof="0"/>
              <a:t> largely follows the approach in JAGS</a:t>
            </a:r>
          </a:p>
          <a:p>
            <a:r>
              <a:rPr lang="en-GB" sz="2400" noProof="0"/>
              <a:t>After having defined the model in STAN, the interfacing via, for example, R is very similar to JAGS</a:t>
            </a:r>
          </a:p>
          <a:p>
            <a:r>
              <a:rPr lang="en-GB" sz="2400"/>
              <a:t>STAN uses even more efficient sampling than JAGS (Hamiltonian Monte Carlo instead of Gibbs)</a:t>
            </a:r>
            <a:endParaRPr lang="en-GB" sz="2400" noProof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26ED7E-34B0-F02B-DB3E-C66954DB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3986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#simulate data from experiment with 10 subjects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n &lt;- 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10</a:t>
            </a:r>
            <a:r>
              <a:rPr lang="en-GB" sz="1200" noProof="0">
                <a:latin typeface="Consolas" panose="020B060902020403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 err="1">
                <a:latin typeface="Consolas" panose="020B0609020204030204" pitchFamily="49" charset="0"/>
              </a:rPr>
              <a:t>sigtrials</a:t>
            </a:r>
            <a:r>
              <a:rPr lang="en-GB" sz="1200" noProof="0">
                <a:latin typeface="Consolas" panose="020B0609020204030204" pitchFamily="49" charset="0"/>
              </a:rPr>
              <a:t> &lt;- </a:t>
            </a:r>
            <a:r>
              <a:rPr lang="en-GB" sz="1200" noProof="0" err="1">
                <a:latin typeface="Consolas" panose="020B0609020204030204" pitchFamily="49" charset="0"/>
              </a:rPr>
              <a:t>noistrials</a:t>
            </a:r>
            <a:r>
              <a:rPr lang="en-GB" sz="1200" noProof="0">
                <a:latin typeface="Consolas" panose="020B0609020204030204" pitchFamily="49" charset="0"/>
              </a:rPr>
              <a:t> &lt;- 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100</a:t>
            </a:r>
            <a:r>
              <a:rPr lang="en-GB" sz="1200" noProof="0">
                <a:latin typeface="Consolas" panose="020B06090202040302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h &lt;- </a:t>
            </a:r>
            <a:r>
              <a:rPr lang="en-GB" sz="1200" noProof="0" err="1">
                <a:latin typeface="Consolas" panose="020B0609020204030204" pitchFamily="49" charset="0"/>
              </a:rPr>
              <a:t>rbinom</a:t>
            </a:r>
            <a:r>
              <a:rPr lang="en-GB" sz="1200" noProof="0">
                <a:latin typeface="Consolas" panose="020B0609020204030204" pitchFamily="49" charset="0"/>
              </a:rPr>
              <a:t>(</a:t>
            </a:r>
            <a:r>
              <a:rPr lang="en-GB" sz="1200" noProof="0" err="1">
                <a:latin typeface="Consolas" panose="020B0609020204030204" pitchFamily="49" charset="0"/>
              </a:rPr>
              <a:t>n,sigtrials</a:t>
            </a:r>
            <a:r>
              <a:rPr lang="en-GB" sz="1200" noProof="0">
                <a:latin typeface="Consolas" panose="020B0609020204030204" pitchFamily="49" charset="0"/>
              </a:rPr>
              <a:t>, 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.8</a:t>
            </a:r>
            <a:r>
              <a:rPr lang="en-GB" sz="1200" noProof="0">
                <a:latin typeface="Consolas" panose="020B0609020204030204" pitchFamily="49" charset="0"/>
              </a:rPr>
              <a:t>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f &lt;- </a:t>
            </a:r>
            <a:r>
              <a:rPr lang="en-GB" sz="1200" noProof="0" err="1">
                <a:latin typeface="Consolas" panose="020B0609020204030204" pitchFamily="49" charset="0"/>
              </a:rPr>
              <a:t>rbinom</a:t>
            </a:r>
            <a:r>
              <a:rPr lang="en-GB" sz="1200" noProof="0">
                <a:latin typeface="Consolas" panose="020B0609020204030204" pitchFamily="49" charset="0"/>
              </a:rPr>
              <a:t>(</a:t>
            </a:r>
            <a:r>
              <a:rPr lang="en-GB" sz="1200" noProof="0" err="1">
                <a:latin typeface="Consolas" panose="020B0609020204030204" pitchFamily="49" charset="0"/>
              </a:rPr>
              <a:t>n,noistrials</a:t>
            </a:r>
            <a:r>
              <a:rPr lang="en-GB" sz="1200" noProof="0">
                <a:latin typeface="Consolas" panose="020B0609020204030204" pitchFamily="49" charset="0"/>
              </a:rPr>
              <a:t>, 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.2</a:t>
            </a:r>
            <a:r>
              <a:rPr lang="en-GB" sz="1200" noProof="0">
                <a:latin typeface="Consolas" panose="020B0609020204030204" pitchFamily="49" charset="0"/>
              </a:rPr>
              <a:t>)  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### using STAN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library</a:t>
            </a:r>
            <a:r>
              <a:rPr lang="en-GB" sz="1200" noProof="0">
                <a:latin typeface="Consolas" panose="020B0609020204030204" pitchFamily="49" charset="0"/>
              </a:rPr>
              <a:t>(</a:t>
            </a:r>
            <a:r>
              <a:rPr lang="en-GB" sz="1200" noProof="0" err="1">
                <a:latin typeface="Consolas" panose="020B0609020204030204" pitchFamily="49" charset="0"/>
              </a:rPr>
              <a:t>rstan</a:t>
            </a:r>
            <a:r>
              <a:rPr lang="en-GB" sz="12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data &lt;- list(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"epsilon"</a:t>
            </a:r>
            <a:r>
              <a:rPr lang="en-GB" sz="1200" noProof="0">
                <a:latin typeface="Consolas" panose="020B0609020204030204" pitchFamily="49" charset="0"/>
              </a:rPr>
              <a:t>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0.001</a:t>
            </a:r>
            <a:r>
              <a:rPr lang="en-GB" sz="1200" noProof="0">
                <a:latin typeface="Consolas" panose="020B0609020204030204" pitchFamily="49" charset="0"/>
              </a:rPr>
              <a:t>,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"h"</a:t>
            </a:r>
            <a:r>
              <a:rPr lang="en-GB" sz="1200" noProof="0">
                <a:latin typeface="Consolas" panose="020B0609020204030204" pitchFamily="49" charset="0"/>
              </a:rPr>
              <a:t>=h, 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"f"</a:t>
            </a:r>
            <a:r>
              <a:rPr lang="en-GB" sz="1200" noProof="0">
                <a:latin typeface="Consolas" panose="020B0609020204030204" pitchFamily="49" charset="0"/>
              </a:rPr>
              <a:t>=f, 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"N"</a:t>
            </a:r>
            <a:r>
              <a:rPr lang="en-GB" sz="1200" noProof="0">
                <a:latin typeface="Consolas" panose="020B0609020204030204" pitchFamily="49" charset="0"/>
              </a:rPr>
              <a:t>=n,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                 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"n"</a:t>
            </a:r>
            <a:r>
              <a:rPr lang="en-GB" sz="1200" noProof="0">
                <a:latin typeface="Consolas" panose="020B0609020204030204" pitchFamily="49" charset="0"/>
              </a:rPr>
              <a:t> =</a:t>
            </a:r>
            <a:r>
              <a:rPr lang="en-GB" sz="1200" noProof="0" err="1">
                <a:latin typeface="Consolas" panose="020B0609020204030204" pitchFamily="49" charset="0"/>
              </a:rPr>
              <a:t>sigtrials</a:t>
            </a:r>
            <a:r>
              <a:rPr lang="en-GB" sz="12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 err="1">
                <a:latin typeface="Consolas" panose="020B0609020204030204" pitchFamily="49" charset="0"/>
              </a:rPr>
              <a:t>inits</a:t>
            </a:r>
            <a:r>
              <a:rPr lang="en-GB" sz="1200" noProof="0">
                <a:latin typeface="Consolas" panose="020B0609020204030204" pitchFamily="49" charset="0"/>
              </a:rPr>
              <a:t> &lt;- list(list(d=rep(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200" noProof="0">
                <a:latin typeface="Consolas" panose="020B0609020204030204" pitchFamily="49" charset="0"/>
              </a:rPr>
              <a:t>, n), b=rep(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200" noProof="0">
                <a:latin typeface="Consolas" panose="020B0609020204030204" pitchFamily="49" charset="0"/>
              </a:rPr>
              <a:t>, n), </a:t>
            </a:r>
            <a:r>
              <a:rPr lang="en-GB" sz="1200" noProof="0" err="1">
                <a:latin typeface="Consolas" panose="020B0609020204030204" pitchFamily="49" charset="0"/>
              </a:rPr>
              <a:t>mu_d</a:t>
            </a:r>
            <a:r>
              <a:rPr lang="en-GB" sz="1200" noProof="0">
                <a:latin typeface="Consolas" panose="020B0609020204030204" pitchFamily="49" charset="0"/>
              </a:rPr>
              <a:t>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200" noProof="0"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	</a:t>
            </a:r>
            <a:r>
              <a:rPr lang="en-GB" sz="1200" noProof="0" err="1">
                <a:latin typeface="Consolas" panose="020B0609020204030204" pitchFamily="49" charset="0"/>
              </a:rPr>
              <a:t>mu_b</a:t>
            </a:r>
            <a:r>
              <a:rPr lang="en-GB" sz="1200" noProof="0">
                <a:latin typeface="Consolas" panose="020B0609020204030204" pitchFamily="49" charset="0"/>
              </a:rPr>
              <a:t>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en-GB" sz="1200" noProof="0">
                <a:latin typeface="Consolas" panose="020B0609020204030204" pitchFamily="49" charset="0"/>
              </a:rPr>
              <a:t>, </a:t>
            </a:r>
            <a:r>
              <a:rPr lang="en-GB" sz="1200" noProof="0" err="1">
                <a:latin typeface="Consolas" panose="020B0609020204030204" pitchFamily="49" charset="0"/>
              </a:rPr>
              <a:t>tau_d</a:t>
            </a:r>
            <a:r>
              <a:rPr lang="en-GB" sz="1200" noProof="0">
                <a:latin typeface="Consolas" panose="020B0609020204030204" pitchFamily="49" charset="0"/>
              </a:rPr>
              <a:t>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en-GB" sz="1200" noProof="0">
                <a:latin typeface="Consolas" panose="020B0609020204030204" pitchFamily="49" charset="0"/>
              </a:rPr>
              <a:t>, </a:t>
            </a:r>
            <a:r>
              <a:rPr lang="en-GB" sz="1200" noProof="0" err="1">
                <a:latin typeface="Consolas" panose="020B0609020204030204" pitchFamily="49" charset="0"/>
              </a:rPr>
              <a:t>tau_b</a:t>
            </a:r>
            <a:r>
              <a:rPr lang="en-GB" sz="1200" noProof="0">
                <a:latin typeface="Consolas" panose="020B0609020204030204" pitchFamily="49" charset="0"/>
              </a:rPr>
              <a:t>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en-GB" sz="1200" noProof="0">
                <a:latin typeface="Consolas" panose="020B0609020204030204" pitchFamily="49" charset="0"/>
              </a:rPr>
              <a:t>))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 err="1">
                <a:latin typeface="Consolas" panose="020B0609020204030204" pitchFamily="49" charset="0"/>
              </a:rPr>
              <a:t>model_SDThierarch</a:t>
            </a:r>
            <a:r>
              <a:rPr lang="en-GB" sz="1200" noProof="0">
                <a:latin typeface="Consolas" panose="020B0609020204030204" pitchFamily="49" charset="0"/>
              </a:rPr>
              <a:t>&lt;-</a:t>
            </a:r>
            <a:r>
              <a:rPr lang="en-GB" sz="1200" noProof="0" err="1">
                <a:latin typeface="Consolas" panose="020B0609020204030204" pitchFamily="49" charset="0"/>
              </a:rPr>
              <a:t>stan_model</a:t>
            </a:r>
            <a:r>
              <a:rPr lang="en-GB" sz="1200" noProof="0">
                <a:latin typeface="Consolas" panose="020B0609020204030204" pitchFamily="49" charset="0"/>
              </a:rPr>
              <a:t>(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GB" sz="1200" noProof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SDThierarch.stan</a:t>
            </a:r>
            <a:r>
              <a:rPr lang="en-GB" sz="1200" noProof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GB" sz="12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>
                <a:latin typeface="Consolas" panose="020B0609020204030204" pitchFamily="49" charset="0"/>
              </a:rPr>
              <a:t>fit&lt;-sampling(</a:t>
            </a:r>
            <a:r>
              <a:rPr lang="en-GB" sz="1200" noProof="0" err="1">
                <a:latin typeface="Consolas" panose="020B0609020204030204" pitchFamily="49" charset="0"/>
              </a:rPr>
              <a:t>model_SDThierarch</a:t>
            </a:r>
            <a:r>
              <a:rPr lang="en-GB" sz="1200" noProof="0">
                <a:latin typeface="Consolas" panose="020B0609020204030204" pitchFamily="49" charset="0"/>
              </a:rPr>
              <a:t>, data=data, chains=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4</a:t>
            </a:r>
            <a:r>
              <a:rPr lang="en-GB" sz="1200" noProof="0"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>
                <a:latin typeface="Consolas" panose="020B0609020204030204" pitchFamily="49" charset="0"/>
              </a:rPr>
              <a:t>	</a:t>
            </a:r>
            <a:r>
              <a:rPr lang="en-GB" sz="1200" noProof="0" err="1">
                <a:latin typeface="Consolas" panose="020B0609020204030204" pitchFamily="49" charset="0"/>
              </a:rPr>
              <a:t>init</a:t>
            </a:r>
            <a:r>
              <a:rPr lang="en-GB" sz="1200" noProof="0">
                <a:latin typeface="Consolas" panose="020B0609020204030204" pitchFamily="49" charset="0"/>
              </a:rPr>
              <a:t>=rep(inits,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4</a:t>
            </a:r>
            <a:r>
              <a:rPr lang="en-GB" sz="1200" noProof="0">
                <a:latin typeface="Consolas" panose="020B0609020204030204" pitchFamily="49" charset="0"/>
              </a:rPr>
              <a:t>), iter=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5000</a:t>
            </a:r>
            <a:r>
              <a:rPr lang="en-GB" sz="1200" noProof="0">
                <a:latin typeface="Consolas" panose="020B0609020204030204" pitchFamily="49" charset="0"/>
              </a:rPr>
              <a:t>, warmup=</a:t>
            </a:r>
            <a:r>
              <a:rPr lang="en-GB" sz="1200" noProof="0">
                <a:solidFill>
                  <a:srgbClr val="0070C0"/>
                </a:solidFill>
                <a:latin typeface="Consolas" panose="020B0609020204030204" pitchFamily="49" charset="0"/>
              </a:rPr>
              <a:t>1000</a:t>
            </a:r>
            <a:r>
              <a:rPr lang="en-GB" sz="1200" noProof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 err="1">
                <a:latin typeface="Consolas" panose="020B0609020204030204" pitchFamily="49" charset="0"/>
              </a:rPr>
              <a:t>stan_trace</a:t>
            </a:r>
            <a:r>
              <a:rPr lang="en-GB" sz="1200" noProof="0">
                <a:latin typeface="Consolas" panose="020B0609020204030204" pitchFamily="49" charset="0"/>
              </a:rPr>
              <a:t>(fit)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noProof="0" err="1">
                <a:latin typeface="Consolas" panose="020B0609020204030204" pitchFamily="49" charset="0"/>
              </a:rPr>
              <a:t>stan_hist</a:t>
            </a:r>
            <a:r>
              <a:rPr lang="en-GB" sz="1200" noProof="0">
                <a:latin typeface="Consolas" panose="020B0609020204030204" pitchFamily="49" charset="0"/>
              </a:rPr>
              <a:t>(fit)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200" noProof="0">
              <a:latin typeface="Consolas" panose="020B06090202040302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4DB185D-5F8B-F466-3F64-732F6A356B6C}"/>
              </a:ext>
            </a:extLst>
          </p:cNvPr>
          <p:cNvSpPr txBox="1"/>
          <p:nvPr/>
        </p:nvSpPr>
        <p:spPr>
          <a:xfrm>
            <a:off x="6172201" y="6359611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>
                <a:solidFill>
                  <a:schemeClr val="bg1">
                    <a:lumMod val="50000"/>
                  </a:schemeClr>
                </a:solidFill>
              </a:rPr>
              <a:t>Running the STAN model definition (adapted Listing 9-1) in R</a:t>
            </a:r>
          </a:p>
        </p:txBody>
      </p:sp>
    </p:spTree>
    <p:extLst>
      <p:ext uri="{BB962C8B-B14F-4D97-AF65-F5344CB8AC3E}">
        <p14:creationId xmlns:p14="http://schemas.microsoft.com/office/powerpoint/2010/main" val="421341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BA6EB-D7FE-F4B6-93F8-7362E115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Advantages of hierarchical 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68DF60-80D1-19DF-6F22-E5A27A8E86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Hierarchical modelling allows to model the entire dataset in a single model</a:t>
            </a:r>
          </a:p>
          <a:p>
            <a:r>
              <a:rPr lang="en-GB" sz="2400"/>
              <a:t>Hierarchical modelling provides an elegant solution to the trade-off between fitting individuals and averaged data</a:t>
            </a:r>
          </a:p>
          <a:p>
            <a:r>
              <a:rPr lang="en-GB" sz="2400"/>
              <a:t>Better estimates for single participants, especially relevant, with small dataset per participant </a:t>
            </a:r>
          </a:p>
          <a:p>
            <a:pPr marL="0" indent="0">
              <a:buNone/>
            </a:pPr>
            <a:endParaRPr lang="en-GB" sz="2400" noProof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7315E493-7465-13DA-A755-BC81FC3F39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0665" y="1825625"/>
            <a:ext cx="4964669" cy="43513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941C999-8FCB-27DF-AD27-C15DB7BAE09F}"/>
              </a:ext>
            </a:extLst>
          </p:cNvPr>
          <p:cNvSpPr txBox="1"/>
          <p:nvPr/>
        </p:nvSpPr>
        <p:spPr>
          <a:xfrm>
            <a:off x="6280665" y="6308209"/>
            <a:ext cx="519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Shrinkage, demonstrated by using hierarchical SDT</a:t>
            </a:r>
          </a:p>
        </p:txBody>
      </p:sp>
    </p:spTree>
    <p:extLst>
      <p:ext uri="{BB962C8B-B14F-4D97-AF65-F5344CB8AC3E}">
        <p14:creationId xmlns:p14="http://schemas.microsoft.com/office/powerpoint/2010/main" val="554701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BB88-C7DC-4BB6-C9FE-C47D9F76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Small </a:t>
            </a:r>
            <a:r>
              <a:rPr lang="de-DE" i="1"/>
              <a:t>N</a:t>
            </a:r>
            <a:r>
              <a:rPr lang="de-DE"/>
              <a:t>-design (EM1)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6D55-E972-1705-4F77-3575DF5A1C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/>
              <a:t>“It is more useful to study one animal for 1000 hours than to study 1000 animals for one hour” — B. F. Skinner</a:t>
            </a:r>
          </a:p>
          <a:p>
            <a:pPr marL="0" indent="0">
              <a:buNone/>
            </a:pPr>
            <a:r>
              <a:rPr lang="en-US" sz="2000"/>
              <a:t>It has been argued that massive within-subject designs with few participants have massive advantages when it comes to replicability</a:t>
            </a:r>
          </a:p>
          <a:p>
            <a:r>
              <a:rPr lang="en-US" sz="2000"/>
              <a:t>Each participant is an experiment and </a:t>
            </a:r>
            <a:r>
              <a:rPr lang="en-US" sz="2000" err="1"/>
              <a:t>analysed</a:t>
            </a:r>
            <a:r>
              <a:rPr lang="en-US" sz="2000"/>
              <a:t> on single subject level</a:t>
            </a:r>
          </a:p>
          <a:p>
            <a:r>
              <a:rPr lang="en-US" sz="2000"/>
              <a:t>Each participant can be considered a replication</a:t>
            </a:r>
            <a:endParaRPr lang="da-DK" sz="20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6BB6E4-A776-E6DD-F577-B9FA9FC3F5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1915156"/>
            <a:ext cx="4017962" cy="4099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EA92F-91F3-05A9-388B-6B99E80C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90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0587-4FE4-F74E-68F1-7EA0D680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6BC7A-6AB9-DA0A-3833-F87F4A33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Disadvantages of hierarchical 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22217-5CE6-95B4-2978-CCCF56531B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/>
              <a:t>While hierarchical modelling is an advanced form of modelling data from multiple participants, there</a:t>
            </a:r>
            <a:r>
              <a:rPr lang="en-GB"/>
              <a:t> are some caveats</a:t>
            </a:r>
          </a:p>
          <a:p>
            <a:pPr lvl="1"/>
            <a:r>
              <a:rPr lang="en-GB" noProof="0"/>
              <a:t>Often, we use </a:t>
            </a:r>
            <a:r>
              <a:rPr lang="en-GB"/>
              <a:t>unimodal hyperpriors, which are unlikely to hold if the participants are inhomogeneous</a:t>
            </a:r>
          </a:p>
          <a:p>
            <a:pPr lvl="1"/>
            <a:r>
              <a:rPr lang="en-GB" noProof="0"/>
              <a:t>Complicated and slow </a:t>
            </a:r>
            <a:br>
              <a:rPr lang="en-GB" noProof="0"/>
            </a:br>
            <a:r>
              <a:rPr lang="en-GB" noProof="0"/>
              <a:t>(&gt; </a:t>
            </a:r>
            <a:r>
              <a:rPr lang="en-GB" u="sng" noProof="0"/>
              <a:t>not</a:t>
            </a:r>
            <a:r>
              <a:rPr lang="en-GB" noProof="0"/>
              <a:t> part of the exam)</a:t>
            </a:r>
          </a:p>
          <a:p>
            <a:pPr marL="0" indent="0">
              <a:buNone/>
            </a:pPr>
            <a:endParaRPr lang="en-GB" noProof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1640400-5DF7-043B-A009-0311FB74C7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480945" y="1524186"/>
            <a:ext cx="1466850" cy="3067050"/>
          </a:xfr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A4C7429-BB30-5779-21D3-83F04C268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995" y="2276289"/>
            <a:ext cx="3409950" cy="305752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D27048F-B117-0A46-293B-3D5AB9989EA7}"/>
              </a:ext>
            </a:extLst>
          </p:cNvPr>
          <p:cNvSpPr txBox="1"/>
          <p:nvPr/>
        </p:nvSpPr>
        <p:spPr>
          <a:xfrm>
            <a:off x="7710878" y="6063335"/>
            <a:ext cx="417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>
                    <a:lumMod val="50000"/>
                  </a:schemeClr>
                </a:solidFill>
              </a:rPr>
              <a:t>Navarro, Griffiths, </a:t>
            </a:r>
            <a:r>
              <a:rPr lang="de-DE" err="1">
                <a:solidFill>
                  <a:schemeClr val="bg1">
                    <a:lumMod val="50000"/>
                  </a:schemeClr>
                </a:solidFill>
              </a:rPr>
              <a:t>Steyvers</a:t>
            </a:r>
            <a:r>
              <a:rPr lang="de-DE">
                <a:solidFill>
                  <a:schemeClr val="bg1">
                    <a:lumMod val="50000"/>
                  </a:schemeClr>
                </a:solidFill>
              </a:rPr>
              <a:t>, &amp; Lee (2006)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315D0EE-4DC8-3533-6099-0EB7F6314674}"/>
                  </a:ext>
                </a:extLst>
              </p:cNvPr>
              <p:cNvSpPr txBox="1"/>
              <p:nvPr/>
            </p:nvSpPr>
            <p:spPr>
              <a:xfrm>
                <a:off x="7429272" y="5320757"/>
                <a:ext cx="37850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noProof="0"/>
                  <a:t>Bayesian approach using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noProof="0"/>
                  <a:t> clusters instead of unimodal priors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315D0EE-4DC8-3533-6099-0EB7F631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72" y="5320757"/>
                <a:ext cx="3785098" cy="646331"/>
              </a:xfrm>
              <a:prstGeom prst="rect">
                <a:avLst/>
              </a:prstGeom>
              <a:blipFill>
                <a:blip r:embed="rId4"/>
                <a:stretch>
                  <a:fillRect l="-1449" t="-4717" b="-150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268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3F2B0-8CA0-0273-278C-A872F5BA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D4DC5-2970-D41E-CCD5-D144BDF66F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/>
              <a:t>When working with data from multiple participants, we need to choose whether and how to aggregate the single subject data</a:t>
            </a:r>
          </a:p>
          <a:p>
            <a:r>
              <a:rPr lang="en-GB" sz="2400"/>
              <a:t>Depending on model complexity, we can fit a model to individual datasets</a:t>
            </a:r>
          </a:p>
          <a:p>
            <a:r>
              <a:rPr lang="en-GB" sz="2400"/>
              <a:t>The most advanced method is multilevel/hierarchical modelling</a:t>
            </a:r>
            <a:endParaRPr lang="en-GB" sz="2400" noProof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DCC034-29E8-9F80-F9AF-AAFE65CA66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400" noProof="0"/>
              <a:t>Hierarchical modelling is often connected (but not restricted) to Bayesian hierarchical modelling</a:t>
            </a:r>
          </a:p>
          <a:p>
            <a:r>
              <a:rPr lang="en-GB" sz="2400"/>
              <a:t>Hierarchical modelling is a very elegant solution to the small-N/ big-n vs. big-N/small-n problem</a:t>
            </a:r>
          </a:p>
          <a:p>
            <a:r>
              <a:rPr lang="en-GB" sz="2400" noProof="0"/>
              <a:t>Not a good solution, if we are interested in individual differences/clustering or have an inhomogeneous sample</a:t>
            </a:r>
          </a:p>
          <a:p>
            <a:r>
              <a:rPr lang="en-GB" sz="2400"/>
              <a:t>computationally VERY expensive</a:t>
            </a:r>
            <a:endParaRPr lang="en-GB" sz="2400" noProof="0"/>
          </a:p>
        </p:txBody>
      </p:sp>
    </p:spTree>
    <p:extLst>
      <p:ext uri="{BB962C8B-B14F-4D97-AF65-F5344CB8AC3E}">
        <p14:creationId xmlns:p14="http://schemas.microsoft.com/office/powerpoint/2010/main" val="3367943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4D45C-3756-AF9A-DE87-90A0A177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Coming up next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38498-31D2-98F8-BA2E-D15139A13A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noProof="0" dirty="0"/>
              <a:t>Seminar (May </a:t>
            </a:r>
            <a:r>
              <a:rPr lang="en-GB" sz="2400" b="1" dirty="0"/>
              <a:t>14</a:t>
            </a:r>
            <a:r>
              <a:rPr lang="en-GB" sz="2400" b="1" baseline="30000" noProof="0" dirty="0" err="1"/>
              <a:t>th</a:t>
            </a:r>
            <a:r>
              <a:rPr lang="en-GB" sz="2400" b="1" noProof="0" dirty="0"/>
              <a:t>):</a:t>
            </a:r>
          </a:p>
          <a:p>
            <a:pPr marL="0" indent="0">
              <a:buNone/>
            </a:pPr>
            <a:r>
              <a:rPr lang="en-GB" sz="2400" dirty="0"/>
              <a:t>Presentation: Theory of Visual Attention (TVA)</a:t>
            </a:r>
          </a:p>
          <a:p>
            <a:pPr marL="0" indent="0">
              <a:buNone/>
            </a:pPr>
            <a:r>
              <a:rPr lang="en-GB" sz="2400" noProof="0" dirty="0"/>
              <a:t>Bayesian hierarchical modelling with STAN (</a:t>
            </a:r>
            <a:r>
              <a:rPr lang="en-GB" sz="2400" noProof="0" dirty="0" err="1"/>
              <a:t>RStanTVA</a:t>
            </a:r>
            <a:r>
              <a:rPr lang="en-GB" sz="2400" noProof="0" dirty="0"/>
              <a:t>)</a:t>
            </a:r>
          </a:p>
          <a:p>
            <a:pPr marL="0" indent="0">
              <a:buNone/>
            </a:pPr>
            <a:r>
              <a:rPr lang="en-GB" sz="2400" dirty="0"/>
              <a:t>Implementing TVA</a:t>
            </a:r>
            <a:endParaRPr lang="en-GB" sz="2400" noProof="0" dirty="0"/>
          </a:p>
          <a:p>
            <a:pPr marL="0" indent="0">
              <a:buNone/>
            </a:pPr>
            <a:r>
              <a:rPr lang="en-GB" sz="2400" dirty="0"/>
              <a:t>Introduction to weekly assignment (</a:t>
            </a:r>
            <a:r>
              <a:rPr lang="en-GB" sz="2400" b="1" dirty="0"/>
              <a:t>individually</a:t>
            </a:r>
            <a:r>
              <a:rPr lang="en-GB" sz="2400" dirty="0"/>
              <a:t>, </a:t>
            </a:r>
            <a:r>
              <a:rPr lang="en-GB" sz="2400" b="1" dirty="0"/>
              <a:t>mandatory</a:t>
            </a:r>
            <a:r>
              <a:rPr lang="en-GB" sz="2400" dirty="0"/>
              <a:t>)</a:t>
            </a:r>
            <a:endParaRPr lang="en-GB" sz="2400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EBC372D-0AE4-2D93-DC98-090C05FAFC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noProof="0"/>
              <a:t>Lecture &amp; Seminar (next week):</a:t>
            </a:r>
          </a:p>
          <a:p>
            <a:pPr marL="0" indent="0">
              <a:buNone/>
            </a:pPr>
            <a:r>
              <a:rPr lang="en-GB" sz="2400"/>
              <a:t>Model comparison</a:t>
            </a:r>
          </a:p>
          <a:p>
            <a:pPr marL="0" indent="0">
              <a:buNone/>
            </a:pPr>
            <a:r>
              <a:rPr lang="en-GB" sz="2400"/>
              <a:t>Presentation: Elimination by Aspects (EBA)</a:t>
            </a:r>
          </a:p>
          <a:p>
            <a:pPr marL="0" indent="0">
              <a:buNone/>
            </a:pPr>
            <a:r>
              <a:rPr lang="en-GB" sz="2400" noProof="0"/>
              <a:t>Nested model tests with Likelihood-Ratio test</a:t>
            </a:r>
          </a:p>
          <a:p>
            <a:pPr marL="0" indent="0">
              <a:buNone/>
            </a:pPr>
            <a:r>
              <a:rPr lang="en-GB" sz="2400"/>
              <a:t>AIC/BIC and the Bayes Factor</a:t>
            </a:r>
            <a:endParaRPr lang="en-GB" sz="2400" noProof="0"/>
          </a:p>
          <a:p>
            <a:pPr marL="0" indent="0">
              <a:buNone/>
            </a:pPr>
            <a:r>
              <a:rPr lang="en-GB" sz="2400"/>
              <a:t>Introduction to final weekly assignment (group, voluntary)</a:t>
            </a:r>
            <a:endParaRPr lang="en-GB" sz="2400" noProof="0"/>
          </a:p>
        </p:txBody>
      </p:sp>
    </p:spTree>
    <p:extLst>
      <p:ext uri="{BB962C8B-B14F-4D97-AF65-F5344CB8AC3E}">
        <p14:creationId xmlns:p14="http://schemas.microsoft.com/office/powerpoint/2010/main" val="247591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23523</TotalTime>
  <Words>4205</Words>
  <Application>Microsoft Office PowerPoint</Application>
  <PresentationFormat>Widescreen</PresentationFormat>
  <Paragraphs>540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Consolas</vt:lpstr>
      <vt:lpstr>Office Theme</vt:lpstr>
      <vt:lpstr>Cognitive Modelling</vt:lpstr>
      <vt:lpstr>Course overview</vt:lpstr>
      <vt:lpstr>Course overview</vt:lpstr>
      <vt:lpstr>Recap from last week(s)</vt:lpstr>
      <vt:lpstr>Plan today</vt:lpstr>
      <vt:lpstr>So far we have fit models to individuals; what about when we have a group of individuals?</vt:lpstr>
      <vt:lpstr>Complete pooling</vt:lpstr>
      <vt:lpstr>No pooling</vt:lpstr>
      <vt:lpstr>Partial pooling</vt:lpstr>
      <vt:lpstr>Partial pooling in Stan</vt:lpstr>
      <vt:lpstr>Partial pooling in Stan</vt:lpstr>
      <vt:lpstr>Partial pooling in Stan</vt:lpstr>
      <vt:lpstr>Partial pooling in Stan</vt:lpstr>
      <vt:lpstr>Partial pooling in Stan</vt:lpstr>
      <vt:lpstr>Partial pooling in Stan</vt:lpstr>
      <vt:lpstr>Traditional approaches to grouped data</vt:lpstr>
      <vt:lpstr>Traditional approaches to grouped data</vt:lpstr>
      <vt:lpstr>Hierarchical modelling</vt:lpstr>
      <vt:lpstr>Topics</vt:lpstr>
      <vt:lpstr>Motivation </vt:lpstr>
      <vt:lpstr>Aggregation</vt:lpstr>
      <vt:lpstr>Principal approaches to aggregation</vt:lpstr>
      <vt:lpstr>Fitting the model to averaged data</vt:lpstr>
      <vt:lpstr>Fitting the model to averaged data</vt:lpstr>
      <vt:lpstr>Example: Data averaging</vt:lpstr>
      <vt:lpstr>Vincentizing</vt:lpstr>
      <vt:lpstr>Parameter averaging</vt:lpstr>
      <vt:lpstr>Parameter averaging</vt:lpstr>
      <vt:lpstr>Interval estimates</vt:lpstr>
      <vt:lpstr>Interval estimates</vt:lpstr>
      <vt:lpstr>Outline of the bootstrap procedure</vt:lpstr>
      <vt:lpstr>Bootstrap procedure</vt:lpstr>
      <vt:lpstr>Model-based bootstrap</vt:lpstr>
      <vt:lpstr>Model-based bootstrap</vt:lpstr>
      <vt:lpstr>Model-based bootstrap</vt:lpstr>
      <vt:lpstr>Hierarchical bootstrap</vt:lpstr>
      <vt:lpstr>Hierarchical modelling</vt:lpstr>
      <vt:lpstr>Hierarchical modelling</vt:lpstr>
      <vt:lpstr>LMM as hierarchical modelling</vt:lpstr>
      <vt:lpstr>Hierarchical modelling via LMM</vt:lpstr>
      <vt:lpstr>Hierarchical modelling via LMM</vt:lpstr>
      <vt:lpstr>Bayesian hierarchical modelling</vt:lpstr>
      <vt:lpstr>Bayesian hierarchical modelling</vt:lpstr>
      <vt:lpstr>Hierarchical Bayes in JAGS</vt:lpstr>
      <vt:lpstr>Hierarchical Bayes in JAGS</vt:lpstr>
      <vt:lpstr>Hierarchical Bayes in STAN</vt:lpstr>
      <vt:lpstr>Hierarchical Bayes in STAN</vt:lpstr>
      <vt:lpstr>Advantages of hierarchical modelling</vt:lpstr>
      <vt:lpstr>Small N-design (EM1)</vt:lpstr>
      <vt:lpstr>Disadvantages of hierarchical modelling</vt:lpstr>
      <vt:lpstr>Summary </vt:lpstr>
      <vt:lpstr>Coming up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Skjoldan Mortensen</dc:creator>
  <cp:lastModifiedBy>Erik Skjoldan Mortensen</cp:lastModifiedBy>
  <cp:revision>12</cp:revision>
  <dcterms:created xsi:type="dcterms:W3CDTF">2026-03-09T08:50:13Z</dcterms:created>
  <dcterms:modified xsi:type="dcterms:W3CDTF">2026-05-06T08:19:10Z</dcterms:modified>
</cp:coreProperties>
</file>