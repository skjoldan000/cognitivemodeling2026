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7" r:id="rId2"/>
    <p:sldId id="264" r:id="rId3"/>
    <p:sldId id="265" r:id="rId4"/>
    <p:sldId id="267" r:id="rId5"/>
    <p:sldId id="1147" r:id="rId6"/>
    <p:sldId id="1146" r:id="rId7"/>
    <p:sldId id="444" r:id="rId8"/>
    <p:sldId id="1111" r:id="rId9"/>
    <p:sldId id="1112" r:id="rId10"/>
    <p:sldId id="1117" r:id="rId11"/>
    <p:sldId id="1136" r:id="rId12"/>
    <p:sldId id="1115" r:id="rId13"/>
    <p:sldId id="1148" r:id="rId14"/>
    <p:sldId id="1116" r:id="rId15"/>
    <p:sldId id="1119" r:id="rId16"/>
    <p:sldId id="1118" r:id="rId17"/>
    <p:sldId id="1122" r:id="rId18"/>
    <p:sldId id="1123" r:id="rId19"/>
    <p:sldId id="1120" r:id="rId20"/>
    <p:sldId id="1124" r:id="rId21"/>
    <p:sldId id="1125" r:id="rId22"/>
    <p:sldId id="1126" r:id="rId23"/>
    <p:sldId id="1128" r:id="rId24"/>
    <p:sldId id="1127" r:id="rId25"/>
    <p:sldId id="1129" r:id="rId26"/>
    <p:sldId id="1139" r:id="rId27"/>
    <p:sldId id="1150" r:id="rId28"/>
    <p:sldId id="1149" r:id="rId29"/>
    <p:sldId id="1140" r:id="rId30"/>
    <p:sldId id="1109" r:id="rId31"/>
    <p:sldId id="1131" r:id="rId32"/>
    <p:sldId id="1151" r:id="rId33"/>
    <p:sldId id="1133" r:id="rId34"/>
    <p:sldId id="1132" r:id="rId35"/>
    <p:sldId id="1134" r:id="rId36"/>
    <p:sldId id="1130" r:id="rId37"/>
    <p:sldId id="1121" r:id="rId38"/>
    <p:sldId id="1138" r:id="rId39"/>
    <p:sldId id="1103" r:id="rId40"/>
    <p:sldId id="1141" r:id="rId41"/>
    <p:sldId id="1142" r:id="rId42"/>
    <p:sldId id="1143" r:id="rId43"/>
    <p:sldId id="1106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1373" autoAdjust="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383425-E864-4EC6-8DCC-C7F7972FA25C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6B76A5-28BF-4918-950E-1924E589EB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048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Endtil</a:t>
            </a:r>
            <a:r>
              <a:rPr lang="en-GB" dirty="0"/>
              <a:t> </a:t>
            </a:r>
            <a:r>
              <a:rPr lang="en-GB" dirty="0" err="1"/>
              <a:t>videre</a:t>
            </a:r>
            <a:r>
              <a:rPr lang="en-GB" dirty="0"/>
              <a:t> </a:t>
            </a:r>
            <a:r>
              <a:rPr lang="en-GB" dirty="0" err="1"/>
              <a:t>har</a:t>
            </a:r>
            <a:r>
              <a:rPr lang="en-GB" dirty="0"/>
              <a:t> vi </a:t>
            </a:r>
            <a:r>
              <a:rPr lang="en-GB" dirty="0" err="1"/>
              <a:t>taget</a:t>
            </a:r>
            <a:r>
              <a:rPr lang="en-GB" dirty="0"/>
              <a:t> modeller </a:t>
            </a:r>
            <a:r>
              <a:rPr lang="en-GB" dirty="0" err="1"/>
              <a:t>som</a:t>
            </a:r>
            <a:r>
              <a:rPr lang="en-GB" dirty="0"/>
              <a:t> “</a:t>
            </a:r>
            <a:r>
              <a:rPr lang="en-GB" dirty="0" err="1"/>
              <a:t>givet</a:t>
            </a:r>
            <a:r>
              <a:rPr lang="en-GB" dirty="0"/>
              <a:t>”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været</a:t>
            </a:r>
            <a:r>
              <a:rPr lang="en-GB" dirty="0"/>
              <a:t> </a:t>
            </a:r>
            <a:r>
              <a:rPr lang="en-GB" dirty="0" err="1"/>
              <a:t>interesseret</a:t>
            </a:r>
            <a:r>
              <a:rPr lang="en-GB" dirty="0"/>
              <a:t> I at </a:t>
            </a:r>
            <a:r>
              <a:rPr lang="en-GB" dirty="0" err="1"/>
              <a:t>finde</a:t>
            </a:r>
            <a:r>
              <a:rPr lang="en-GB" dirty="0"/>
              <a:t> </a:t>
            </a:r>
            <a:r>
              <a:rPr lang="en-GB" dirty="0" err="1"/>
              <a:t>parametrene</a:t>
            </a:r>
            <a:r>
              <a:rPr lang="en-GB" dirty="0"/>
              <a:t> der </a:t>
            </a:r>
            <a:r>
              <a:rPr lang="en-GB" dirty="0" err="1"/>
              <a:t>bedst</a:t>
            </a:r>
            <a:r>
              <a:rPr lang="en-GB" dirty="0"/>
              <a:t> passer </a:t>
            </a:r>
            <a:r>
              <a:rPr lang="en-GB" dirty="0" err="1"/>
              <a:t>til</a:t>
            </a:r>
            <a:r>
              <a:rPr lang="en-GB" dirty="0"/>
              <a:t> data (MLE) </a:t>
            </a:r>
            <a:r>
              <a:rPr lang="en-GB" dirty="0" err="1"/>
              <a:t>eller</a:t>
            </a:r>
            <a:r>
              <a:rPr lang="en-GB" dirty="0"/>
              <a:t> de </a:t>
            </a:r>
            <a:r>
              <a:rPr lang="en-GB" dirty="0" err="1"/>
              <a:t>mest</a:t>
            </a:r>
            <a:r>
              <a:rPr lang="en-GB" dirty="0"/>
              <a:t> </a:t>
            </a:r>
            <a:r>
              <a:rPr lang="en-GB" dirty="0" err="1"/>
              <a:t>sandsynlige</a:t>
            </a:r>
            <a:r>
              <a:rPr lang="en-GB" dirty="0"/>
              <a:t> </a:t>
            </a:r>
            <a:r>
              <a:rPr lang="en-GB" dirty="0" err="1"/>
              <a:t>distributioner</a:t>
            </a:r>
            <a:r>
              <a:rPr lang="en-GB" dirty="0"/>
              <a:t> </a:t>
            </a:r>
            <a:r>
              <a:rPr lang="en-GB" dirty="0" err="1"/>
              <a:t>af</a:t>
            </a:r>
            <a:r>
              <a:rPr lang="en-GB" dirty="0"/>
              <a:t> parameter, </a:t>
            </a:r>
            <a:r>
              <a:rPr lang="en-GB" dirty="0" err="1"/>
              <a:t>givet</a:t>
            </a:r>
            <a:r>
              <a:rPr lang="en-GB" dirty="0"/>
              <a:t> data.</a:t>
            </a:r>
          </a:p>
          <a:p>
            <a:r>
              <a:rPr lang="en-GB" dirty="0"/>
              <a:t>Vi </a:t>
            </a:r>
            <a:r>
              <a:rPr lang="en-GB" dirty="0" err="1"/>
              <a:t>bør</a:t>
            </a:r>
            <a:r>
              <a:rPr lang="en-GB" dirty="0"/>
              <a:t> dog </a:t>
            </a:r>
            <a:r>
              <a:rPr lang="en-GB" dirty="0" err="1"/>
              <a:t>principielt</a:t>
            </a:r>
            <a:r>
              <a:rPr lang="en-GB" dirty="0"/>
              <a:t> </a:t>
            </a:r>
            <a:r>
              <a:rPr lang="en-GB" dirty="0" err="1"/>
              <a:t>tage</a:t>
            </a:r>
            <a:r>
              <a:rPr lang="en-GB" dirty="0"/>
              <a:t> stilling </a:t>
            </a:r>
            <a:r>
              <a:rPr lang="en-GB" dirty="0" err="1"/>
              <a:t>til</a:t>
            </a:r>
            <a:r>
              <a:rPr lang="en-GB" dirty="0"/>
              <a:t> den </a:t>
            </a:r>
            <a:r>
              <a:rPr lang="en-GB" dirty="0" err="1"/>
              <a:t>udfordring</a:t>
            </a:r>
            <a:r>
              <a:rPr lang="en-GB" dirty="0"/>
              <a:t>, at alle modeller er </a:t>
            </a:r>
            <a:r>
              <a:rPr lang="en-GB" dirty="0" err="1"/>
              <a:t>forkerte</a:t>
            </a:r>
            <a:r>
              <a:rPr lang="en-GB" dirty="0"/>
              <a:t>, </a:t>
            </a:r>
            <a:r>
              <a:rPr lang="en-GB" dirty="0" err="1"/>
              <a:t>nogle</a:t>
            </a:r>
            <a:r>
              <a:rPr lang="en-GB" dirty="0"/>
              <a:t> er </a:t>
            </a:r>
            <a:r>
              <a:rPr lang="en-GB" dirty="0" err="1"/>
              <a:t>brugbare</a:t>
            </a:r>
            <a:r>
              <a:rPr lang="en-GB" dirty="0"/>
              <a:t>,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nogle</a:t>
            </a:r>
            <a:r>
              <a:rPr lang="en-GB" dirty="0"/>
              <a:t> er </a:t>
            </a:r>
            <a:r>
              <a:rPr lang="en-GB" i="1" dirty="0"/>
              <a:t>mere </a:t>
            </a:r>
            <a:r>
              <a:rPr lang="en-GB" i="0" dirty="0" err="1"/>
              <a:t>brugbare</a:t>
            </a:r>
            <a:r>
              <a:rPr lang="en-GB" i="0" dirty="0"/>
              <a:t> end </a:t>
            </a:r>
            <a:r>
              <a:rPr lang="en-GB" i="0" dirty="0" err="1"/>
              <a:t>andre</a:t>
            </a:r>
            <a:r>
              <a:rPr lang="en-GB" i="0" dirty="0"/>
              <a:t>.</a:t>
            </a:r>
          </a:p>
          <a:p>
            <a:endParaRPr lang="en-GB" i="1" dirty="0"/>
          </a:p>
          <a:p>
            <a:r>
              <a:rPr lang="en-GB" i="0" dirty="0" err="1"/>
              <a:t>Modelsammenligning</a:t>
            </a:r>
            <a:r>
              <a:rPr lang="en-GB" i="0" dirty="0"/>
              <a:t> er da </a:t>
            </a:r>
            <a:r>
              <a:rPr lang="en-GB" i="0" dirty="0" err="1"/>
              <a:t>en</a:t>
            </a:r>
            <a:r>
              <a:rPr lang="en-GB" i="0" dirty="0"/>
              <a:t> </a:t>
            </a:r>
            <a:r>
              <a:rPr lang="en-GB" i="0" dirty="0" err="1"/>
              <a:t>tilgang</a:t>
            </a:r>
            <a:r>
              <a:rPr lang="en-GB" i="0" dirty="0"/>
              <a:t> </a:t>
            </a:r>
            <a:r>
              <a:rPr lang="en-GB" i="0" dirty="0" err="1"/>
              <a:t>hvor</a:t>
            </a:r>
            <a:r>
              <a:rPr lang="en-GB" i="0" dirty="0"/>
              <a:t> der er </a:t>
            </a:r>
            <a:r>
              <a:rPr lang="en-GB" i="0" dirty="0" err="1"/>
              <a:t>principielle</a:t>
            </a:r>
            <a:r>
              <a:rPr lang="en-GB" i="0" dirty="0"/>
              <a:t> </a:t>
            </a:r>
            <a:r>
              <a:rPr lang="en-GB" i="0" dirty="0" err="1"/>
              <a:t>metoder</a:t>
            </a:r>
            <a:r>
              <a:rPr lang="en-GB" i="0" dirty="0"/>
              <a:t> </a:t>
            </a:r>
            <a:r>
              <a:rPr lang="en-GB" i="0" dirty="0" err="1"/>
              <a:t>til</a:t>
            </a:r>
            <a:r>
              <a:rPr lang="en-GB" i="0" dirty="0"/>
              <a:t> at </a:t>
            </a:r>
            <a:r>
              <a:rPr lang="en-GB" i="0" dirty="0" err="1"/>
              <a:t>sammenligne</a:t>
            </a:r>
            <a:r>
              <a:rPr lang="en-GB" i="0" dirty="0"/>
              <a:t> </a:t>
            </a:r>
            <a:r>
              <a:rPr lang="en-GB" i="0" dirty="0" err="1"/>
              <a:t>forskellige</a:t>
            </a:r>
            <a:r>
              <a:rPr lang="en-GB" i="0" dirty="0"/>
              <a:t> modeller for at </a:t>
            </a:r>
            <a:r>
              <a:rPr lang="en-GB" i="0" dirty="0" err="1"/>
              <a:t>finde</a:t>
            </a:r>
            <a:r>
              <a:rPr lang="en-GB" i="0" dirty="0"/>
              <a:t> </a:t>
            </a:r>
            <a:r>
              <a:rPr lang="en-GB" i="0" dirty="0" err="1"/>
              <a:t>frem</a:t>
            </a:r>
            <a:r>
              <a:rPr lang="en-GB" i="0" dirty="0"/>
              <a:t> </a:t>
            </a:r>
            <a:r>
              <a:rPr lang="en-GB" i="0" dirty="0" err="1"/>
              <a:t>til</a:t>
            </a:r>
            <a:r>
              <a:rPr lang="en-GB" i="0" dirty="0"/>
              <a:t> </a:t>
            </a:r>
            <a:r>
              <a:rPr lang="en-GB" i="0" dirty="0" err="1"/>
              <a:t>hvilken</a:t>
            </a:r>
            <a:r>
              <a:rPr lang="en-GB" i="0" dirty="0"/>
              <a:t> model </a:t>
            </a:r>
            <a:r>
              <a:rPr lang="en-GB" i="0" dirty="0" err="1"/>
              <a:t>bedst</a:t>
            </a:r>
            <a:r>
              <a:rPr lang="en-GB" i="0" dirty="0"/>
              <a:t> predictor </a:t>
            </a:r>
            <a:r>
              <a:rPr lang="en-GB" i="0" dirty="0" err="1"/>
              <a:t>ny</a:t>
            </a:r>
            <a:r>
              <a:rPr lang="en-GB" i="0" dirty="0"/>
              <a:t> data, </a:t>
            </a:r>
            <a:r>
              <a:rPr lang="en-GB" i="0" dirty="0" err="1"/>
              <a:t>og</a:t>
            </a:r>
            <a:r>
              <a:rPr lang="en-GB" i="0" dirty="0"/>
              <a:t>/</a:t>
            </a:r>
            <a:r>
              <a:rPr lang="en-GB" i="0" dirty="0" err="1"/>
              <a:t>eller</a:t>
            </a:r>
            <a:r>
              <a:rPr lang="en-GB" i="0" dirty="0"/>
              <a:t> er </a:t>
            </a:r>
            <a:r>
              <a:rPr lang="en-GB" i="0" dirty="0" err="1"/>
              <a:t>mest</a:t>
            </a:r>
            <a:r>
              <a:rPr lang="en-GB" i="0" dirty="0"/>
              <a:t> </a:t>
            </a:r>
            <a:r>
              <a:rPr lang="en-GB" i="0" dirty="0" err="1"/>
              <a:t>sandsynlig</a:t>
            </a:r>
            <a:r>
              <a:rPr lang="en-GB" i="0" dirty="0"/>
              <a:t> </a:t>
            </a:r>
            <a:r>
              <a:rPr lang="en-GB" i="0" dirty="0" err="1"/>
              <a:t>til</a:t>
            </a:r>
            <a:r>
              <a:rPr lang="en-GB" i="0" dirty="0"/>
              <a:t> at have </a:t>
            </a:r>
            <a:r>
              <a:rPr lang="en-GB" i="0" dirty="0" err="1"/>
              <a:t>genereret</a:t>
            </a:r>
            <a:r>
              <a:rPr lang="en-GB" i="0" dirty="0"/>
              <a:t> </a:t>
            </a:r>
            <a:r>
              <a:rPr lang="en-GB" i="0" dirty="0" err="1"/>
              <a:t>dataen</a:t>
            </a:r>
            <a:r>
              <a:rPr lang="en-GB" i="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B76A5-28BF-4918-950E-1924E589EB5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8785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5C2F6-94BD-D292-A56D-AAEBD55BC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A4170-D72C-F24A-3D5B-D4A01AB8A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495ED5-2E27-56D6-778E-23A339C08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Endtil</a:t>
            </a:r>
            <a:r>
              <a:rPr lang="en-GB" dirty="0"/>
              <a:t> </a:t>
            </a:r>
            <a:r>
              <a:rPr lang="en-GB" dirty="0" err="1"/>
              <a:t>videre</a:t>
            </a:r>
            <a:r>
              <a:rPr lang="en-GB" dirty="0"/>
              <a:t> </a:t>
            </a:r>
            <a:r>
              <a:rPr lang="en-GB" dirty="0" err="1"/>
              <a:t>har</a:t>
            </a:r>
            <a:r>
              <a:rPr lang="en-GB" dirty="0"/>
              <a:t> vi </a:t>
            </a:r>
            <a:r>
              <a:rPr lang="en-GB" dirty="0" err="1"/>
              <a:t>taget</a:t>
            </a:r>
            <a:r>
              <a:rPr lang="en-GB" dirty="0"/>
              <a:t> modeller </a:t>
            </a:r>
            <a:r>
              <a:rPr lang="en-GB" dirty="0" err="1"/>
              <a:t>som</a:t>
            </a:r>
            <a:r>
              <a:rPr lang="en-GB" dirty="0"/>
              <a:t> “</a:t>
            </a:r>
            <a:r>
              <a:rPr lang="en-GB" dirty="0" err="1"/>
              <a:t>givet</a:t>
            </a:r>
            <a:r>
              <a:rPr lang="en-GB" dirty="0"/>
              <a:t>”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været</a:t>
            </a:r>
            <a:r>
              <a:rPr lang="en-GB" dirty="0"/>
              <a:t> </a:t>
            </a:r>
            <a:r>
              <a:rPr lang="en-GB" dirty="0" err="1"/>
              <a:t>interesseret</a:t>
            </a:r>
            <a:r>
              <a:rPr lang="en-GB" dirty="0"/>
              <a:t> I at </a:t>
            </a:r>
            <a:r>
              <a:rPr lang="en-GB" dirty="0" err="1"/>
              <a:t>finde</a:t>
            </a:r>
            <a:r>
              <a:rPr lang="en-GB" dirty="0"/>
              <a:t> </a:t>
            </a:r>
            <a:r>
              <a:rPr lang="en-GB" dirty="0" err="1"/>
              <a:t>parametrene</a:t>
            </a:r>
            <a:r>
              <a:rPr lang="en-GB" dirty="0"/>
              <a:t> der </a:t>
            </a:r>
            <a:r>
              <a:rPr lang="en-GB" dirty="0" err="1"/>
              <a:t>bedst</a:t>
            </a:r>
            <a:r>
              <a:rPr lang="en-GB" dirty="0"/>
              <a:t> passer </a:t>
            </a:r>
            <a:r>
              <a:rPr lang="en-GB" dirty="0" err="1"/>
              <a:t>til</a:t>
            </a:r>
            <a:r>
              <a:rPr lang="en-GB" dirty="0"/>
              <a:t> data (MLE) </a:t>
            </a:r>
            <a:r>
              <a:rPr lang="en-GB" dirty="0" err="1"/>
              <a:t>eller</a:t>
            </a:r>
            <a:r>
              <a:rPr lang="en-GB" dirty="0"/>
              <a:t> de </a:t>
            </a:r>
            <a:r>
              <a:rPr lang="en-GB" dirty="0" err="1"/>
              <a:t>mest</a:t>
            </a:r>
            <a:r>
              <a:rPr lang="en-GB" dirty="0"/>
              <a:t> </a:t>
            </a:r>
            <a:r>
              <a:rPr lang="en-GB" dirty="0" err="1"/>
              <a:t>sandsynlige</a:t>
            </a:r>
            <a:r>
              <a:rPr lang="en-GB" dirty="0"/>
              <a:t> </a:t>
            </a:r>
            <a:r>
              <a:rPr lang="en-GB" dirty="0" err="1"/>
              <a:t>distributioner</a:t>
            </a:r>
            <a:r>
              <a:rPr lang="en-GB" dirty="0"/>
              <a:t> </a:t>
            </a:r>
            <a:r>
              <a:rPr lang="en-GB" dirty="0" err="1"/>
              <a:t>af</a:t>
            </a:r>
            <a:r>
              <a:rPr lang="en-GB" dirty="0"/>
              <a:t> parameter, </a:t>
            </a:r>
            <a:r>
              <a:rPr lang="en-GB" dirty="0" err="1"/>
              <a:t>givet</a:t>
            </a:r>
            <a:r>
              <a:rPr lang="en-GB" dirty="0"/>
              <a:t> data.</a:t>
            </a:r>
          </a:p>
          <a:p>
            <a:r>
              <a:rPr lang="en-GB" dirty="0"/>
              <a:t>Vi </a:t>
            </a:r>
            <a:r>
              <a:rPr lang="en-GB" dirty="0" err="1"/>
              <a:t>bør</a:t>
            </a:r>
            <a:r>
              <a:rPr lang="en-GB" dirty="0"/>
              <a:t> dog </a:t>
            </a:r>
            <a:r>
              <a:rPr lang="en-GB" dirty="0" err="1"/>
              <a:t>principielt</a:t>
            </a:r>
            <a:r>
              <a:rPr lang="en-GB" dirty="0"/>
              <a:t> </a:t>
            </a:r>
            <a:r>
              <a:rPr lang="en-GB" dirty="0" err="1"/>
              <a:t>tage</a:t>
            </a:r>
            <a:r>
              <a:rPr lang="en-GB" dirty="0"/>
              <a:t> stilling </a:t>
            </a:r>
            <a:r>
              <a:rPr lang="en-GB" dirty="0" err="1"/>
              <a:t>til</a:t>
            </a:r>
            <a:r>
              <a:rPr lang="en-GB" dirty="0"/>
              <a:t> den </a:t>
            </a:r>
            <a:r>
              <a:rPr lang="en-GB" dirty="0" err="1"/>
              <a:t>udfordring</a:t>
            </a:r>
            <a:r>
              <a:rPr lang="en-GB" dirty="0"/>
              <a:t>, at alle modeller er </a:t>
            </a:r>
            <a:r>
              <a:rPr lang="en-GB" dirty="0" err="1"/>
              <a:t>forkerte</a:t>
            </a:r>
            <a:r>
              <a:rPr lang="en-GB" dirty="0"/>
              <a:t>, </a:t>
            </a:r>
            <a:r>
              <a:rPr lang="en-GB" dirty="0" err="1"/>
              <a:t>nogle</a:t>
            </a:r>
            <a:r>
              <a:rPr lang="en-GB" dirty="0"/>
              <a:t> er </a:t>
            </a:r>
            <a:r>
              <a:rPr lang="en-GB" dirty="0" err="1"/>
              <a:t>brugbare</a:t>
            </a:r>
            <a:r>
              <a:rPr lang="en-GB" dirty="0"/>
              <a:t>,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nogle</a:t>
            </a:r>
            <a:r>
              <a:rPr lang="en-GB" dirty="0"/>
              <a:t> er </a:t>
            </a:r>
            <a:r>
              <a:rPr lang="en-GB" i="1" dirty="0"/>
              <a:t>mere </a:t>
            </a:r>
            <a:r>
              <a:rPr lang="en-GB" i="0" dirty="0" err="1"/>
              <a:t>brugbare</a:t>
            </a:r>
            <a:r>
              <a:rPr lang="en-GB" i="0" dirty="0"/>
              <a:t> end </a:t>
            </a:r>
            <a:r>
              <a:rPr lang="en-GB" i="0" dirty="0" err="1"/>
              <a:t>andre</a:t>
            </a:r>
            <a:r>
              <a:rPr lang="en-GB" i="0" dirty="0"/>
              <a:t>.</a:t>
            </a:r>
          </a:p>
          <a:p>
            <a:endParaRPr lang="en-GB" i="1" dirty="0"/>
          </a:p>
          <a:p>
            <a:r>
              <a:rPr lang="en-GB" i="0" dirty="0" err="1"/>
              <a:t>Modelsammenligning</a:t>
            </a:r>
            <a:r>
              <a:rPr lang="en-GB" i="0" dirty="0"/>
              <a:t> er da </a:t>
            </a:r>
            <a:r>
              <a:rPr lang="en-GB" i="0" dirty="0" err="1"/>
              <a:t>en</a:t>
            </a:r>
            <a:r>
              <a:rPr lang="en-GB" i="0" dirty="0"/>
              <a:t> </a:t>
            </a:r>
            <a:r>
              <a:rPr lang="en-GB" i="0" dirty="0" err="1"/>
              <a:t>tilgang</a:t>
            </a:r>
            <a:r>
              <a:rPr lang="en-GB" i="0" dirty="0"/>
              <a:t> </a:t>
            </a:r>
            <a:r>
              <a:rPr lang="en-GB" i="0" dirty="0" err="1"/>
              <a:t>hvor</a:t>
            </a:r>
            <a:r>
              <a:rPr lang="en-GB" i="0" dirty="0"/>
              <a:t> der er </a:t>
            </a:r>
            <a:r>
              <a:rPr lang="en-GB" i="0" dirty="0" err="1"/>
              <a:t>principielle</a:t>
            </a:r>
            <a:r>
              <a:rPr lang="en-GB" i="0" dirty="0"/>
              <a:t> </a:t>
            </a:r>
            <a:r>
              <a:rPr lang="en-GB" i="0" dirty="0" err="1"/>
              <a:t>metoder</a:t>
            </a:r>
            <a:r>
              <a:rPr lang="en-GB" i="0" dirty="0"/>
              <a:t> </a:t>
            </a:r>
            <a:r>
              <a:rPr lang="en-GB" i="0" dirty="0" err="1"/>
              <a:t>til</a:t>
            </a:r>
            <a:r>
              <a:rPr lang="en-GB" i="0" dirty="0"/>
              <a:t> at </a:t>
            </a:r>
            <a:r>
              <a:rPr lang="en-GB" i="0" dirty="0" err="1"/>
              <a:t>sammenligne</a:t>
            </a:r>
            <a:r>
              <a:rPr lang="en-GB" i="0" dirty="0"/>
              <a:t> </a:t>
            </a:r>
            <a:r>
              <a:rPr lang="en-GB" i="0" dirty="0" err="1"/>
              <a:t>forskellige</a:t>
            </a:r>
            <a:r>
              <a:rPr lang="en-GB" i="0" dirty="0"/>
              <a:t> modeller for at </a:t>
            </a:r>
            <a:r>
              <a:rPr lang="en-GB" i="0" dirty="0" err="1"/>
              <a:t>finde</a:t>
            </a:r>
            <a:r>
              <a:rPr lang="en-GB" i="0" dirty="0"/>
              <a:t> </a:t>
            </a:r>
            <a:r>
              <a:rPr lang="en-GB" i="0" dirty="0" err="1"/>
              <a:t>frem</a:t>
            </a:r>
            <a:r>
              <a:rPr lang="en-GB" i="0" dirty="0"/>
              <a:t> </a:t>
            </a:r>
            <a:r>
              <a:rPr lang="en-GB" i="0" dirty="0" err="1"/>
              <a:t>til</a:t>
            </a:r>
            <a:r>
              <a:rPr lang="en-GB" i="0" dirty="0"/>
              <a:t> </a:t>
            </a:r>
            <a:r>
              <a:rPr lang="en-GB" i="0" dirty="0" err="1"/>
              <a:t>hvilken</a:t>
            </a:r>
            <a:r>
              <a:rPr lang="en-GB" i="0" dirty="0"/>
              <a:t> model </a:t>
            </a:r>
            <a:r>
              <a:rPr lang="en-GB" i="0" dirty="0" err="1"/>
              <a:t>bedst</a:t>
            </a:r>
            <a:r>
              <a:rPr lang="en-GB" i="0" dirty="0"/>
              <a:t> predictor </a:t>
            </a:r>
            <a:r>
              <a:rPr lang="en-GB" i="0" dirty="0" err="1"/>
              <a:t>ny</a:t>
            </a:r>
            <a:r>
              <a:rPr lang="en-GB" i="0" dirty="0"/>
              <a:t> data, </a:t>
            </a:r>
            <a:r>
              <a:rPr lang="en-GB" i="0" dirty="0" err="1"/>
              <a:t>og</a:t>
            </a:r>
            <a:r>
              <a:rPr lang="en-GB" i="0" dirty="0"/>
              <a:t>/</a:t>
            </a:r>
            <a:r>
              <a:rPr lang="en-GB" i="0" dirty="0" err="1"/>
              <a:t>eller</a:t>
            </a:r>
            <a:r>
              <a:rPr lang="en-GB" i="0" dirty="0"/>
              <a:t> er </a:t>
            </a:r>
            <a:r>
              <a:rPr lang="en-GB" i="0" dirty="0" err="1"/>
              <a:t>mest</a:t>
            </a:r>
            <a:r>
              <a:rPr lang="en-GB" i="0" dirty="0"/>
              <a:t> </a:t>
            </a:r>
            <a:r>
              <a:rPr lang="en-GB" i="0" dirty="0" err="1"/>
              <a:t>sandsynlig</a:t>
            </a:r>
            <a:r>
              <a:rPr lang="en-GB" i="0" dirty="0"/>
              <a:t> </a:t>
            </a:r>
            <a:r>
              <a:rPr lang="en-GB" i="0" dirty="0" err="1"/>
              <a:t>til</a:t>
            </a:r>
            <a:r>
              <a:rPr lang="en-GB" i="0" dirty="0"/>
              <a:t> at have </a:t>
            </a:r>
            <a:r>
              <a:rPr lang="en-GB" i="0" dirty="0" err="1"/>
              <a:t>genereret</a:t>
            </a:r>
            <a:r>
              <a:rPr lang="en-GB" i="0" dirty="0"/>
              <a:t> </a:t>
            </a:r>
            <a:r>
              <a:rPr lang="en-GB" i="0" dirty="0" err="1"/>
              <a:t>dataen</a:t>
            </a:r>
            <a:r>
              <a:rPr lang="en-GB" i="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6E74E-01B7-389D-BEEA-18EE2C3278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B76A5-28BF-4918-950E-1924E589EB5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137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A5F72-18BD-CC2A-587F-5805760D8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934E77-81BA-D10F-BD43-4B6E4BA78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166AF6-96F4-E9A6-D3E3-B0484929B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1FE28-A5D5-109C-2EF7-3120146CA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B76A5-28BF-4918-950E-1924E589EB5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944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model may fit better because it is a good characterisation of the true data generation process, or because it is simply more flexible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B76A5-28BF-4918-950E-1924E589EB5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0621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L0: the smaller nested model</a:t>
            </a:r>
          </a:p>
          <a:p>
            <a:r>
              <a:rPr lang="en-GB" dirty="0"/>
              <a:t>L1: the larger more complex model</a:t>
            </a:r>
          </a:p>
          <a:p>
            <a:r>
              <a:rPr lang="en-GB" dirty="0"/>
              <a:t>Their likelihood ratio: lambda = L0/L1: small ratio = large loss of “fit” for the smaller model: close to 1: minimal loss of fit</a:t>
            </a:r>
          </a:p>
          <a:p>
            <a:r>
              <a:rPr lang="en-GB" dirty="0"/>
              <a:t>Deviance = -2loglik</a:t>
            </a:r>
          </a:p>
          <a:p>
            <a:r>
              <a:rPr lang="en-GB" dirty="0"/>
              <a:t>D = 2(L1-L0)</a:t>
            </a:r>
          </a:p>
          <a:p>
            <a:r>
              <a:rPr lang="en-GB" dirty="0"/>
              <a:t>2 makes it asymptotically follow a chi-squared distribution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Lambda = -2(loglik1 – loglik0)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B76A5-28BF-4918-950E-1924E589EB5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0901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Q(): likelihood of the fitted model at the MLE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B76A5-28BF-4918-950E-1924E589EB56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2023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B76A5-28BF-4918-950E-1924E589EB56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404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6E83F-1099-AED1-B490-2D209E7A0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D568AD-5208-71A2-4B11-3673FCD25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D0230-756B-32A2-407C-4D1CD666C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0515A-68F7-4F9C-BBB1-B7948A8F5091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DC592-7223-E81C-F44E-FBEEF4550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C2711-4AAE-4FF3-7A74-856EEFDB9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57516-1017-4688-AF85-5E3B2CDCD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3287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A72FD-F6CE-B0E9-8DF6-B926948F9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D87F5-B142-776A-E8C2-BA73E51A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7B37B-9D7B-1172-2A4B-E09419675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0515A-68F7-4F9C-BBB1-B7948A8F5091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C15F8-529A-0937-D178-EDBE9AC34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A521F-892A-DA96-C654-3D6895EF4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57516-1017-4688-AF85-5E3B2CDCD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0405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F3C6F-0569-2510-F077-128400B07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A6BFE-0B88-9A77-3C03-F283630BC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1F683-942E-24A7-BAD5-B95E339A4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0515A-68F7-4F9C-BBB1-B7948A8F5091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57797-0994-239C-5423-09511DF6C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68228-C0C8-2AEA-E318-DD44EE6B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57516-1017-4688-AF85-5E3B2CDCD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2937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9502A-50C7-F22C-5201-717B5F2FC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8D739-44D2-797E-1157-CD3AE719CC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D397AB-EF93-77D6-DDF3-864133DF1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5E7E7-533A-FA9E-5754-6DC4299B5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0515A-68F7-4F9C-BBB1-B7948A8F5091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F6B6A-78AD-6776-A6BB-52557E5A8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A10E8-DD04-9B14-B8CF-21F24AB9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57516-1017-4688-AF85-5E3B2CDCD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148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79CF7-6552-D6D4-3C82-DC8EA9AB6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6E894-877A-98ED-0297-68D76164D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4E3600-A792-D072-EAD8-388AD64CC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0F8B33-8595-11A5-25A6-3585CDE79F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E4F457-FF28-1E0F-F4CA-DFECDC21E4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849F7-F1D9-20D1-E950-C0DF09DB7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0515A-68F7-4F9C-BBB1-B7948A8F5091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DF71EC-7EAE-99C6-B115-61018D82A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4D5759-1E26-6CF3-BA48-BD74677CD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57516-1017-4688-AF85-5E3B2CDCD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4550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03C55-C08E-B035-5499-A0ED651CF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D2C87E-D57C-CE6B-FE84-ECC882C7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0515A-68F7-4F9C-BBB1-B7948A8F5091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181FB9-E02C-6842-7B96-7FEE8C86D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D86B2-908B-2ED8-4B09-3E42064BD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57516-1017-4688-AF85-5E3B2CDCD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4445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A5FCB4-FA9C-9611-B71D-E7DD93223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0515A-68F7-4F9C-BBB1-B7948A8F5091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91D6DF-4025-801E-6594-838637AE2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66E72-114F-5093-D968-9C454A796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57516-1017-4688-AF85-5E3B2CDCD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4397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9125E-2F74-40BD-DDEE-BF8C4EDA3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65C07-CDF6-0D0B-F911-D56BEC30E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3DDAD-4791-C41F-8877-1EAC61EB8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6BF27-DAD6-E507-B4A6-C54F80DDB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0515A-68F7-4F9C-BBB1-B7948A8F5091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2C67D-3055-3E71-F450-FDA5D0767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0E7113-05B0-944A-C5C7-20D2B206F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57516-1017-4688-AF85-5E3B2CDCD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909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458C5-5103-16AD-B267-BDF8FC16A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112D31-7781-CCA1-517E-866CE86777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7E830-22F3-46DF-6BF1-E15D9B25A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31F75-F583-2C6B-5BB7-62994C5F7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0515A-68F7-4F9C-BBB1-B7948A8F5091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9DEB8-FB82-D9A7-0FE5-EE59EE93F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1C23AE-3F0E-8736-DF2D-BBA714796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57516-1017-4688-AF85-5E3B2CDCD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9392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2B154-6F11-6C14-2F4F-751A3011C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EBF97D-A9C0-6B33-6C4E-AE5DDF86C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635D9-A3DE-029E-B7C1-F849416EF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0515A-68F7-4F9C-BBB1-B7948A8F5091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34DCF-D30E-D1A2-00DB-AB5D75A46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A5820-0A81-A594-B184-F0650284F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57516-1017-4688-AF85-5E3B2CDCD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893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BB8AA2-6B22-5B70-49AB-D424AE785F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994742-FBF6-5997-3B37-FE0FE8845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4F348-4C1E-3344-3387-EB62FB8C6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0515A-68F7-4F9C-BBB1-B7948A8F5091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3EE82-72DF-CE79-EC03-F234F08D7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05DE2-4A90-4B49-181C-2B4DE488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57516-1017-4688-AF85-5E3B2CDCD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605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6F48B4-07BC-900E-8824-B29D4900A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FFCE5-F120-286A-388F-B75D61CD3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E613A-ACD7-53DA-E32E-CB6885E914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0515A-68F7-4F9C-BBB1-B7948A8F5091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76AD1-AD5A-3E5F-53A0-977CE7124D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36678-35B0-0142-F2DA-A727E50A8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257516-1017-4688-AF85-5E3B2CDCDF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271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25203-A6CC-A9C6-0C5D-994A55358C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GB" noProof="0" dirty="0"/>
              <a:t>Cognitive Modelling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3F0A8-0D21-E0F3-9498-95893AE439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GB" noProof="0" dirty="0"/>
              <a:t>Week 5: model comparison</a:t>
            </a:r>
          </a:p>
          <a:p>
            <a:pPr algn="l"/>
            <a:endParaRPr lang="en-GB" noProof="0" dirty="0"/>
          </a:p>
          <a:p>
            <a:pPr algn="l"/>
            <a:r>
              <a:rPr lang="en-GB" noProof="0" dirty="0"/>
              <a:t>2026</a:t>
            </a:r>
          </a:p>
          <a:p>
            <a:pPr algn="l"/>
            <a:r>
              <a:rPr lang="en-GB" noProof="0" dirty="0"/>
              <a:t>Erik Skjoldan Mortensen</a:t>
            </a:r>
          </a:p>
          <a:p>
            <a:pPr algn="l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949141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2FDD8-58C3-DAD6-C4A4-0B056A686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6E1C5-DAB9-8FEF-F92B-02BFA05B9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39931-F125-20C0-5E2F-ADB11FAEC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noProof="0" dirty="0"/>
              <a:t>Lecture 1 (w16): Introduction + What is a (cognitive) model? </a:t>
            </a:r>
          </a:p>
          <a:p>
            <a:r>
              <a:rPr lang="en-GB" noProof="0" dirty="0"/>
              <a:t>Lecture 2 (w17): Parameter estimation </a:t>
            </a:r>
          </a:p>
          <a:p>
            <a:r>
              <a:rPr lang="en-GB" noProof="0" dirty="0"/>
              <a:t>Lecture 3 (w18): Bayesian modelling</a:t>
            </a:r>
          </a:p>
          <a:p>
            <a:r>
              <a:rPr lang="en-GB" noProof="0" dirty="0"/>
              <a:t>Lecture 4 (w19): Hierarchical models</a:t>
            </a:r>
          </a:p>
          <a:p>
            <a:r>
              <a:rPr lang="en-GB" noProof="0" dirty="0"/>
              <a:t>Lecture 5 (w20): Model comparison</a:t>
            </a:r>
          </a:p>
          <a:p>
            <a:r>
              <a:rPr lang="en-GB" noProof="0" dirty="0"/>
              <a:t>Lecture 6 (w21): Neural network models</a:t>
            </a:r>
          </a:p>
          <a:p>
            <a:r>
              <a:rPr lang="en-GB" noProof="0" dirty="0"/>
              <a:t>                     (w22): Pentecost, no lecture! But still seminars</a:t>
            </a:r>
          </a:p>
          <a:p>
            <a:r>
              <a:rPr lang="en-GB" noProof="0" dirty="0"/>
              <a:t>Lecture 7 (w23): Summary, exam questions, no seminars</a:t>
            </a:r>
          </a:p>
          <a:p>
            <a:r>
              <a:rPr lang="en-GB" noProof="0" dirty="0"/>
              <a:t>Exam         (w24): 4-11</a:t>
            </a:r>
            <a:r>
              <a:rPr lang="en-GB" baseline="30000" noProof="0" dirty="0"/>
              <a:t>th</a:t>
            </a:r>
            <a:r>
              <a:rPr lang="en-GB" noProof="0" dirty="0"/>
              <a:t> June</a:t>
            </a:r>
          </a:p>
          <a:p>
            <a:pPr marL="457200" lvl="1" indent="0">
              <a:buNone/>
            </a:pPr>
            <a:endParaRPr lang="en-GB" noProof="0" dirty="0"/>
          </a:p>
          <a:p>
            <a:pPr lvl="1"/>
            <a:endParaRPr lang="en-GB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7FADA2-A9F1-3AAD-D220-FEE7DA4661CE}"/>
              </a:ext>
            </a:extLst>
          </p:cNvPr>
          <p:cNvSpPr/>
          <p:nvPr/>
        </p:nvSpPr>
        <p:spPr>
          <a:xfrm>
            <a:off x="730044" y="3176244"/>
            <a:ext cx="9674943" cy="50462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191512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109BE-57CF-5E49-1AAB-ADA6D63D1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9F7FC-E36F-7389-12CC-25C25A699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0298F-7AB1-75A9-7F35-3EA83E2CC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noProof="0" dirty="0"/>
              <a:t>Lecture 1 (w16): Introduction + What is a (cognitive) model? </a:t>
            </a:r>
          </a:p>
          <a:p>
            <a:r>
              <a:rPr lang="en-GB" noProof="0" dirty="0"/>
              <a:t>Lecture 2 (w17): Parameter estimation </a:t>
            </a:r>
          </a:p>
          <a:p>
            <a:r>
              <a:rPr lang="en-GB" noProof="0" dirty="0"/>
              <a:t>Lecture 3 (w18): Bayesian modelling</a:t>
            </a:r>
          </a:p>
          <a:p>
            <a:r>
              <a:rPr lang="en-GB" noProof="0" dirty="0"/>
              <a:t>Lecture 4 (w19): Hierarchical models</a:t>
            </a:r>
          </a:p>
          <a:p>
            <a:r>
              <a:rPr lang="en-GB" noProof="0" dirty="0"/>
              <a:t>Lecture 5 (w20): Model comparison</a:t>
            </a:r>
          </a:p>
          <a:p>
            <a:r>
              <a:rPr lang="en-GB" noProof="0" dirty="0"/>
              <a:t>Lecture 6 (w21): Neural network models</a:t>
            </a:r>
          </a:p>
          <a:p>
            <a:r>
              <a:rPr lang="en-GB" noProof="0" dirty="0"/>
              <a:t>                     (w22): Pentecost, no lecture! But still seminars</a:t>
            </a:r>
          </a:p>
          <a:p>
            <a:r>
              <a:rPr lang="en-GB" noProof="0" dirty="0"/>
              <a:t>Lecture 7 (w23): Summary, exam questions, no seminars</a:t>
            </a:r>
          </a:p>
          <a:p>
            <a:r>
              <a:rPr lang="en-GB" noProof="0" dirty="0"/>
              <a:t>Exam         (w24): 4-11</a:t>
            </a:r>
            <a:r>
              <a:rPr lang="en-GB" baseline="30000" noProof="0" dirty="0"/>
              <a:t>th</a:t>
            </a:r>
            <a:r>
              <a:rPr lang="en-GB" noProof="0" dirty="0"/>
              <a:t> June</a:t>
            </a:r>
          </a:p>
          <a:p>
            <a:pPr marL="457200" lvl="1" indent="0">
              <a:buNone/>
            </a:pPr>
            <a:endParaRPr lang="en-GB" noProof="0" dirty="0"/>
          </a:p>
          <a:p>
            <a:pPr lvl="1"/>
            <a:endParaRPr lang="en-GB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A32757-ADBC-8DFB-0BBF-CE0E41A29C77}"/>
              </a:ext>
            </a:extLst>
          </p:cNvPr>
          <p:cNvSpPr/>
          <p:nvPr/>
        </p:nvSpPr>
        <p:spPr>
          <a:xfrm>
            <a:off x="730044" y="3602271"/>
            <a:ext cx="9674943" cy="50462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210553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30152-5707-9CCB-F26D-1B99BFC3B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Todays plan: Model comparison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4875B-8C35-5B63-84FD-52A55CC1D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Likelihood ratio testing (for nested models)</a:t>
            </a:r>
          </a:p>
          <a:p>
            <a:r>
              <a:rPr lang="en-GB" dirty="0"/>
              <a:t>Akaike Information Criterion (AIC)</a:t>
            </a:r>
          </a:p>
          <a:p>
            <a:r>
              <a:rPr lang="en-GB" dirty="0"/>
              <a:t>Leave-one-out-cross-validation (LOO-CV)</a:t>
            </a:r>
          </a:p>
          <a:p>
            <a:r>
              <a:rPr lang="en-GB" dirty="0"/>
              <a:t>Bayes factor (BF)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5629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BDB7F-C2AD-D92C-62C1-12B694C27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BE4FF-B8AF-C388-02FB-A3BE0838C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Todays plan: Model comparison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F79B7-C4E4-3040-6420-047095C2A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48016" cy="435133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Which of M1, M2 and M3 best fit an observed data set?</a:t>
            </a:r>
          </a:p>
          <a:p>
            <a:endParaRPr lang="en-GB" dirty="0"/>
          </a:p>
          <a:p>
            <a:r>
              <a:rPr lang="en-GB" dirty="0"/>
              <a:t>All models are wrong, some are useful – and some are more useful than others</a:t>
            </a:r>
          </a:p>
          <a:p>
            <a:endParaRPr lang="en-GB" dirty="0"/>
          </a:p>
          <a:p>
            <a:r>
              <a:rPr lang="en-GB" dirty="0"/>
              <a:t>General issue: If we are comparing 3 different Ptolemaic-style models, one of them can be substantially “better” than the rest by some measure: </a:t>
            </a:r>
            <a:r>
              <a:rPr lang="en-GB" b="1" dirty="0"/>
              <a:t>It is still a misleading model</a:t>
            </a:r>
          </a:p>
          <a:p>
            <a:pPr marL="0" indent="0">
              <a:buNone/>
            </a:pPr>
            <a:r>
              <a:rPr lang="en-GB" dirty="0"/>
              <a:t>	(There is no guarantee that the “true” model is 	included in the set)</a:t>
            </a:r>
            <a:br>
              <a:rPr lang="en-GB" dirty="0"/>
            </a:br>
            <a:r>
              <a:rPr lang="en-GB" dirty="0"/>
              <a:t>	</a:t>
            </a:r>
          </a:p>
          <a:p>
            <a:endParaRPr lang="en-GB" dirty="0"/>
          </a:p>
        </p:txBody>
      </p:sp>
      <p:pic>
        <p:nvPicPr>
          <p:cNvPr id="4" name="Picture 3" descr="Diagram of a diagram of a planet&#10;&#10;AI-generated content may be incorrect.">
            <a:extLst>
              <a:ext uri="{FF2B5EF4-FFF2-40B4-BE49-F238E27FC236}">
                <a16:creationId xmlns:a16="http://schemas.microsoft.com/office/drawing/2014/main" id="{CA759987-C6FC-BEEC-3268-A46AD53C3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4001294"/>
            <a:ext cx="2885230" cy="261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937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4129501-F06E-1D9F-7843-F10EA8FD9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E29C9-086F-0D45-A119-A7157546B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Todays plan: Model comparison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825BA-FC02-9330-1F14-DB5F85F37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So far, we have considered fitting cognitive models, either to individuals or groups, and thereby inferring the distribution of parameter values which are most probable given the data and the model</a:t>
            </a:r>
          </a:p>
          <a:p>
            <a:r>
              <a:rPr lang="en-GB" dirty="0"/>
              <a:t>This assumes an a-priori choice of model</a:t>
            </a:r>
          </a:p>
          <a:p>
            <a:r>
              <a:rPr lang="en-GB" dirty="0"/>
              <a:t>In some instances, we may have multiple candidate models which could all be fitted to the data</a:t>
            </a:r>
          </a:p>
          <a:p>
            <a:r>
              <a:rPr lang="en-GB" dirty="0"/>
              <a:t>Model comparison involves systematic approaches to comparing models in their ability to predict the obtained data set, while accounting for their complexity</a:t>
            </a:r>
          </a:p>
          <a:p>
            <a:r>
              <a:rPr lang="en-GB" dirty="0"/>
              <a:t>All else being equal, we generally favour simpler models if their predictive performance are similar</a:t>
            </a:r>
          </a:p>
        </p:txBody>
      </p:sp>
    </p:spTree>
    <p:extLst>
      <p:ext uri="{BB962C8B-B14F-4D97-AF65-F5344CB8AC3E}">
        <p14:creationId xmlns:p14="http://schemas.microsoft.com/office/powerpoint/2010/main" val="2167016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B32C0C-3427-AA70-5EBF-FA47BE2AD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comparison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C5AA88-FD6B-F00D-5ACD-2D123C877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Nested model tests, likelihood ratio (LR) test</a:t>
            </a:r>
          </a:p>
        </p:txBody>
      </p:sp>
    </p:spTree>
    <p:extLst>
      <p:ext uri="{BB962C8B-B14F-4D97-AF65-F5344CB8AC3E}">
        <p14:creationId xmlns:p14="http://schemas.microsoft.com/office/powerpoint/2010/main" val="3869560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68DD6-8EF1-528C-E990-F15CCA3BF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D2F3B3B-2EBA-F82E-28E2-C1C90D1EC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The problem of model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Inhaltsplatzhalter 9">
                <a:extLst>
                  <a:ext uri="{FF2B5EF4-FFF2-40B4-BE49-F238E27FC236}">
                    <a16:creationId xmlns:a16="http://schemas.microsoft.com/office/drawing/2014/main" id="{F63E2D2F-675B-96C7-0D4C-432EF5FC157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noProof="0" dirty="0"/>
                  <a:t>We have obtained some data </a:t>
                </a:r>
                <a14:m>
                  <m:oMath xmlns:m="http://schemas.openxmlformats.org/officeDocument/2006/math">
                    <m:r>
                      <a:rPr lang="de-DE" b="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noProof="0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We don’t know the functional relationship between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noProof="0" dirty="0"/>
                  <a:t> and </a:t>
                </a:r>
                <a14:m>
                  <m:oMath xmlns:m="http://schemas.openxmlformats.org/officeDocument/2006/math">
                    <m:r>
                      <a:rPr lang="de-DE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noProof="0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We fit one or more candidate models to the observed data.</a:t>
                </a:r>
              </a:p>
              <a:p>
                <a:pPr marL="0" indent="0">
                  <a:buNone/>
                </a:pPr>
                <a:r>
                  <a:rPr lang="en-GB" noProof="0" dirty="0"/>
                  <a:t>How do we decide, which candidate model is “best”? Should we only look at its ability to explain the observed data?</a:t>
                </a:r>
              </a:p>
            </p:txBody>
          </p:sp>
        </mc:Choice>
        <mc:Fallback xmlns="">
          <p:sp>
            <p:nvSpPr>
              <p:cNvPr id="10" name="Inhaltsplatzhalter 9">
                <a:extLst>
                  <a:ext uri="{FF2B5EF4-FFF2-40B4-BE49-F238E27FC236}">
                    <a16:creationId xmlns:a16="http://schemas.microsoft.com/office/drawing/2014/main" id="{F63E2D2F-675B-96C7-0D4C-432EF5FC15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471" t="-2381" r="-105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E8F0F9D-B18A-7C46-AABA-737016EA52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5879145" y="1825625"/>
            <a:ext cx="58820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746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D8E92-6269-FA57-E0A5-D1DF21E6E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Inhaltsplatzhalter 9">
                <a:extLst>
                  <a:ext uri="{FF2B5EF4-FFF2-40B4-BE49-F238E27FC236}">
                    <a16:creationId xmlns:a16="http://schemas.microsoft.com/office/drawing/2014/main" id="{E6BE545A-34BA-63CC-9AA6-DC6F04A586F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sz="2400" noProof="0" dirty="0"/>
                  <a:t>Consider the following data</a:t>
                </a:r>
                <a:endParaRPr lang="en-GB" sz="2400" noProof="0" dirty="0"/>
              </a:p>
              <a:p>
                <a:pPr marL="0" indent="0">
                  <a:buNone/>
                </a:pPr>
                <a:r>
                  <a:rPr lang="en-US" sz="2400" dirty="0"/>
                  <a:t>Fit polynomial models with varying degrees </a:t>
                </a:r>
                <a14:m>
                  <m:oMath xmlns:m="http://schemas.openxmlformats.org/officeDocument/2006/math"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=0,1,…, 10</m:t>
                    </m:r>
                  </m:oMath>
                </a14:m>
                <a:r>
                  <a:rPr lang="en-US" sz="2400" dirty="0"/>
                  <a:t>) to the data</a:t>
                </a:r>
              </a:p>
              <a:p>
                <a:pPr marL="0" indent="0">
                  <a:buNone/>
                </a:pPr>
                <a:r>
                  <a:rPr lang="en-US" sz="2400" dirty="0"/>
                  <a:t>e.g.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0" dirty="0"/>
                  <a:t>…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/>
              </a:p>
              <a:p>
                <a:r>
                  <a:rPr lang="en-GB" sz="2400" dirty="0"/>
                  <a:t>Which one provides the best fit?</a:t>
                </a:r>
              </a:p>
              <a:p>
                <a:r>
                  <a:rPr lang="en-GB" sz="2400" dirty="0"/>
                  <a:t>Which should we choose to captures the features of interest, without fitting to noise?</a:t>
                </a:r>
              </a:p>
            </p:txBody>
          </p:sp>
        </mc:Choice>
        <mc:Fallback xmlns="">
          <p:sp>
            <p:nvSpPr>
              <p:cNvPr id="10" name="Inhaltsplatzhalter 9">
                <a:extLst>
                  <a:ext uri="{FF2B5EF4-FFF2-40B4-BE49-F238E27FC236}">
                    <a16:creationId xmlns:a16="http://schemas.microsoft.com/office/drawing/2014/main" id="{E6BE545A-34BA-63CC-9AA6-DC6F04A586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529" t="-1541" b="-2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el 3">
            <a:extLst>
              <a:ext uri="{FF2B5EF4-FFF2-40B4-BE49-F238E27FC236}">
                <a16:creationId xmlns:a16="http://schemas.microsoft.com/office/drawing/2014/main" id="{71274B0E-831E-0E1D-866A-1B16FDF7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noProof="0" dirty="0"/>
              <a:t>The problem of model complexity</a:t>
            </a:r>
          </a:p>
        </p:txBody>
      </p:sp>
      <p:pic>
        <p:nvPicPr>
          <p:cNvPr id="11" name="Content Placeholder 5">
            <a:extLst>
              <a:ext uri="{FF2B5EF4-FFF2-40B4-BE49-F238E27FC236}">
                <a16:creationId xmlns:a16="http://schemas.microsoft.com/office/drawing/2014/main" id="{54820EB6-70ED-B43D-BDF4-D5FD470BDFC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79145" y="1825625"/>
            <a:ext cx="58820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172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61137E-0429-A4B2-A8B3-B8268CDC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Overfitting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D1CB7A-8982-4C08-A7F6-80A39E7ADC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 noProof="0" dirty="0"/>
              <a:t>If we only go for the best fit and disregard model complexity, we risk overfitting </a:t>
            </a:r>
          </a:p>
          <a:p>
            <a:r>
              <a:rPr lang="en-GB" sz="2400" dirty="0"/>
              <a:t>Overfitting means that in addition to some effects of interest we also fit the model to effects of no interest (noise)</a:t>
            </a:r>
          </a:p>
          <a:p>
            <a:r>
              <a:rPr lang="en-GB" sz="2400" noProof="0" dirty="0"/>
              <a:t>If there is overfitting, this  becomes evident in cross-validation</a:t>
            </a:r>
          </a:p>
          <a:p>
            <a:r>
              <a:rPr lang="en-GB" sz="2400" dirty="0"/>
              <a:t>E.g., Leave-one-out-cross-validation (LOO-CV)</a:t>
            </a:r>
            <a:endParaRPr lang="en-GB" sz="2400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A6FD38-0C46-6B05-3840-52E29AB30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505" y="1502934"/>
            <a:ext cx="4161576" cy="445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12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91EB7-C7C4-E0D0-BAF9-8B406C1BF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F3D4D4-62E8-E30C-B2D2-8B108C338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Nested model tests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4A24BE-BD86-3448-CB39-62EA9562E0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sz="2400" noProof="0" dirty="0"/>
              <a:t>Comparing different polynomial models constitutes a form of nested model tests</a:t>
            </a:r>
          </a:p>
          <a:p>
            <a:r>
              <a:rPr lang="en-GB" sz="2400" dirty="0"/>
              <a:t>Nested model tests are formally based on model selection, but essentially test one or more specific parameters</a:t>
            </a:r>
          </a:p>
          <a:p>
            <a:pPr lvl="1"/>
            <a:r>
              <a:rPr lang="en-GB" sz="2000" dirty="0"/>
              <a:t>Stepwise procedure in linear regression</a:t>
            </a:r>
          </a:p>
          <a:p>
            <a:pPr lvl="1"/>
            <a:r>
              <a:rPr lang="en-GB" sz="2000" noProof="0" dirty="0"/>
              <a:t>Testing fixed</a:t>
            </a:r>
            <a:r>
              <a:rPr lang="en-GB" sz="2000" dirty="0"/>
              <a:t>-effects of parameters across conditions</a:t>
            </a:r>
            <a:endParaRPr lang="en-GB" sz="20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6AB8062B-1915-F82D-CFF9-2295FFD37A6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2506662"/>
                <a:ext cx="5181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Paramters in polynomial </a:t>
                </a:r>
                <a:r>
                  <a:rPr lang="de-DE" sz="2400" dirty="0" err="1"/>
                  <a:t>models</a:t>
                </a:r>
                <a:endParaRPr lang="de-DE" sz="2400" dirty="0"/>
              </a:p>
              <a:p>
                <a:r>
                  <a:rPr lang="de-DE" sz="2400" dirty="0"/>
                  <a:t>Degree 0: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free</a:t>
                </a:r>
                <a:r>
                  <a:rPr lang="de-DE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for</a:t>
                </a:r>
                <a:r>
                  <a:rPr lang="de-DE" sz="2400" dirty="0"/>
                  <a:t> all </a:t>
                </a:r>
                <a:r>
                  <a:rPr lang="de-DE" sz="2400" dirty="0" err="1"/>
                  <a:t>other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paramters</a:t>
                </a:r>
                <a:r>
                  <a:rPr lang="de-DE" sz="2400" dirty="0"/>
                  <a:t> </a:t>
                </a:r>
              </a:p>
              <a:p>
                <a:r>
                  <a:rPr lang="de-DE" sz="2400" dirty="0"/>
                  <a:t>Degree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free</a:t>
                </a:r>
                <a:r>
                  <a:rPr lang="de-DE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2400" dirty="0"/>
                  <a:t> else</a:t>
                </a:r>
              </a:p>
              <a:p>
                <a:r>
                  <a:rPr lang="de-DE" sz="2400" dirty="0"/>
                  <a:t>Degree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free</a:t>
                </a:r>
                <a:r>
                  <a:rPr lang="de-DE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2400" dirty="0"/>
                  <a:t> else</a:t>
                </a:r>
              </a:p>
              <a:p>
                <a:r>
                  <a:rPr lang="de-DE" sz="2400" dirty="0"/>
                  <a:t>…</a:t>
                </a:r>
              </a:p>
              <a:p>
                <a:r>
                  <a:rPr lang="de-DE" sz="2400" dirty="0"/>
                  <a:t>Degree 10: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sz="2400" dirty="0"/>
                  <a:t> free</a:t>
                </a:r>
              </a:p>
              <a:p>
                <a:endParaRPr lang="de-DE" sz="2400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6AB8062B-1915-F82D-CFF9-2295FFD37A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2506662"/>
                <a:ext cx="5181600" cy="4351338"/>
              </a:xfrm>
              <a:blipFill>
                <a:blip r:embed="rId2"/>
                <a:stretch>
                  <a:fillRect l="-1882" t="-1821" r="-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8DB9E9-B0D0-12C0-D447-A40FE0CCC5A7}"/>
                  </a:ext>
                </a:extLst>
              </p:cNvPr>
              <p:cNvSpPr txBox="1"/>
              <p:nvPr/>
            </p:nvSpPr>
            <p:spPr>
              <a:xfrm>
                <a:off x="6417437" y="746024"/>
                <a:ext cx="6097190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…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8DB9E9-B0D0-12C0-D447-A40FE0CCC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7437" y="746024"/>
                <a:ext cx="6097190" cy="1569660"/>
              </a:xfrm>
              <a:prstGeom prst="rect">
                <a:avLst/>
              </a:prstGeom>
              <a:blipFill>
                <a:blip r:embed="rId3"/>
                <a:stretch>
                  <a:fillRect l="-1600" b="-77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6099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19DF24-BAA2-BD12-5730-C25FBE009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The likelihood-ratio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AD20915-3FEC-3B72-799C-E449AB68C95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GB" sz="2400" noProof="0" dirty="0"/>
                  <a:t>The likelihood-ratio (LR) test is a test to compare two </a:t>
                </a:r>
                <a:r>
                  <a:rPr lang="en-GB" sz="2400" b="1" noProof="0" dirty="0"/>
                  <a:t>nested models </a:t>
                </a:r>
              </a:p>
              <a:p>
                <a:r>
                  <a:rPr lang="en-GB" sz="2400" dirty="0"/>
                  <a:t>For the null model, some parameter(s) are set according to the null hypothesis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sz="2000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:</m:t>
                    </m:r>
                    <m:acc>
                      <m:accPr>
                        <m:chr m:val="̂"/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  ∈</m:t>
                    </m:r>
                    <m:r>
                      <m:rPr>
                        <m:sty m:val="p"/>
                      </m:rPr>
                      <a:rPr lang="de-DE" sz="2000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de-DE" sz="2000" b="0" dirty="0"/>
              </a:p>
              <a:p>
                <a:r>
                  <a:rPr lang="en-GB" sz="2400" b="0" noProof="0" dirty="0"/>
                  <a:t>In the example on the right, the null hypothesis is rejected, that is, we prefer the alternative model</a:t>
                </a:r>
              </a:p>
              <a:p>
                <a:r>
                  <a:rPr lang="en-GB" sz="2400" dirty="0"/>
                  <a:t>For non-nested models, we use the more general concept of relative likelihood</a:t>
                </a:r>
                <a:endParaRPr lang="en-GB" sz="2400" noProof="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AD20915-3FEC-3B72-799C-E449AB68C9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647" t="-1821" r="-2118" b="-1316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74A84FC3-05E4-EF08-72D7-B1BE10AB6D5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LR test statistic:</a:t>
                </a:r>
                <a:br>
                  <a:rPr lang="en-GB" sz="2400" dirty="0"/>
                </a:br>
                <a:endParaRPr lang="de-DE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=−2</m:t>
                      </m:r>
                      <m:d>
                        <m:dPr>
                          <m:begChr m:val="["/>
                          <m:endChr m:val="]"/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  <m:d>
                            <m:d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−ℓ</m:t>
                          </m:r>
                          <m:d>
                            <m:d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de-DE" sz="2400" b="0" dirty="0"/>
              </a:p>
              <a:p>
                <a:pPr marL="0" indent="0">
                  <a:buNone/>
                </a:pPr>
                <a:endParaRPr lang="de-DE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∼</m:t>
                          </m:r>
                        </m:e>
                        <m:sup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sSup>
                        <m:sSup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e-DE" sz="2400" b="0" dirty="0"/>
              </a:p>
              <a:p>
                <a:pPr marL="0" indent="0">
                  <a:buNone/>
                </a:pPr>
                <a:r>
                  <a:rPr lang="en-GB" sz="2400" noProof="0" dirty="0"/>
                  <a:t>Example: </a:t>
                </a:r>
                <a:br>
                  <a:rPr lang="en-GB" sz="2400" noProof="0" dirty="0"/>
                </a:br>
                <a:r>
                  <a:rPr lang="en-GB" sz="2400" noProof="0" dirty="0"/>
                  <a:t>Polynomial of degrees 0 and 1: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=−2</m:t>
                      </m:r>
                      <m:d>
                        <m:dPr>
                          <m:begChr m:val="["/>
                          <m:endChr m:val="]"/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−28.383+18.236</m:t>
                          </m:r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=20.295</m:t>
                      </m:r>
                    </m:oMath>
                  </m:oMathPara>
                </a14:m>
                <a:endParaRPr lang="de-DE" sz="2400" b="0" dirty="0"/>
              </a:p>
              <a:p>
                <a:pPr marL="0" indent="0">
                  <a:buNone/>
                </a:pPr>
                <a:r>
                  <a:rPr lang="en-GB" sz="2400" noProof="0" dirty="0"/>
                  <a:t>P-value: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sz="2400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400" b="0" i="1" noProof="0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2400" b="0" i="0" noProof="0" smtClean="0">
                              <a:latin typeface="Cambria Math" panose="02040503050406030204" pitchFamily="18" charset="0"/>
                            </a:rPr>
                            <m:t>upper</m:t>
                          </m:r>
                        </m:sub>
                        <m:sup>
                          <m:r>
                            <a:rPr lang="de-DE" sz="24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de-DE" sz="2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noProof="0" smtClean="0">
                              <a:latin typeface="Cambria Math" panose="02040503050406030204" pitchFamily="18" charset="0"/>
                            </a:rPr>
                            <m:t>20.295, </m:t>
                          </m:r>
                          <m:r>
                            <a:rPr lang="de-DE" sz="2400" b="0" i="1" noProof="0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  <m:r>
                            <a:rPr lang="de-DE" sz="2400" b="0" i="1" noProof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de-DE" sz="2400" b="0" i="1" noProof="0" smtClean="0">
                          <a:latin typeface="Cambria Math" panose="02040503050406030204" pitchFamily="18" charset="0"/>
                        </a:rPr>
                        <m:t>=6.7</m:t>
                      </m:r>
                      <m:r>
                        <a:rPr lang="de-DE" sz="2400" b="0" i="1" noProof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de-DE" sz="2400" b="0" i="1" noProof="0" smtClean="0">
                          <a:latin typeface="Cambria Math" panose="02040503050406030204" pitchFamily="18" charset="0"/>
                        </a:rPr>
                        <m:t>−6</m:t>
                      </m:r>
                    </m:oMath>
                  </m:oMathPara>
                </a14:m>
                <a:endParaRPr lang="en-GB" sz="2400" noProof="0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74A84FC3-05E4-EF08-72D7-B1BE10AB6D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 l="-1882" t="-18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0626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81315-DD82-0224-677D-FAD4E30D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task: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9BC08-0AB3-BBBF-2B58-433994F0BE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Open your LBA solution code</a:t>
            </a:r>
          </a:p>
          <a:p>
            <a:r>
              <a:rPr lang="en-GB" dirty="0"/>
              <a:t>Take your two datasets which includes the fast vs accurate instruction.</a:t>
            </a:r>
          </a:p>
          <a:p>
            <a:r>
              <a:rPr lang="en-GB" dirty="0"/>
              <a:t>Now prepare and fit two likelihood functions:</a:t>
            </a:r>
          </a:p>
          <a:p>
            <a:pPr lvl="1"/>
            <a:r>
              <a:rPr lang="en-GB" dirty="0"/>
              <a:t>M0, a simplified model which assumes a shared threshold (</a:t>
            </a:r>
            <a:r>
              <a:rPr lang="en-GB" dirty="0" err="1"/>
              <a:t>b_speed</a:t>
            </a:r>
            <a:r>
              <a:rPr lang="en-GB" dirty="0"/>
              <a:t> = </a:t>
            </a:r>
            <a:r>
              <a:rPr lang="en-GB" dirty="0" err="1"/>
              <a:t>b_acc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M1, the “full” model where they are allowed to be different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19EEA70-2425-EE48-0533-A190DB9F2BD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/>
                  <a:t>Calculate likelihood ratio</a:t>
                </a:r>
              </a:p>
              <a:p>
                <a:r>
                  <a:rPr lang="en-GB" dirty="0"/>
                  <a:t>Calculate deviance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GB" dirty="0"/>
                  <a:t>K: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i="1" smtClean="0">
                        <a:latin typeface="Cambria Math" panose="02040503050406030204" pitchFamily="18" charset="0"/>
                      </a:rPr>
                      <m:t>=-2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loglik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loglik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Use </a:t>
                </a:r>
                <a:r>
                  <a:rPr lang="en-GB" dirty="0" err="1"/>
                  <a:t>pchisq</a:t>
                </a:r>
                <a:r>
                  <a:rPr lang="en-GB" dirty="0"/>
                  <a:t>(D, </a:t>
                </a:r>
                <a:r>
                  <a:rPr lang="en-GB" dirty="0" err="1"/>
                  <a:t>df</a:t>
                </a:r>
                <a:r>
                  <a:rPr lang="en-GB" dirty="0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GB" dirty="0"/>
                  <a:t>K, </a:t>
                </a:r>
                <a:r>
                  <a:rPr lang="en-GB" dirty="0" err="1"/>
                  <a:t>lower.tail</a:t>
                </a:r>
                <a:r>
                  <a:rPr lang="en-GB" dirty="0"/>
                  <a:t> = FALSE)</a:t>
                </a:r>
              </a:p>
              <a:p>
                <a:r>
                  <a:rPr lang="en-GB" dirty="0"/>
                  <a:t>Interpret p-value: is the more complex model justified?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19EEA70-2425-EE48-0533-A190DB9F2B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118" t="-30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119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6128ADF-5483-1502-45B5-E0C78AE75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Non-nested model tests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D1C36CC8-249B-A1DC-01D6-AB04DEF6A82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noProof="0" dirty="0"/>
                  <a:t>To compare non-nested models, we need a more general approach</a:t>
                </a:r>
              </a:p>
              <a:p>
                <a:r>
                  <a:rPr lang="en-GB" sz="2400" noProof="0" dirty="0"/>
                  <a:t>The </a:t>
                </a:r>
                <a:r>
                  <a:rPr lang="en-GB" sz="2400" noProof="0" dirty="0" err="1"/>
                  <a:t>Kullback-Leibler</a:t>
                </a:r>
                <a:r>
                  <a:rPr lang="en-GB" sz="2400" noProof="0" dirty="0"/>
                  <a:t> (KL) divergence is an information-theory based measure of the deviance between a true process and a restricted model</a:t>
                </a:r>
              </a:p>
              <a:p>
                <a:r>
                  <a:rPr lang="en-GB" sz="2400" dirty="0"/>
                  <a:t>KL quantifies, how much information is lost, if high-dimensional data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noProof="0" dirty="0"/>
                  <a:t> is expressed by a lower-dimensional encoder (i.e., our model)</a:t>
                </a:r>
              </a:p>
            </p:txBody>
          </p:sp>
        </mc:Choice>
        <mc:Fallback xmlns="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D1C36CC8-249B-A1DC-01D6-AB04DEF6A8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47" t="-1821" r="-22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5D3536C2-AB99-355E-D6C5-A4AA27346CE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𝐾𝐿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DE" sz="20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de-DE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∫</m:t>
                              </m:r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20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0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de-DE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de-DE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de-DE" sz="2000" b="0" i="0" smtClean="0">
                              <a:latin typeface="Cambria Math" panose="02040503050406030204" pitchFamily="18" charset="0"/>
                            </a:rPr>
                            <m:t>entropy</m:t>
                          </m:r>
                          <m:r>
                            <a:rPr lang="de-DE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de-DE" sz="2000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de-DE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de-DE" sz="2000" b="0" i="0" smtClean="0">
                              <a:latin typeface="Cambria Math" panose="02040503050406030204" pitchFamily="18" charset="0"/>
                            </a:rPr>
                            <m:t>data</m:t>
                          </m:r>
                        </m:lim>
                      </m:limLow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limLow>
                        <m:limLow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∫</m:t>
                              </m:r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20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0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d>
                                        <m:dPr>
                                          <m:ctrlPr>
                                            <a:rPr lang="de-DE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de-DE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de-DE" sz="2000" i="1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de-DE" sz="20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de-DE" sz="2000" b="0" i="0" smtClean="0">
                              <a:latin typeface="Cambria Math" panose="02040503050406030204" pitchFamily="18" charset="0"/>
                            </a:rPr>
                            <m:t>cross</m:t>
                          </m:r>
                          <m:r>
                            <a:rPr lang="de-DE" sz="2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de-DE" sz="2000" b="0" i="0" smtClean="0">
                              <a:latin typeface="Cambria Math" panose="02040503050406030204" pitchFamily="18" charset="0"/>
                            </a:rPr>
                            <m:t>entropy</m:t>
                          </m:r>
                        </m:lim>
                      </m:limLow>
                    </m:oMath>
                  </m:oMathPara>
                </a14:m>
                <a:endParaRPr lang="de-DE" sz="2000" dirty="0"/>
              </a:p>
            </p:txBody>
          </p:sp>
        </mc:Choice>
        <mc:Fallback xmlns="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5D3536C2-AB99-355E-D6C5-A4AA27346C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0942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C492EF-1B9B-25A1-481F-F0E5D6BDD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Information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CEA4B5A-D60E-01D7-6D00-52B586794FC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noProof="0" dirty="0"/>
                  <a:t>Consider a discrete random variable </a:t>
                </a:r>
                <a14:m>
                  <m:oMath xmlns:m="http://schemas.openxmlformats.org/officeDocument/2006/math">
                    <m:r>
                      <a:rPr lang="en-GB" sz="2400" i="1" noProof="0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GB" sz="2400" noProof="0" dirty="0"/>
              </a:p>
              <a:p>
                <a:r>
                  <a:rPr lang="en-GB" sz="2400" noProof="0" dirty="0"/>
                  <a:t>We want to transmit the outcomes of that variable</a:t>
                </a:r>
              </a:p>
              <a:p>
                <a:r>
                  <a:rPr lang="en-GB" sz="2400" noProof="0" dirty="0"/>
                  <a:t>How much information is received/needs to be sent, when we observe a specific realisation of that variable?</a:t>
                </a:r>
              </a:p>
              <a:p>
                <a:pPr lvl="1"/>
                <a:r>
                  <a:rPr lang="en-GB" sz="2000" dirty="0"/>
                  <a:t>Less information when we observe a likely event</a:t>
                </a:r>
              </a:p>
              <a:p>
                <a:pPr lvl="1"/>
                <a:r>
                  <a:rPr lang="en-GB" sz="2000" noProof="0" dirty="0"/>
                  <a:t>More information when we observe a less likely event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CEA4B5A-D60E-01D7-6D00-52B586794F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47" t="-1821" r="-258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E61926F5-225D-894F-A1A6-BBD7637A4AC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noProof="0" dirty="0"/>
                  <a:t>Definition:</a:t>
                </a:r>
              </a:p>
              <a:p>
                <a:pPr marL="0" indent="0">
                  <a:buNone/>
                </a:pPr>
                <a:r>
                  <a:rPr lang="en-GB" sz="2000" noProof="0" dirty="0"/>
                  <a:t>Entropy of a random variable </a:t>
                </a:r>
                <a14:m>
                  <m:oMath xmlns:m="http://schemas.openxmlformats.org/officeDocument/2006/math">
                    <m:r>
                      <a:rPr lang="en-GB" sz="2000" i="1" noProof="0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000" noProof="0" dirty="0"/>
                  <a:t> (in bits):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:=−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b="0" i="0" noProof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de-DE" sz="2000" b="0" noProof="0" dirty="0"/>
              </a:p>
              <a:p>
                <a:pPr marL="0" indent="0">
                  <a:buNone/>
                </a:pPr>
                <a:r>
                  <a:rPr lang="en-GB" sz="2000" noProof="0" dirty="0"/>
                  <a:t>That is, the expected information contained in a single observation. </a:t>
                </a:r>
              </a:p>
              <a:p>
                <a:pPr marL="0" indent="0">
                  <a:buNone/>
                </a:pPr>
                <a:r>
                  <a:rPr lang="en-GB" sz="2000" noProof="0" dirty="0"/>
                  <a:t>Alternatively, the entropy of </a:t>
                </a:r>
                <a14:m>
                  <m:oMath xmlns:m="http://schemas.openxmlformats.org/officeDocument/2006/math">
                    <m:r>
                      <a:rPr lang="en-GB" sz="2000" i="1" noProof="0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000" noProof="0" dirty="0"/>
                  <a:t> may be expressed in </a:t>
                </a:r>
                <a:r>
                  <a:rPr lang="en-GB" sz="2000" noProof="0" dirty="0" err="1"/>
                  <a:t>nats</a:t>
                </a:r>
                <a:r>
                  <a:rPr lang="en-GB" sz="2000" noProof="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:=−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2000" b="0" i="0" noProof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GB" sz="2000" noProof="0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E61926F5-225D-894F-A1A6-BBD7637A4A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761" t="-1676" r="-176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1714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B6562E-8588-73EB-4C08-448D44450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KL-divergence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0D6229-D53D-3E9D-0444-351B1C662F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GB" sz="2400" noProof="0" dirty="0"/>
              <a:t>Let p(x) be the true distribution (of X, potentially unknown) which we seek to approximate with some distribution q(x)</a:t>
            </a:r>
          </a:p>
          <a:p>
            <a:r>
              <a:rPr lang="en-GB" sz="2400" dirty="0"/>
              <a:t>We may ask, then, </a:t>
            </a:r>
            <a:r>
              <a:rPr lang="en-GB" sz="2400" b="1" dirty="0"/>
              <a:t>how much information from </a:t>
            </a:r>
            <a:r>
              <a:rPr lang="en-GB" sz="2400" dirty="0"/>
              <a:t>X is retained by the approximation</a:t>
            </a:r>
          </a:p>
          <a:p>
            <a:r>
              <a:rPr lang="en-GB" sz="2400" noProof="0" dirty="0"/>
              <a:t>This gives rise to the concept of </a:t>
            </a:r>
            <a:r>
              <a:rPr lang="en-GB" sz="2400" b="1" noProof="0" dirty="0"/>
              <a:t>relative entropy</a:t>
            </a:r>
          </a:p>
          <a:p>
            <a:r>
              <a:rPr lang="en-GB" sz="2400" noProof="0" dirty="0"/>
              <a:t>Relative entropy</a:t>
            </a:r>
            <a:r>
              <a:rPr lang="en-GB" sz="2400" dirty="0"/>
              <a:t> is defined by the </a:t>
            </a:r>
            <a:r>
              <a:rPr lang="en-GB" sz="2400" dirty="0" err="1"/>
              <a:t>Kullback-Leibler</a:t>
            </a:r>
            <a:r>
              <a:rPr lang="en-GB" sz="2400" dirty="0"/>
              <a:t> (KL) divergence</a:t>
            </a:r>
            <a:endParaRPr lang="en-GB" sz="2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792D4BA3-91FC-DB2A-158F-1702C1D3BF1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ln>
                <a:solidFill>
                  <a:schemeClr val="tx1"/>
                </a:solidFill>
              </a:ln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GB" noProof="0" dirty="0"/>
                  <a:t>Definition: KL-divergence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400" b="0" i="0" noProof="0" smtClean="0">
                          <a:latin typeface="Cambria Math" panose="02040503050406030204" pitchFamily="18" charset="0"/>
                        </a:rPr>
                        <m:t>KL</m:t>
                      </m:r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‖"/>
                          <m:endChr m:val=""/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≔−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b="0" i="0" noProof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4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d>
                                        <m:dPr>
                                          <m:ctrlPr>
                                            <a:rPr lang="en-GB" sz="2400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2400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GB" sz="2400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2400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de-DE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groupChr>
                            <m:groupChrPr>
                              <m:chr m:val="⏟"/>
                              <m:ctrlP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GB" sz="2400" i="1" noProof="0" smtClean="0">
                                  <a:latin typeface="Cambria Math" panose="02040503050406030204" pitchFamily="18" charset="0"/>
                                </a:rPr>
                                <m:t>∫</m:t>
                              </m:r>
                              <m: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GB" sz="2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GB" sz="2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2400" noProof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24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GB" sz="240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24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GB" sz="2400" i="1" noProof="0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GB" sz="2400" b="0" i="0" noProof="0" smtClean="0">
                              <a:latin typeface="Cambria Math" panose="02040503050406030204" pitchFamily="18" charset="0"/>
                            </a:rPr>
                            <m:t>neg</m:t>
                          </m:r>
                          <m:r>
                            <a:rPr lang="en-GB" sz="2400" b="0" i="0" noProof="0" smtClean="0">
                              <a:latin typeface="Cambria Math" panose="02040503050406030204" pitchFamily="18" charset="0"/>
                            </a:rPr>
                            <m:t>.  </m:t>
                          </m:r>
                          <m:r>
                            <m:rPr>
                              <m:sty m:val="p"/>
                            </m:rPr>
                            <a:rPr lang="en-GB" sz="2400" b="0" i="0" noProof="0" smtClean="0">
                              <a:latin typeface="Cambria Math" panose="02040503050406030204" pitchFamily="18" charset="0"/>
                            </a:rPr>
                            <m:t>entropy</m:t>
                          </m:r>
                          <m:r>
                            <a:rPr lang="en-GB" sz="2400" b="0" i="0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2400" b="0" i="0" noProof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GB" sz="2400" b="0" i="0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lim>
                      </m:limLow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limLow>
                        <m:limLowPr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GB" sz="2400" i="1" noProof="0" smtClean="0">
                                  <a:latin typeface="Cambria Math" panose="02040503050406030204" pitchFamily="18" charset="0"/>
                                </a:rPr>
                                <m:t>∫</m:t>
                              </m:r>
                              <m: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GB" sz="2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GB" sz="2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2400" noProof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24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d>
                                        <m:dPr>
                                          <m:ctrlPr>
                                            <a:rPr lang="en-GB" sz="2400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2400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GB" sz="2400" i="1" noProof="0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GB" sz="2400" b="0" i="0" noProof="0" smtClean="0">
                              <a:latin typeface="Cambria Math" panose="02040503050406030204" pitchFamily="18" charset="0"/>
                            </a:rPr>
                            <m:t>cross</m:t>
                          </m:r>
                          <m:r>
                            <a:rPr lang="en-GB" sz="2400" b="0" i="0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GB" sz="2400" b="0" i="0" noProof="0" smtClean="0">
                              <a:latin typeface="Cambria Math" panose="02040503050406030204" pitchFamily="18" charset="0"/>
                            </a:rPr>
                            <m:t>entropy</m:t>
                          </m:r>
                        </m:lim>
                      </m:limLow>
                    </m:oMath>
                  </m:oMathPara>
                </a14:m>
                <a:endParaRPr lang="de-DE" sz="2400" b="0" dirty="0"/>
              </a:p>
              <a:p>
                <a:pPr marL="0" indent="0">
                  <a:buNone/>
                </a:pPr>
                <a:endParaRPr lang="en-GB" noProof="0" dirty="0"/>
              </a:p>
              <a:p>
                <a:pPr marL="0" indent="0">
                  <a:buNone/>
                </a:pPr>
                <a:r>
                  <a:rPr lang="en-GB" noProof="0" dirty="0"/>
                  <a:t>Properties:</a:t>
                </a:r>
              </a:p>
              <a:p>
                <a:pPr marL="0" indent="0">
                  <a:buNone/>
                </a:pPr>
                <a:r>
                  <a:rPr lang="en-GB" sz="2400" dirty="0"/>
                  <a:t>Positivity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400" b="0" i="0" noProof="0" smtClean="0">
                          <a:latin typeface="Cambria Math" panose="02040503050406030204" pitchFamily="18" charset="0"/>
                        </a:rPr>
                        <m:t>KL</m:t>
                      </m:r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‖"/>
                          <m:endChr m:val=""/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GB" sz="2400" noProof="0" dirty="0"/>
              </a:p>
              <a:p>
                <a:pPr marL="0" indent="0">
                  <a:buNone/>
                </a:pPr>
                <a:r>
                  <a:rPr lang="en-GB" sz="2400" dirty="0"/>
                  <a:t>Asymmetry: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400" b="0" i="0" noProof="0" smtClean="0">
                          <a:latin typeface="Cambria Math" panose="02040503050406030204" pitchFamily="18" charset="0"/>
                        </a:rPr>
                        <m:t>KL</m:t>
                      </m:r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‖"/>
                          <m:endChr m:val=""/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m:rPr>
                          <m:sty m:val="p"/>
                        </m:rPr>
                        <a:rPr lang="en-GB" sz="2400" noProof="0" smtClean="0">
                          <a:latin typeface="Cambria Math" panose="02040503050406030204" pitchFamily="18" charset="0"/>
                        </a:rPr>
                        <m:t>KL</m:t>
                      </m:r>
                      <m:r>
                        <a:rPr lang="en-GB" sz="240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begChr m:val="‖"/>
                          <m:endChr m:val=""/>
                          <m:ctrlPr>
                            <a:rPr lang="en-GB" sz="2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sz="2400" i="1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GB" sz="2400" noProof="0" dirty="0"/>
              </a:p>
              <a:p>
                <a:pPr marL="0" indent="0">
                  <a:buNone/>
                </a:pPr>
                <a:endParaRPr lang="en-GB" noProof="0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792D4BA3-91FC-DB2A-158F-1702C1D3BF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761" t="-2374" b="-121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feld 5">
            <a:extLst>
              <a:ext uri="{FF2B5EF4-FFF2-40B4-BE49-F238E27FC236}">
                <a16:creationId xmlns:a16="http://schemas.microsoft.com/office/drawing/2014/main" id="{69B2D3A5-81A7-F376-FE7B-E3980B564B73}"/>
              </a:ext>
            </a:extLst>
          </p:cNvPr>
          <p:cNvSpPr txBox="1"/>
          <p:nvPr/>
        </p:nvSpPr>
        <p:spPr>
          <a:xfrm>
            <a:off x="7545859" y="6311900"/>
            <a:ext cx="38079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DE" sz="1400" dirty="0" err="1">
                <a:solidFill>
                  <a:schemeClr val="bg1">
                    <a:lumMod val="50000"/>
                  </a:schemeClr>
                </a:solidFill>
              </a:rPr>
              <a:t>Kullback</a:t>
            </a:r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de-DE" sz="1400" dirty="0" err="1">
                <a:solidFill>
                  <a:schemeClr val="bg1">
                    <a:lumMod val="50000"/>
                  </a:schemeClr>
                </a:solidFill>
              </a:rPr>
              <a:t>Leibler</a:t>
            </a:r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 (1951)</a:t>
            </a:r>
          </a:p>
        </p:txBody>
      </p:sp>
    </p:spTree>
    <p:extLst>
      <p:ext uri="{BB962C8B-B14F-4D97-AF65-F5344CB8AC3E}">
        <p14:creationId xmlns:p14="http://schemas.microsoft.com/office/powerpoint/2010/main" val="343790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6C0B3-0F86-0003-A10D-F3678D455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E299C3-2E2B-70AE-13F6-9154803CA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Estimating KL-divergence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B8D7BF2-90BE-A875-455C-C0B9F2FF0CC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GB" sz="2400" noProof="0" dirty="0"/>
                  <a:t>Assume we have sampled some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 noProof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 noProof="0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sz="240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 noProof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 noProof="0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GB" sz="2400" i="1" noProof="0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 noProof="0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2400" i="1" noProof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noProof="0" dirty="0"/>
                  <a:t>from </a:t>
                </a:r>
                <a14:m>
                  <m:oMath xmlns:m="http://schemas.openxmlformats.org/officeDocument/2006/math">
                    <m:r>
                      <a:rPr lang="en-GB" sz="2400" i="1" noProof="0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GB" sz="2400" noProof="0" dirty="0"/>
              </a:p>
              <a:p>
                <a:r>
                  <a:rPr lang="en-GB" sz="2400" noProof="0" dirty="0"/>
                  <a:t>We wish to estimate the relative entropy of a candidate model with likelihood </a:t>
                </a:r>
                <a14:m>
                  <m:oMath xmlns:m="http://schemas.openxmlformats.org/officeDocument/2006/math">
                    <m:r>
                      <a:rPr lang="en-GB" sz="2400" i="1" noProof="0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GB" sz="2400" i="1" noProof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b="1" i="1" noProof="0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400" i="1" noProof="0" dirty="0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GB" sz="2400" i="1" noProof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2400" i="1" noProof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400" noProof="0" dirty="0"/>
              </a:p>
              <a:p>
                <a:r>
                  <a:rPr lang="en-GB" sz="2400" dirty="0"/>
                  <a:t>The cross entropy in the KL definition can be estimated by</a:t>
                </a:r>
                <a:br>
                  <a:rPr lang="en-GB" sz="2400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GB" sz="20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000" b="0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GB" sz="2000" b="0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sz="2000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000" b="0" i="1" noProof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sz="2000" b="0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unc>
                          <m:funcPr>
                            <m:ctrlPr>
                              <a:rPr lang="en-GB" sz="2000" b="0" i="1" noProof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 b="0" i="0" noProof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GB" sz="2000" b="0" i="1" noProof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sepChr m:val="∣"/>
                                <m:ctrlPr>
                                  <a:rPr lang="en-GB" sz="20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sz="20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 b="0" i="1" noProof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000" b="0" i="1" noProof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sz="2000" b="0" i="1" noProof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GB" sz="2400" dirty="0"/>
              </a:p>
              <a:p>
                <a:r>
                  <a:rPr lang="en-GB" sz="2400" dirty="0"/>
                  <a:t>We could use the same estimator for</a:t>
                </a:r>
                <a:r>
                  <a:rPr lang="de-DE" sz="24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GB" sz="2400" dirty="0"/>
                  <a:t>, but from here on, we assume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 is unknown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B8D7BF2-90BE-A875-455C-C0B9F2FF0C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47" t="-1821" b="-812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30F165E8-B0D2-92E0-08A5-F5256445930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ln>
                <a:solidFill>
                  <a:schemeClr val="tx1"/>
                </a:solidFill>
              </a:ln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GB" noProof="0" dirty="0"/>
                  <a:t>Definition: KL-divergence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400" b="0" i="0" noProof="0" smtClean="0">
                          <a:latin typeface="Cambria Math" panose="02040503050406030204" pitchFamily="18" charset="0"/>
                        </a:rPr>
                        <m:t>KL</m:t>
                      </m:r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‖"/>
                          <m:endChr m:val=""/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de-DE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groupChr>
                            <m:groupChrPr>
                              <m:chr m:val="⏟"/>
                              <m:ctrlP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GB" sz="2400" i="1" noProof="0" smtClean="0">
                                  <a:latin typeface="Cambria Math" panose="02040503050406030204" pitchFamily="18" charset="0"/>
                                </a:rPr>
                                <m:t>∫</m:t>
                              </m:r>
                              <m: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GB" sz="2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GB" sz="2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2400" noProof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24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GB" sz="240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24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GB" sz="2400" i="1" noProof="0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GB" sz="2400" b="0" i="0" noProof="0" smtClean="0">
                              <a:latin typeface="Cambria Math" panose="02040503050406030204" pitchFamily="18" charset="0"/>
                            </a:rPr>
                            <m:t>neg</m:t>
                          </m:r>
                          <m:r>
                            <a:rPr lang="en-GB" sz="2400" b="0" i="0" noProof="0" smtClean="0">
                              <a:latin typeface="Cambria Math" panose="02040503050406030204" pitchFamily="18" charset="0"/>
                            </a:rPr>
                            <m:t>.  </m:t>
                          </m:r>
                          <m:r>
                            <m:rPr>
                              <m:sty m:val="p"/>
                            </m:rPr>
                            <a:rPr lang="en-GB" sz="2400" b="0" i="0" noProof="0" smtClean="0">
                              <a:latin typeface="Cambria Math" panose="02040503050406030204" pitchFamily="18" charset="0"/>
                            </a:rPr>
                            <m:t>entropy</m:t>
                          </m:r>
                          <m:r>
                            <a:rPr lang="en-GB" sz="2400" b="0" i="0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2400" b="0" i="0" noProof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GB" sz="2400" b="0" i="0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lim>
                      </m:limLow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limLow>
                        <m:limLowPr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GB" sz="2400" i="1" noProof="0" smtClean="0">
                                  <a:latin typeface="Cambria Math" panose="02040503050406030204" pitchFamily="18" charset="0"/>
                                </a:rPr>
                                <m:t>∫</m:t>
                              </m:r>
                              <m: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GB" sz="2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GB" sz="2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2400" noProof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24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d>
                                        <m:dPr>
                                          <m:ctrlPr>
                                            <a:rPr lang="en-GB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GB" sz="2400" i="1" noProof="0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GB" sz="2400" b="0" i="0" noProof="0" smtClean="0">
                              <a:latin typeface="Cambria Math" panose="02040503050406030204" pitchFamily="18" charset="0"/>
                            </a:rPr>
                            <m:t>cross</m:t>
                          </m:r>
                          <m:r>
                            <a:rPr lang="en-GB" sz="2400" b="0" i="0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GB" sz="2400" b="0" i="0" noProof="0" smtClean="0">
                              <a:latin typeface="Cambria Math" panose="02040503050406030204" pitchFamily="18" charset="0"/>
                            </a:rPr>
                            <m:t>entropy</m:t>
                          </m:r>
                        </m:lim>
                      </m:limLow>
                    </m:oMath>
                  </m:oMathPara>
                </a14:m>
                <a:endParaRPr lang="de-DE" sz="2400" b="0" dirty="0"/>
              </a:p>
              <a:p>
                <a:pPr marL="0" indent="0">
                  <a:buNone/>
                </a:pPr>
                <a:endParaRPr lang="de-DE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2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2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de-DE" sz="2400" b="0" dirty="0"/>
              </a:p>
              <a:p>
                <a:pPr marL="0" indent="0">
                  <a:buNone/>
                </a:pPr>
                <a:r>
                  <a:rPr lang="de-DE" sz="2400" dirty="0"/>
                  <a:t>Note </a:t>
                </a:r>
                <a:r>
                  <a:rPr lang="de-DE" sz="2400" dirty="0" err="1"/>
                  <a:t>that</a:t>
                </a:r>
                <a:endParaRPr lang="de-DE" sz="2400" dirty="0"/>
              </a:p>
              <a:p>
                <a:pPr marL="0" indent="0">
                  <a:buNone/>
                </a:pPr>
                <a:endParaRPr lang="de-DE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i="0" noProof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de-DE" sz="2400" b="0" i="1" noProof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de-DE" sz="2400" b="0" i="1" noProof="0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sepChr m:val="∣"/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func>
                      <m:r>
                        <a:rPr lang="de-DE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GB" noProof="0" dirty="0"/>
              </a:p>
              <a:p>
                <a:pPr marL="0" indent="0">
                  <a:buNone/>
                </a:pPr>
                <a:endParaRPr lang="en-GB" sz="2400" noProof="0" dirty="0"/>
              </a:p>
              <a:p>
                <a:pPr marL="0" indent="0">
                  <a:buNone/>
                </a:pPr>
                <a:endParaRPr lang="en-GB" noProof="0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30F165E8-B0D2-92E0-08A5-F525644593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761" t="-488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0232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C8FB4-DDA6-9A55-6971-1811FE585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A8B5C8-64C3-4968-2C85-9CE97B7CD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An information criterion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87F01D2-4262-88BD-3B78-A41E967E46D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GB" sz="2000" noProof="0" dirty="0"/>
                  <a:t>Assume we have sampled some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 noProof="0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i="1" noProof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i="1" noProof="0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sz="200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 noProof="0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i="1" noProof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000" i="1" noProof="0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GB" sz="2000" i="1" noProof="0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 noProof="0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i="1" noProof="0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2000" i="1" noProof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noProof="0" dirty="0"/>
                  <a:t>from </a:t>
                </a:r>
                <a14:m>
                  <m:oMath xmlns:m="http://schemas.openxmlformats.org/officeDocument/2006/math">
                    <m:r>
                      <a:rPr lang="en-GB" sz="2000" i="1" noProof="0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GB" sz="2000" noProof="0" dirty="0"/>
              </a:p>
              <a:p>
                <a:r>
                  <a:rPr lang="en-GB" sz="2000" noProof="0" dirty="0"/>
                  <a:t>We wish to estimate the relative entropy of a candidate model with likelihood </a:t>
                </a:r>
                <a14:m>
                  <m:oMath xmlns:m="http://schemas.openxmlformats.org/officeDocument/2006/math">
                    <m:r>
                      <a:rPr lang="en-GB" sz="2000" i="1" noProof="0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GB" sz="2000" i="1" noProof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000" b="1" i="1" noProof="0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000" i="1" noProof="0" dirty="0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GB" sz="2000" i="1" noProof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2000" i="1" noProof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noProof="0" dirty="0"/>
              </a:p>
              <a:p>
                <a:r>
                  <a:rPr lang="en-GB" sz="2000" dirty="0"/>
                  <a:t>The cross entropy in the KL definition can be estimated</a:t>
                </a:r>
              </a:p>
              <a:p>
                <a:r>
                  <a:rPr lang="en-GB" sz="2000" dirty="0"/>
                  <a:t>If the distribution of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000" dirty="0"/>
                  <a:t> is unknown, we cannot estimate the KL-divergence</a:t>
                </a:r>
              </a:p>
              <a:p>
                <a:r>
                  <a:rPr lang="en-GB" sz="2000" dirty="0"/>
                  <a:t>However: </a:t>
                </a:r>
              </a:p>
              <a:p>
                <a:pPr lvl="1"/>
                <a:r>
                  <a:rPr lang="en-GB" sz="1800" dirty="0"/>
                  <a:t>It should be immediately clear that maximising the likelihood </a:t>
                </a:r>
                <a14:m>
                  <m:oMath xmlns:m="http://schemas.openxmlformats.org/officeDocument/2006/math">
                    <m:r>
                      <a:rPr lang="en-GB" sz="180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sepChr m:val="∣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GB" sz="1800" dirty="0"/>
                  <a:t> with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sepChr m:val="∣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acc>
                          <m:accPr>
                            <m:chr m:val="̂"/>
                            <m:ctrlPr>
                              <a:rPr lang="en-GB" sz="1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</m:oMath>
                </a14:m>
                <a:r>
                  <a:rPr lang="en-GB" sz="1800" dirty="0"/>
                  <a:t> also maximises cross-entropy </a:t>
                </a:r>
              </a:p>
              <a:p>
                <a:pPr lvl="1"/>
                <a:r>
                  <a:rPr lang="en-GB" sz="1800" b="1" dirty="0"/>
                  <a:t>The cross entropy allows model comparisons based on the same data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87F01D2-4262-88BD-3B78-A41E967E46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059" t="-1261" b="-490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545E1BFE-E199-7C85-9445-D468D6F862D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ln>
                <a:solidFill>
                  <a:schemeClr val="tx1"/>
                </a:solidFill>
              </a:ln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sz="2400" noProof="0" dirty="0"/>
                  <a:t>Estimating KL-divergence:</a:t>
                </a:r>
              </a:p>
              <a:p>
                <a:pPr marL="0" indent="0">
                  <a:buNone/>
                </a:pPr>
                <a:r>
                  <a:rPr lang="en-GB" sz="2000" dirty="0"/>
                  <a:t>Rewrite KL definition in terms of expectations:</a:t>
                </a:r>
                <a:endParaRPr lang="en-GB" sz="2000" noProof="0" dirty="0"/>
              </a:p>
              <a:p>
                <a:pPr marL="0" indent="0">
                  <a:buNone/>
                </a:pPr>
                <a:endParaRPr lang="de-DE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20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20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de-DE" sz="2000" b="0" dirty="0"/>
              </a:p>
              <a:p>
                <a:pPr marL="0" indent="0">
                  <a:buNone/>
                </a:pPr>
                <a:r>
                  <a:rPr lang="de-DE" sz="2000" dirty="0"/>
                  <a:t>Note </a:t>
                </a:r>
                <a:r>
                  <a:rPr lang="de-DE" sz="2000" dirty="0" err="1"/>
                  <a:t>that</a:t>
                </a:r>
                <a:endParaRPr lang="de-DE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acc>
                      <m:d>
                        <m:dPr>
                          <m:begChr m:val="{"/>
                          <m:endChr m:val="}"/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20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sepChr m:val="∣"/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GB" sz="2400" noProof="0" dirty="0"/>
              </a:p>
              <a:p>
                <a:pPr marL="0" indent="0">
                  <a:buNone/>
                </a:pPr>
                <a:r>
                  <a:rPr lang="en-GB" sz="2000" noProof="0" dirty="0"/>
                  <a:t>and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20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GB" sz="2000" dirty="0"/>
              </a:p>
              <a:p>
                <a:pPr marL="0" indent="0">
                  <a:buNone/>
                </a:pPr>
                <a:r>
                  <a:rPr lang="en-GB" sz="2000" noProof="0" dirty="0"/>
                  <a:t>does not depend on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sepChr m:val="∣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GB" sz="2000" noProof="0" dirty="0"/>
              </a:p>
              <a:p>
                <a:pPr marL="0" indent="0">
                  <a:buNone/>
                </a:pPr>
                <a:endParaRPr lang="en-GB" noProof="0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545E1BFE-E199-7C85-9445-D468D6F862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761" t="-1676" r="-105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feld 5">
            <a:extLst>
              <a:ext uri="{FF2B5EF4-FFF2-40B4-BE49-F238E27FC236}">
                <a16:creationId xmlns:a16="http://schemas.microsoft.com/office/drawing/2014/main" id="{65C4189E-401A-14DA-13A4-8715517D2375}"/>
              </a:ext>
            </a:extLst>
          </p:cNvPr>
          <p:cNvSpPr txBox="1"/>
          <p:nvPr/>
        </p:nvSpPr>
        <p:spPr>
          <a:xfrm>
            <a:off x="7545859" y="6311900"/>
            <a:ext cx="38079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DE" sz="1400" dirty="0" err="1">
                <a:solidFill>
                  <a:schemeClr val="bg1">
                    <a:lumMod val="50000"/>
                  </a:schemeClr>
                </a:solidFill>
              </a:rPr>
              <a:t>Akaike</a:t>
            </a:r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 (1974)</a:t>
            </a:r>
          </a:p>
        </p:txBody>
      </p:sp>
    </p:spTree>
    <p:extLst>
      <p:ext uri="{BB962C8B-B14F-4D97-AF65-F5344CB8AC3E}">
        <p14:creationId xmlns:p14="http://schemas.microsoft.com/office/powerpoint/2010/main" val="158844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F8A065-1507-6849-6494-9AFA23C57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Akaike information criterion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2CA784D-C7B8-38EA-7E96-106A327D115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noProof="0" dirty="0"/>
                  <a:t>There is one final catch: We have used the data already to 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400" i="1" noProof="0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GB" sz="2400" noProof="0" dirty="0"/>
              </a:p>
              <a:p>
                <a:r>
                  <a:rPr lang="en-GB" sz="2400" dirty="0"/>
                  <a:t>Using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sepChr m:val="∣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acc>
                          <m:accPr>
                            <m:chr m:val="̂"/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</m:oMath>
                </a14:m>
                <a:r>
                  <a:rPr lang="en-GB" sz="2400" noProof="0" dirty="0"/>
                  <a:t> instead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sepChr m:val="∣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GB" sz="2400" noProof="0" dirty="0"/>
                  <a:t> introduces a bias, like in the situation when estimating the mean of a normal distribution with unknown variance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2CA784D-C7B8-38EA-7E96-106A327D11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47" t="-1821" r="-41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28E84F21-649F-1EE3-BCE9-0E745F6C929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922413"/>
            <a:ext cx="5181600" cy="2157762"/>
          </a:xfrm>
        </p:spPr>
      </p:pic>
    </p:spTree>
    <p:extLst>
      <p:ext uri="{BB962C8B-B14F-4D97-AF65-F5344CB8AC3E}">
        <p14:creationId xmlns:p14="http://schemas.microsoft.com/office/powerpoint/2010/main" val="4244162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72104-472A-67A0-3A72-53EF1329B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DDE066-70FA-4EEC-E1A3-401C9822A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Akaike information criterion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454B2A-043A-7C3C-1503-56CC9D50D4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Akaike has shown that (under certain conditions) this bias follows a chi-square distribution with the degree of freedom equal to the number of restricted parameters</a:t>
            </a:r>
          </a:p>
          <a:p>
            <a:r>
              <a:rPr lang="en-GB" sz="2400" dirty="0"/>
              <a:t>By introducing the penalty term, which is motivated by removing the bias associated with , AIC penalizes models with more parameters</a:t>
            </a:r>
            <a:endParaRPr lang="en-GB" sz="2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69AEFC43-7176-B357-620F-847D081E8CC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noProof="0" dirty="0"/>
                  <a:t>Definition: Akaike Information Criterion (AIC)</a:t>
                </a:r>
              </a:p>
              <a:p>
                <a:pPr marL="0" indent="0">
                  <a:buNone/>
                </a:pPr>
                <a:endParaRPr lang="en-GB" sz="2400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𝐴𝐼𝐶</m:t>
                      </m:r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=−2</m:t>
                      </m:r>
                      <m:func>
                        <m:funcPr>
                          <m:ctrlPr>
                            <a:rPr lang="en-GB" sz="2400" b="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b="0" i="0" noProof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noProof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GB" sz="24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400" b="0" i="1" noProof="0" smtClean="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GB" sz="24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</m:func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400" b="0" i="1" noProof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GB" sz="2400" noProof="0" dirty="0"/>
              </a:p>
              <a:p>
                <a:pPr marL="0" indent="0">
                  <a:buNone/>
                </a:pPr>
                <a:r>
                  <a:rPr lang="en-GB" sz="2400" dirty="0"/>
                  <a:t>where </a:t>
                </a:r>
                <a14:m>
                  <m:oMath xmlns:m="http://schemas.openxmlformats.org/officeDocument/2006/math">
                    <m:r>
                      <a:rPr lang="en-GB" sz="2400" b="0" i="1" noProof="0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b="0" i="1" noProof="0" smtClean="0">
                            <a:latin typeface="Cambria Math" panose="02040503050406030204" pitchFamily="18" charset="0"/>
                          </a:rPr>
                          <m:t>∣</m:t>
                        </m:r>
                        <m:acc>
                          <m:accPr>
                            <m:chr m:val="̂"/>
                            <m:ctrlPr>
                              <a:rPr lang="en-GB" sz="2400" b="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</m:oMath>
                </a14:m>
                <a:r>
                  <a:rPr lang="en-GB" sz="2400" dirty="0"/>
                  <a:t> is the ML</a:t>
                </a:r>
              </a:p>
              <a:p>
                <a:pPr marL="0" indent="0">
                  <a:buNone/>
                </a:pPr>
                <a:r>
                  <a:rPr lang="en-GB" sz="2400" dirty="0"/>
                  <a:t>Note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noProof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de-DE" sz="2400" b="0" i="1" noProof="0" smtClean="0"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de-DE" sz="24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400" b="0" i="1" noProof="0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de-DE" sz="24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DE" sz="2400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noProof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e-DE" sz="2400" b="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ctrlPr>
                            <a:rPr lang="de-DE" sz="2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de-DE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0" i="1" noProof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de-DE" sz="2400" b="0" noProof="0" dirty="0"/>
              </a:p>
              <a:p>
                <a:pPr marL="0" indent="0">
                  <a:buNone/>
                </a:pPr>
                <a:r>
                  <a:rPr lang="en-GB" sz="2400" noProof="0" dirty="0"/>
                  <a:t>The multiplication by 2 is arbitrary and done for “historical reasons” (cf. LR test)</a:t>
                </a:r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69AEFC43-7176-B357-620F-847D081E8C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882" t="-1821" r="-2471" b="-224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84124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96B1C-F935-558E-4886-E891B76E3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245C5F-B30C-A784-85B3-FEA8E3A8A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Interim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69997CF-D185-660B-A7C8-B3184C769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GB" sz="2400" dirty="0"/>
                  <a:t>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i="0" dirty="0" smtClean="0">
                        <a:latin typeface="Cambria Math" panose="02040503050406030204" pitchFamily="18" charset="0"/>
                      </a:rPr>
                      <m:t>AIC</m:t>
                    </m:r>
                  </m:oMath>
                </a14:m>
                <a:r>
                  <a:rPr lang="en-GB" sz="2400" dirty="0"/>
                  <a:t> allows us to compare different models based on the </a:t>
                </a:r>
                <a:r>
                  <a:rPr lang="en-GB" sz="2400" b="1" dirty="0"/>
                  <a:t>same data (!)</a:t>
                </a:r>
              </a:p>
              <a:p>
                <a:r>
                  <a:rPr lang="en-GB" sz="2400" noProof="0" dirty="0"/>
                  <a:t>These models do not have to be nested</a:t>
                </a:r>
              </a:p>
              <a:p>
                <a:r>
                  <a:rPr lang="en-GB" sz="2400" dirty="0"/>
                  <a:t>The true model (“truth”) does not need to be included in the set of models under consideration</a:t>
                </a:r>
              </a:p>
              <a:p>
                <a:r>
                  <a:rPr lang="en-GB" sz="2400" noProof="0" dirty="0"/>
                  <a:t>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i="0" noProof="0" dirty="0" smtClean="0">
                        <a:latin typeface="Cambria Math" panose="02040503050406030204" pitchFamily="18" charset="0"/>
                      </a:rPr>
                      <m:t>AIC</m:t>
                    </m:r>
                  </m:oMath>
                </a14:m>
                <a:r>
                  <a:rPr lang="en-GB" sz="2400" noProof="0" dirty="0"/>
                  <a:t> is firmly based on an information theoretic approach</a:t>
                </a:r>
              </a:p>
              <a:p>
                <a:pPr lvl="1"/>
                <a:r>
                  <a:rPr lang="en-GB" sz="2000" noProof="0" dirty="0"/>
                  <a:t>We ask which of the candidate models is the best approximation to the “truth”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i="0" dirty="0" smtClean="0">
                        <a:latin typeface="Cambria Math" panose="02040503050406030204" pitchFamily="18" charset="0"/>
                      </a:rPr>
                      <m:t>AIC</m:t>
                    </m:r>
                  </m:oMath>
                </a14:m>
                <a:r>
                  <a:rPr lang="en-GB" sz="2000" dirty="0"/>
                  <a:t> is not dependent on a frequentist or Bayesian interpretation of probability</a:t>
                </a:r>
              </a:p>
              <a:p>
                <a:r>
                  <a:rPr lang="en-GB" sz="2400" dirty="0"/>
                  <a:t>When comparing models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i="0" noProof="0" dirty="0" smtClean="0">
                        <a:latin typeface="Cambria Math" panose="02040503050406030204" pitchFamily="18" charset="0"/>
                      </a:rPr>
                      <m:t>AIC</m:t>
                    </m:r>
                  </m:oMath>
                </a14:m>
                <a:r>
                  <a:rPr lang="en-GB" sz="2400" noProof="0" dirty="0"/>
                  <a:t>, we (slightly) penalize models </a:t>
                </a:r>
                <a:r>
                  <a:rPr lang="en-GB" sz="2400" dirty="0"/>
                  <a:t>with more parameters</a:t>
                </a:r>
              </a:p>
              <a:p>
                <a:r>
                  <a:rPr lang="en-GB" sz="2400" noProof="0" dirty="0"/>
                  <a:t>Due to auxiliary assumptions, some of the favourable properties of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i="0" noProof="0" dirty="0" smtClean="0">
                        <a:latin typeface="Cambria Math" panose="02040503050406030204" pitchFamily="18" charset="0"/>
                      </a:rPr>
                      <m:t>AIC</m:t>
                    </m:r>
                  </m:oMath>
                </a14:m>
                <a:r>
                  <a:rPr lang="en-GB" sz="2400" noProof="0" dirty="0"/>
                  <a:t> hold only for large </a:t>
                </a:r>
                <a14:m>
                  <m:oMath xmlns:m="http://schemas.openxmlformats.org/officeDocument/2006/math">
                    <m:r>
                      <a:rPr lang="en-GB" sz="2400" i="1" noProof="0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noProof="0" dirty="0"/>
                  <a:t>; in practice, this means that model selection is sample-size dependent</a:t>
                </a:r>
              </a:p>
              <a:p>
                <a:endParaRPr lang="en-GB" sz="2000" noProof="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69997CF-D185-660B-A7C8-B3184C769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821" b="-1120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5657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8FCC02-5B57-950E-B4D1-59CC7FA5F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Correction for small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AEDAF33A-000B-23AF-9CA2-D40CBD24545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noProof="0" dirty="0"/>
                  <a:t>A small sample correction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i="0" noProof="0" dirty="0" smtClean="0">
                        <a:latin typeface="Cambria Math" panose="02040503050406030204" pitchFamily="18" charset="0"/>
                      </a:rPr>
                      <m:t>AIC</m:t>
                    </m:r>
                  </m:oMath>
                </a14:m>
                <a:r>
                  <a:rPr lang="en-GB" sz="2400" noProof="0" dirty="0"/>
                  <a:t> has been suggested</a:t>
                </a:r>
              </a:p>
              <a:p>
                <a:r>
                  <a:rPr lang="en-GB" sz="2400" dirty="0"/>
                  <a:t>With increasing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dirty="0"/>
                  <a:t>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dirty="0">
                        <a:latin typeface="Cambria Math" panose="02040503050406030204" pitchFamily="18" charset="0"/>
                      </a:rPr>
                      <m:t>AI</m:t>
                    </m:r>
                    <m:sSub>
                      <m:sSub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400" dirty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/>
                  <a:t>converges to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i="0" dirty="0" smtClean="0">
                        <a:latin typeface="Cambria Math" panose="02040503050406030204" pitchFamily="18" charset="0"/>
                      </a:rPr>
                      <m:t>AIC</m:t>
                    </m:r>
                  </m:oMath>
                </a14:m>
                <a:endParaRPr lang="en-GB" sz="2400" dirty="0"/>
              </a:p>
              <a:p>
                <a:r>
                  <a:rPr lang="en-GB" sz="2400" dirty="0"/>
                  <a:t>This means, we can always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i="0" dirty="0" smtClean="0">
                        <a:latin typeface="Cambria Math" panose="02040503050406030204" pitchFamily="18" charset="0"/>
                      </a:rPr>
                      <m:t>AI</m:t>
                    </m:r>
                    <m:sSub>
                      <m:sSubPr>
                        <m:ctrlPr>
                          <a:rPr lang="en-GB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400" i="0" dirty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2400" b="0" i="0" noProof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en-GB" sz="2400" dirty="0"/>
                  <a:t> in practise</a:t>
                </a:r>
              </a:p>
              <a:p>
                <a:r>
                  <a:rPr lang="en-GB" sz="2400" dirty="0"/>
                  <a:t>F&amp;L recommend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dirty="0">
                        <a:latin typeface="Cambria Math" panose="02040503050406030204" pitchFamily="18" charset="0"/>
                      </a:rPr>
                      <m:t>AI</m:t>
                    </m:r>
                    <m:sSub>
                      <m:sSub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400" dirty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en-GB" sz="2400" dirty="0"/>
                  <a:t>, if</a:t>
                </a:r>
                <a:br>
                  <a:rPr lang="en-GB" sz="2400" dirty="0"/>
                </a:b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GB" sz="24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2400" dirty="0"/>
              </a:p>
              <a:p>
                <a:endParaRPr lang="en-GB" sz="2400" noProof="0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AEDAF33A-000B-23AF-9CA2-D40CBD2454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47" t="-18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7BF47ECB-6BD0-C12C-84CE-6A41840557F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noProof="0" dirty="0"/>
                  <a:t>Definition: Akaike Information Criterion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i="0" noProof="0" dirty="0" smtClean="0">
                        <a:latin typeface="Cambria Math" panose="02040503050406030204" pitchFamily="18" charset="0"/>
                      </a:rPr>
                      <m:t>AIC</m:t>
                    </m:r>
                  </m:oMath>
                </a14:m>
                <a:r>
                  <a:rPr lang="en-GB" sz="2400" noProof="0" dirty="0"/>
                  <a:t>)</a:t>
                </a:r>
              </a:p>
              <a:p>
                <a:pPr marL="0" indent="0">
                  <a:buNone/>
                </a:pPr>
                <a:endParaRPr lang="en-GB" sz="2400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000" b="0" i="0" noProof="0" smtClean="0">
                          <a:latin typeface="Cambria Math" panose="02040503050406030204" pitchFamily="18" charset="0"/>
                        </a:rPr>
                        <m:t>AIC</m:t>
                      </m:r>
                      <m:r>
                        <a:rPr lang="en-GB" sz="2000" b="0" i="1" noProof="0" smtClean="0">
                          <a:latin typeface="Cambria Math" panose="02040503050406030204" pitchFamily="18" charset="0"/>
                        </a:rPr>
                        <m:t>=−2</m:t>
                      </m:r>
                      <m:func>
                        <m:funcPr>
                          <m:ctrlP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 b="0" i="0" noProof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noProof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GB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000" b="0" i="1" noProof="0" smtClean="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GB" sz="20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</m:func>
                      <m:r>
                        <a:rPr lang="en-GB" sz="2000" b="0" i="1" noProof="0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b="0" i="1" noProof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GB" sz="2000" noProof="0" dirty="0"/>
              </a:p>
              <a:p>
                <a:pPr marL="0" indent="0">
                  <a:buNone/>
                </a:pPr>
                <a:endParaRPr lang="en-GB" sz="2400" noProof="0" dirty="0"/>
              </a:p>
              <a:p>
                <a:pPr marL="0" indent="0">
                  <a:buNone/>
                </a:pPr>
                <a:r>
                  <a:rPr lang="en-GB" sz="2400" noProof="0" dirty="0"/>
                  <a:t>Small sample correction:</a:t>
                </a:r>
              </a:p>
              <a:p>
                <a:pPr marL="0" indent="0">
                  <a:buNone/>
                </a:pPr>
                <a:endParaRPr lang="en-GB" sz="2400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000" b="0" i="0" noProof="0" smtClean="0">
                              <a:latin typeface="Cambria Math" panose="02040503050406030204" pitchFamily="18" charset="0"/>
                            </a:rPr>
                            <m:t>AIC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000" b="0" i="0" noProof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GB" sz="2000" b="0" i="1" noProof="0" smtClean="0">
                          <a:latin typeface="Cambria Math" panose="02040503050406030204" pitchFamily="18" charset="0"/>
                        </a:rPr>
                        <m:t>=−2</m:t>
                      </m:r>
                      <m:func>
                        <m:funcPr>
                          <m:ctrlP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 b="0" i="0" noProof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noProof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GB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000" b="0" i="1" noProof="0" smtClean="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GB" sz="20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</m:func>
                      <m:r>
                        <a:rPr lang="en-GB" sz="2000" b="0" i="1" noProof="0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b="0" i="1" noProof="0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b="0" i="1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GB" sz="2000" b="0" i="1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2000" b="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b="0" i="1" noProof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2000" b="0" i="1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2400" noProof="0" dirty="0"/>
              </a:p>
              <a:p>
                <a:pPr marL="0" indent="0">
                  <a:buNone/>
                </a:pPr>
                <a:endParaRPr lang="de-DE" sz="2400" dirty="0"/>
              </a:p>
            </p:txBody>
          </p:sp>
        </mc:Choice>
        <mc:Fallback xmlns="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7BF47ECB-6BD0-C12C-84CE-6A41840557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761" t="-167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89555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3C8E96-A5CF-F67D-38D6-F2689AE71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AIC in practise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9D06B59-A62B-323E-3F46-743183E8224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noProof="0" dirty="0"/>
                  <a:t>The estimated AIC is, in itself, rather meaningless, as they depend on sample size</a:t>
                </a:r>
              </a:p>
              <a:p>
                <a:r>
                  <a:rPr lang="en-GB" sz="2400" noProof="0" dirty="0"/>
                  <a:t>The power lies in the comparison of two or more candidate models by the same data</a:t>
                </a:r>
              </a:p>
              <a:p>
                <a:r>
                  <a:rPr lang="en-GB" sz="2400" dirty="0"/>
                  <a:t>The difference between 1,000 and 1,005 has the same meaning as that between 280,000 and 280,005 </a:t>
                </a:r>
                <a:endParaRPr lang="en-GB" sz="2400" noProof="0" dirty="0"/>
              </a:p>
              <a:p>
                <a:r>
                  <a:rPr lang="en-GB" sz="2400" dirty="0"/>
                  <a:t>It is therefore convenient to define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2400" b="0" i="0" smtClean="0">
                        <a:latin typeface="Cambria Math" panose="02040503050406030204" pitchFamily="18" charset="0"/>
                      </a:rPr>
                      <m:t>ΔAI</m:t>
                    </m:r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de-DE" sz="2400" b="0" i="0" smtClean="0">
                        <a:latin typeface="Cambria Math" panose="02040503050406030204" pitchFamily="18" charset="0"/>
                      </a:rPr>
                      <m:t>AI</m:t>
                    </m:r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de-DE" sz="2400" b="0" i="0" smtClean="0">
                        <a:latin typeface="Cambria Math" panose="02040503050406030204" pitchFamily="18" charset="0"/>
                      </a:rPr>
                      <m:t>AI</m:t>
                    </m:r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24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</m:oMath>
                </a14:m>
                <a:r>
                  <a:rPr lang="en-GB" sz="2400" noProof="0" dirty="0"/>
                  <a:t> 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9D06B59-A62B-323E-3F46-743183E822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47" t="-1821" r="-21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D0B3E37E-4FA0-15C2-5F78-F7E5EF33B85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Interpretation of AIC</a:t>
                </a:r>
              </a:p>
              <a:p>
                <a:pPr marL="0" indent="0">
                  <a:buNone/>
                </a:pPr>
                <a:r>
                  <a:rPr lang="en-GB" sz="2400" dirty="0"/>
                  <a:t>Substantial support for model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2400" b="0" i="0" smtClean="0">
                          <a:latin typeface="Cambria Math" panose="02040503050406030204" pitchFamily="18" charset="0"/>
                        </a:rPr>
                        <m:t>ΔAI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4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≤2</m:t>
                      </m:r>
                    </m:oMath>
                  </m:oMathPara>
                </a14:m>
                <a:endParaRPr lang="de-DE" sz="2400" b="0" dirty="0"/>
              </a:p>
              <a:p>
                <a:pPr marL="0" indent="0">
                  <a:buNone/>
                </a:pPr>
                <a:r>
                  <a:rPr lang="en-GB" sz="2400" dirty="0"/>
                  <a:t>Considerably less support for model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de-DE" sz="2400" b="0" i="0" smtClean="0">
                          <a:latin typeface="Cambria Math" panose="02040503050406030204" pitchFamily="18" charset="0"/>
                        </a:rPr>
                        <m:t>ΔAI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4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≤7</m:t>
                      </m:r>
                    </m:oMath>
                  </m:oMathPara>
                </a14:m>
                <a:endParaRPr lang="en-GB" sz="2400" noProof="0" dirty="0"/>
              </a:p>
              <a:p>
                <a:pPr marL="0" indent="0">
                  <a:buNone/>
                </a:pPr>
                <a:r>
                  <a:rPr lang="en-GB" sz="2400" dirty="0"/>
                  <a:t>Almost no support for model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2400" b="0" i="0" smtClean="0">
                          <a:latin typeface="Cambria Math" panose="02040503050406030204" pitchFamily="18" charset="0"/>
                        </a:rPr>
                        <m:t>ΔAI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4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&gt;10</m:t>
                      </m:r>
                    </m:oMath>
                  </m:oMathPara>
                </a14:m>
                <a:endParaRPr lang="en-GB" sz="2400" noProof="0" dirty="0"/>
              </a:p>
              <a:p>
                <a:pPr marL="0" indent="0">
                  <a:buNone/>
                </a:pPr>
                <a:endParaRPr lang="en-GB" sz="2400" noProof="0" dirty="0"/>
              </a:p>
              <a:p>
                <a:pPr marL="0" indent="0">
                  <a:buNone/>
                </a:pPr>
                <a:endParaRPr lang="en-GB" sz="2400" noProof="0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D0B3E37E-4FA0-15C2-5F78-F7E5EF33B8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882" t="-18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32863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4318F2-F925-62E2-9E38-BDCEEA8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Multi-model comparisons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4378E80-230B-A812-F8A2-1589C6222F1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GB" sz="2400" noProof="0" dirty="0"/>
                  <a:t>In practise, we often want to compare more than two models</a:t>
                </a:r>
              </a:p>
              <a:p>
                <a:r>
                  <a:rPr lang="en-GB" sz="2400" dirty="0"/>
                  <a:t>Even if we only have two models, we cannot pretend that the “winning” model was the only model under consideration</a:t>
                </a:r>
              </a:p>
              <a:p>
                <a:r>
                  <a:rPr lang="en-GB" sz="2400" noProof="0" dirty="0"/>
                  <a:t>We can use </a:t>
                </a:r>
                <a:r>
                  <a:rPr lang="en-GB" sz="2400" b="1" noProof="0" dirty="0"/>
                  <a:t>Akaike model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400" noProof="0" dirty="0"/>
                  <a:t> to weight the merit of the different models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4378E80-230B-A812-F8A2-1589C6222F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47" t="-1821" r="-82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0593B26B-C13F-EB3B-AD1B-A5EA5165D7B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noProof="0" dirty="0"/>
                  <a:t>Definition: Akaike model weights</a:t>
                </a:r>
              </a:p>
              <a:p>
                <a:pPr marL="0" indent="0">
                  <a:buNone/>
                </a:pPr>
                <a:r>
                  <a:rPr lang="en-GB" sz="2000" dirty="0"/>
                  <a:t>Based on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func>
                        <m:funcPr>
                          <m:ctrlP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de-DE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de-DE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ΔAI</m:t>
                              </m:r>
                              <m:sSub>
                                <m:sSubPr>
                                  <m:ctrlPr>
                                    <a:rPr lang="de-DE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0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GB" sz="2000" noProof="0" dirty="0"/>
              </a:p>
              <a:p>
                <a:pPr marL="0" indent="0">
                  <a:buNone/>
                </a:pPr>
                <a:r>
                  <a:rPr lang="en-GB" sz="2000" dirty="0"/>
                  <a:t>Define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000" dirty="0"/>
                  <a:t> </a:t>
                </a:r>
              </a:p>
              <a:p>
                <a:pPr marL="0" indent="0">
                  <a:buNone/>
                </a:pPr>
                <a:endParaRPr lang="de-DE" sz="2000" b="0" i="1" noProof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:=</m:t>
                      </m:r>
                      <m:f>
                        <m:f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2000" b="0" i="0" noProof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−0.5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e-DE" sz="2000" b="0" i="0" noProof="0" smtClean="0">
                                      <a:latin typeface="Cambria Math" panose="02040503050406030204" pitchFamily="18" charset="0"/>
                                    </a:rPr>
                                    <m:t>ΔAI</m:t>
                                  </m:r>
                                  <m:sSub>
                                    <m:sSubPr>
                                      <m:ctrlPr>
                                        <a:rPr lang="de-DE" sz="20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de-DE" sz="2000" b="0" i="0" noProof="0" smtClean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de-DE" sz="2000" b="0" i="1" noProof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2000" b="0" i="0" noProof="0" smtClean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e-DE" sz="20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000" b="0" i="1" noProof="0" smtClean="0">
                                          <a:latin typeface="Cambria Math" panose="02040503050406030204" pitchFamily="18" charset="0"/>
                                        </a:rPr>
                                        <m:t>−0.5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de-DE" sz="2000" b="0" i="0" noProof="0" smtClean="0">
                                          <a:latin typeface="Cambria Math" panose="02040503050406030204" pitchFamily="18" charset="0"/>
                                        </a:rPr>
                                        <m:t>ΔAI</m:t>
                                      </m:r>
                                      <m:sSub>
                                        <m:sSubPr>
                                          <m:ctrlPr>
                                            <a:rPr lang="de-DE" sz="2000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sz="2000" b="0" i="0" noProof="0" smtClean="0"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r>
                                            <a:rPr lang="de-DE" sz="2000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</m:oMath>
                  </m:oMathPara>
                </a14:m>
                <a:endParaRPr lang="en-GB" sz="2000" noProof="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r>
                  <a:rPr lang="en-GB" sz="2000" dirty="0"/>
                  <a:t>that is, weights that are based on the relative likelihood of a single model relative to all models under consideration (evidence ratio)</a:t>
                </a:r>
                <a:endParaRPr lang="en-GB" sz="2000" noProof="0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0593B26B-C13F-EB3B-AD1B-A5EA5165D7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761" t="-167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2334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1BC74-46A3-8ED5-3BF9-654F15411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720BC7-4F9D-E727-EA96-B5BC907C1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Multi-model comparisons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8838138-123E-4987-05D7-3797DDFC081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GB" sz="2400" noProof="0" dirty="0"/>
                  <a:t>We can use </a:t>
                </a:r>
                <a:r>
                  <a:rPr lang="en-GB" sz="2400" b="1" noProof="0" dirty="0"/>
                  <a:t>Akaike model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400" noProof="0" dirty="0"/>
                  <a:t> to weight the merit of the different models</a:t>
                </a:r>
              </a:p>
              <a:p>
                <a:r>
                  <a:rPr lang="en-GB" sz="2400" dirty="0"/>
                  <a:t>In </a:t>
                </a:r>
                <a:r>
                  <a:rPr lang="en-GB" sz="2400" u="sng" dirty="0"/>
                  <a:t>nested</a:t>
                </a:r>
                <a:r>
                  <a:rPr lang="en-GB" sz="2400" dirty="0"/>
                  <a:t> model comparisons, these weights can be used to obtain better estimates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GB" sz="2400" noProof="0" dirty="0"/>
              </a:p>
              <a:p>
                <a:r>
                  <a:rPr lang="en-GB" sz="2400" dirty="0"/>
                  <a:t>These estimates are based on all models under consideration, not only the winning model</a:t>
                </a:r>
                <a:endParaRPr lang="en-GB" sz="2400" noProof="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8838138-123E-4987-05D7-3797DDFC08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47" t="-1821" r="-15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2895B08A-97FB-8736-61FC-3FB49EB268A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noProof="0" dirty="0"/>
                  <a:t>Example: Multi-model parameter estimation</a:t>
                </a:r>
              </a:p>
              <a:p>
                <a:pPr marL="0" indent="0">
                  <a:buNone/>
                </a:pPr>
                <a:r>
                  <a:rPr lang="en-GB" sz="2000" dirty="0"/>
                  <a:t>When estimating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2000" dirty="0"/>
                  <a:t>, a parameter that is contained in all models (can be zero for some), the following multi-model estimator can be used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GB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noProof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0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000" noProof="0" dirty="0"/>
              </a:p>
              <a:p>
                <a:pPr marL="0" indent="0">
                  <a:buNone/>
                </a:pPr>
                <a:r>
                  <a:rPr lang="en-GB" sz="20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sz="2000" b="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00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GB" sz="2000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000" noProof="0" dirty="0"/>
                  <a:t> is the ML-estimator of model </a:t>
                </a:r>
                <a14:m>
                  <m:oMath xmlns:m="http://schemas.openxmlformats.org/officeDocument/2006/math">
                    <m:r>
                      <a:rPr lang="en-GB" sz="2000" i="1" noProof="0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20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 noProof="0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sz="2000" i="1" noProof="0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000" noProof="0" dirty="0"/>
                  <a:t>  are the Akaike model weights.</a:t>
                </a:r>
              </a:p>
              <a:p>
                <a:pPr marL="0" indent="0">
                  <a:buNone/>
                </a:pPr>
                <a:r>
                  <a:rPr lang="en-GB" sz="2000" dirty="0"/>
                  <a:t>This estimator often has more precision and reduced bias. Similarly for model predictions.</a:t>
                </a:r>
                <a:endParaRPr lang="en-GB" sz="2000" noProof="0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2895B08A-97FB-8736-61FC-3FB49EB268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761" t="-1676" r="-4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4809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27E05E-56C0-92E6-8783-C1BF7F2B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Corrected AIC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9C213F-DCA2-35ED-27ED-14DF76D1E4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 noProof="0" dirty="0"/>
              <a:t>When using AIC in small samples (more </a:t>
            </a:r>
            <a:r>
              <a:rPr lang="en-GB" sz="2400" noProof="0" dirty="0" err="1"/>
              <a:t>speficially</a:t>
            </a:r>
            <a:r>
              <a:rPr lang="en-GB" sz="2400" noProof="0" dirty="0"/>
              <a:t>: if the number of parameters is relatively large in comparison to the number of data point), one should use the corrected AIC, </a:t>
            </a:r>
            <a:r>
              <a:rPr lang="en-GB" sz="2400" noProof="0" dirty="0" err="1"/>
              <a:t>AIC</a:t>
            </a:r>
            <a:r>
              <a:rPr lang="en-GB" sz="2400" baseline="-25000" noProof="0" dirty="0" err="1"/>
              <a:t>c</a:t>
            </a:r>
            <a:endParaRPr lang="en-GB" sz="2400" baseline="-25000" noProof="0" dirty="0"/>
          </a:p>
          <a:p>
            <a:r>
              <a:rPr lang="en-GB" sz="2400" noProof="0" dirty="0"/>
              <a:t>As the </a:t>
            </a:r>
            <a:r>
              <a:rPr lang="en-GB" sz="2400" noProof="0" dirty="0" err="1"/>
              <a:t>AIC</a:t>
            </a:r>
            <a:r>
              <a:rPr lang="en-GB" sz="2400" baseline="-25000" noProof="0" dirty="0" err="1"/>
              <a:t>c</a:t>
            </a:r>
            <a:r>
              <a:rPr lang="en-GB" sz="2400" noProof="0" dirty="0"/>
              <a:t> approximates AIC with increasing sample size, it is sometimes recommended to always use </a:t>
            </a:r>
            <a:r>
              <a:rPr lang="en-GB" sz="2400" noProof="0" dirty="0" err="1"/>
              <a:t>AIC</a:t>
            </a:r>
            <a:r>
              <a:rPr lang="en-GB" sz="2400" baseline="-25000" noProof="0" dirty="0" err="1"/>
              <a:t>c</a:t>
            </a:r>
            <a:endParaRPr lang="en-GB" sz="2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27DE528B-645D-25FC-243C-B8668FFB7FA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/>
                  <a:t>Definition: </a:t>
                </a:r>
                <a:r>
                  <a:rPr lang="en-GB" sz="2800" noProof="0" dirty="0" err="1"/>
                  <a:t>AIC</a:t>
                </a:r>
                <a:r>
                  <a:rPr lang="en-GB" sz="2800" baseline="-25000" noProof="0" dirty="0" err="1"/>
                  <a:t>c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𝐴𝐼</m:t>
                      </m:r>
                      <m:sSub>
                        <m:sSubPr>
                          <m:ctrlPr>
                            <a:rPr lang="de-DE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2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≔−2</m:t>
                      </m:r>
                      <m:func>
                        <m:funcPr>
                          <m:ctrlPr>
                            <a:rPr lang="de-DE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400" b="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de-DE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</m:d>
                        </m:e>
                      </m:func>
                      <m:r>
                        <a:rPr lang="de-DE" sz="2400" b="0" i="0" dirty="0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m:rPr>
                          <m:sty m:val="p"/>
                        </m:rPr>
                        <a:rPr lang="de-DE" sz="2400" b="0" i="0" dirty="0" smtClean="0">
                          <a:latin typeface="Cambria Math" panose="02040503050406030204" pitchFamily="18" charset="0"/>
                        </a:rPr>
                        <m:t>K</m:t>
                      </m:r>
                      <m:d>
                        <m:dPr>
                          <m:ctrlPr>
                            <a:rPr lang="de-DE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400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de-DE" sz="2400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de-DE" sz="24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sz="2400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de-DE" sz="2400" b="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27DE528B-645D-25FC-243C-B8668FFB7F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347" t="-223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7502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F54E7-511D-2B8C-DB03-719117C5F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Leave-one-out-cross-validation (LOO-CV)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3304F-DDB7-E468-5FE8-16996B6D59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 (perhaps) more intuitive approach to estimating out-of-sample predictive power: test it</a:t>
            </a:r>
          </a:p>
          <a:p>
            <a:r>
              <a:rPr lang="en-GB" dirty="0"/>
              <a:t>For N </a:t>
            </a:r>
            <a:r>
              <a:rPr lang="en-GB" dirty="0" err="1"/>
              <a:t>obs</a:t>
            </a:r>
            <a:r>
              <a:rPr lang="en-GB" dirty="0"/>
              <a:t>:</a:t>
            </a:r>
          </a:p>
          <a:p>
            <a:pPr marL="0" indent="0">
              <a:buNone/>
            </a:pPr>
            <a:r>
              <a:rPr lang="en-GB" dirty="0"/>
              <a:t>For (</a:t>
            </a:r>
            <a:r>
              <a:rPr lang="en-GB" dirty="0" err="1"/>
              <a:t>i</a:t>
            </a:r>
            <a:r>
              <a:rPr lang="en-GB" dirty="0"/>
              <a:t> in N):</a:t>
            </a:r>
          </a:p>
          <a:p>
            <a:pPr marL="457200" lvl="1" indent="0">
              <a:buNone/>
            </a:pPr>
            <a:r>
              <a:rPr lang="en-GB" dirty="0"/>
              <a:t>Fit(data[-</a:t>
            </a:r>
            <a:r>
              <a:rPr lang="en-GB" dirty="0" err="1"/>
              <a:t>i</a:t>
            </a:r>
            <a:r>
              <a:rPr lang="en-GB" dirty="0"/>
              <a:t>])</a:t>
            </a:r>
          </a:p>
          <a:p>
            <a:pPr marL="457200" lvl="1" indent="0">
              <a:buNone/>
            </a:pPr>
            <a:r>
              <a:rPr lang="en-GB" dirty="0"/>
              <a:t>Pred(data[</a:t>
            </a:r>
            <a:r>
              <a:rPr lang="en-GB" dirty="0" err="1"/>
              <a:t>i</a:t>
            </a:r>
            <a:r>
              <a:rPr lang="en-GB" dirty="0"/>
              <a:t>])</a:t>
            </a:r>
          </a:p>
          <a:p>
            <a:r>
              <a:rPr lang="en-GB" dirty="0"/>
              <a:t>I.e., evaluate model only on untrained data</a:t>
            </a:r>
          </a:p>
          <a:p>
            <a:r>
              <a:rPr lang="en-GB" dirty="0"/>
              <a:t>Can be very Expensive!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2AEC9-B7F9-4046-8556-CC8E29F3C1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For Bayesian models we can approximate it with Pareto-smoothed importance sampling (PSIS)</a:t>
            </a:r>
          </a:p>
          <a:p>
            <a:r>
              <a:rPr lang="en-GB" dirty="0"/>
              <a:t>During model sampling, we save the likelihood of each observation given the current set of parameter estimates</a:t>
            </a:r>
          </a:p>
          <a:p>
            <a:r>
              <a:rPr lang="en-GB" dirty="0"/>
              <a:t>This let's us estimate how much each datapoint contributes to the posterior, and approximate the effect of leaving out said data point</a:t>
            </a:r>
          </a:p>
        </p:txBody>
      </p:sp>
    </p:spTree>
    <p:extLst>
      <p:ext uri="{BB962C8B-B14F-4D97-AF65-F5344CB8AC3E}">
        <p14:creationId xmlns:p14="http://schemas.microsoft.com/office/powerpoint/2010/main" val="6889474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FE7A9-45D7-4B86-CBB8-679EFA507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GB" dirty="0"/>
              <a:t>Practice task: PSIS-LOO-CV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E4E70-5486-5306-316B-1E87B5A22A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767199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Install the “loo” package</a:t>
            </a:r>
          </a:p>
          <a:p>
            <a:r>
              <a:rPr lang="en-GB" dirty="0"/>
              <a:t>Fit two versions of the SDT type model we worked on last Friday</a:t>
            </a:r>
          </a:p>
          <a:p>
            <a:r>
              <a:rPr lang="en-GB" dirty="0"/>
              <a:t>One, where the visual predictor is assumed to be a linear predictor on the latent scale</a:t>
            </a:r>
          </a:p>
          <a:p>
            <a:r>
              <a:rPr lang="en-GB" dirty="0"/>
              <a:t>One, where we fit an independent predictor to each of the 4 levels: (-2, -1, +1, +2)</a:t>
            </a:r>
          </a:p>
          <a:p>
            <a:r>
              <a:rPr lang="en-GB" dirty="0"/>
              <a:t>Compare models with LOO-CV; Should we prefer the simpler or more complex model?</a:t>
            </a:r>
          </a:p>
          <a:p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6B27A0A-0CD7-FBA7-807D-5CF220C21DC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94576" y="0"/>
            <a:ext cx="5181600" cy="42384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9478A3-842B-333F-3F87-622E9000B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067" y="4269462"/>
            <a:ext cx="4427733" cy="263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8229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2B39D-F9CA-63E7-0641-ABA71CFE0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AIC and LOO-CV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2011A-E418-0B05-89E4-F2AED9361C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AIC and LOO-CV both approach the question of predictive performance on new data from true data-generating process</a:t>
            </a:r>
          </a:p>
          <a:p>
            <a:r>
              <a:rPr lang="en-GB" dirty="0"/>
              <a:t>Both correct for overfitting;</a:t>
            </a:r>
          </a:p>
          <a:p>
            <a:pPr lvl="1"/>
            <a:r>
              <a:rPr lang="en-GB" dirty="0"/>
              <a:t>AIC: correction by +2K</a:t>
            </a:r>
          </a:p>
          <a:p>
            <a:pPr lvl="1"/>
            <a:r>
              <a:rPr lang="en-GB" dirty="0"/>
              <a:t>LOO-CV: empirical hold out</a:t>
            </a:r>
          </a:p>
          <a:p>
            <a:r>
              <a:rPr lang="en-GB" dirty="0"/>
              <a:t>They are asymptotically equivalent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8D3698-6265-0535-E748-1A015A8BC5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LOO-CV: </a:t>
            </a:r>
          </a:p>
          <a:p>
            <a:r>
              <a:rPr lang="en-GB" dirty="0"/>
              <a:t>Leave out 1 data point</a:t>
            </a:r>
          </a:p>
          <a:p>
            <a:r>
              <a:rPr lang="en-GB" dirty="0"/>
              <a:t>Fit model to remaining data, and predict left-out data; compare to actual </a:t>
            </a:r>
            <a:r>
              <a:rPr lang="en-GB" dirty="0" err="1"/>
              <a:t>obs</a:t>
            </a:r>
            <a:endParaRPr lang="en-GB" dirty="0"/>
          </a:p>
          <a:p>
            <a:r>
              <a:rPr lang="en-GB" dirty="0"/>
              <a:t>Repeat for all data points</a:t>
            </a:r>
          </a:p>
          <a:p>
            <a:r>
              <a:rPr lang="en-GB" dirty="0"/>
              <a:t>Expensive, but can be cheaply approximated with pareto-smoothed importance sampling (PSIS-LOO)</a:t>
            </a:r>
          </a:p>
        </p:txBody>
      </p:sp>
    </p:spTree>
    <p:extLst>
      <p:ext uri="{BB962C8B-B14F-4D97-AF65-F5344CB8AC3E}">
        <p14:creationId xmlns:p14="http://schemas.microsoft.com/office/powerpoint/2010/main" val="7578100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47C97-45B5-C5DF-73D9-41EF91396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3B2B60-84FE-82E2-D83E-A614EDF89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comparison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02C2FF-37C0-B092-1DF0-B85C639F2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Non-nested model tests: Bayes factor</a:t>
            </a:r>
            <a:endParaRPr lang="en-GB" noProof="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539369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10F1952-4E49-62C3-C786-61E802338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Bayes factor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1DC82BD-17F6-FA78-6D21-02103D9F2D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 noProof="0" dirty="0"/>
              <a:t>In a pairwise comparison, the Bayes factor is defined as the likelihood ratio of the two models under consideration</a:t>
            </a:r>
          </a:p>
          <a:p>
            <a:r>
              <a:rPr lang="en-GB" sz="2400" dirty="0"/>
              <a:t>Unlike the frequentist LR ratio test which uses ML, the Bayes factor is based on the </a:t>
            </a:r>
            <a:r>
              <a:rPr lang="en-GB" sz="2400" b="1" dirty="0"/>
              <a:t>integral</a:t>
            </a:r>
            <a:r>
              <a:rPr lang="en-GB" sz="2400" dirty="0"/>
              <a:t> </a:t>
            </a:r>
            <a:r>
              <a:rPr lang="en-GB" sz="2400" b="1" dirty="0"/>
              <a:t>over the parameter space</a:t>
            </a:r>
          </a:p>
          <a:p>
            <a:r>
              <a:rPr lang="en-GB" sz="2400" noProof="0" dirty="0"/>
              <a:t>Using Bayes’ theorem, the ratio can be expressed by the ratio of the posterior distributions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77ECE4C0-5749-72FA-C030-6680F4CA95E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noProof="0" dirty="0"/>
                  <a:t>Definition Bayes factor:</a:t>
                </a:r>
              </a:p>
              <a:p>
                <a:pPr marL="0" indent="0">
                  <a:buNone/>
                </a:pPr>
                <a:endParaRPr lang="en-GB" sz="1000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∫</m:t>
                          </m:r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∫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e-DE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2000" noProof="0" dirty="0"/>
              </a:p>
              <a:p>
                <a:pPr marL="0" indent="0">
                  <a:buNone/>
                </a:pPr>
                <a:endParaRPr lang="en-GB" sz="1000" dirty="0"/>
              </a:p>
              <a:p>
                <a:pPr marL="0" indent="0">
                  <a:buNone/>
                </a:pPr>
                <a:r>
                  <a:rPr lang="en-GB" sz="2000" dirty="0"/>
                  <a:t>Using Bayes theorem:</a:t>
                </a:r>
              </a:p>
              <a:p>
                <a:pPr marL="0" indent="0">
                  <a:buNone/>
                </a:pPr>
                <a:endParaRPr lang="en-GB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sz="20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000" b="0" i="1" noProof="0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de-DE" sz="2000" b="0" i="1" noProof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num>
                            <m:den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sz="20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000" b="0" i="1" noProof="0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de-DE" sz="2000" b="0" i="1" noProof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de-DE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num>
                            <m:den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de-DE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den>
                      </m:f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  <a:p>
                <a:pPr marL="0" indent="0">
                  <a:buNone/>
                </a:pPr>
                <a:endParaRPr lang="en-GB" sz="1000" noProof="0" dirty="0"/>
              </a:p>
            </p:txBody>
          </p:sp>
        </mc:Choice>
        <mc:Fallback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77ECE4C0-5749-72FA-C030-6680F4CA95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761" t="-167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8730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12E5F-BEBA-AFAA-3D2F-FFCC36599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C5FE138-4FE3-7759-3903-18914306A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Bayes factor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9E44BEA-A96E-AD1B-92F7-3DC5D1E5FC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 noProof="0" dirty="0"/>
              <a:t>Bayes factor is the ratio of </a:t>
            </a:r>
            <a:r>
              <a:rPr lang="en-GB" sz="2400" b="1" noProof="0" dirty="0"/>
              <a:t>marginal likelihood</a:t>
            </a:r>
          </a:p>
          <a:p>
            <a:r>
              <a:rPr lang="en-GB" sz="2400" noProof="0" dirty="0"/>
              <a:t>In contrast to the maximal likelihood, the marginal likelihood is the </a:t>
            </a:r>
            <a:r>
              <a:rPr lang="en-GB" sz="2400" b="1" noProof="0" dirty="0"/>
              <a:t>average fit </a:t>
            </a:r>
            <a:r>
              <a:rPr lang="en-GB" sz="2400" noProof="0" dirty="0"/>
              <a:t>of the model</a:t>
            </a:r>
            <a:r>
              <a:rPr lang="en-GB" sz="2400" dirty="0"/>
              <a:t>, weighted by the prior</a:t>
            </a:r>
          </a:p>
          <a:p>
            <a:r>
              <a:rPr lang="en-GB" sz="2400" noProof="0" dirty="0"/>
              <a:t>Naturally accounts for model complexity</a:t>
            </a:r>
          </a:p>
          <a:p>
            <a:r>
              <a:rPr lang="en-GB" sz="2400" dirty="0"/>
              <a:t>Directly tells us the us how much more likely M1 is compared to M2 for producing the observed data</a:t>
            </a:r>
            <a:endParaRPr lang="en-GB" sz="2400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5B13C930-9ECC-F1AC-EB34-347907A4F8D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noProof="0" dirty="0"/>
                  <a:t>Definition Bayes factor:</a:t>
                </a:r>
              </a:p>
              <a:p>
                <a:pPr marL="0" indent="0">
                  <a:buNone/>
                </a:pPr>
                <a:endParaRPr lang="en-GB" sz="1000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∫</m:t>
                          </m:r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∫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e-DE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2000" noProof="0" dirty="0"/>
              </a:p>
              <a:p>
                <a:pPr marL="0" indent="0">
                  <a:buNone/>
                </a:pPr>
                <a:endParaRPr lang="en-GB" sz="1000" dirty="0"/>
              </a:p>
              <a:p>
                <a:pPr marL="0" indent="0">
                  <a:buNone/>
                </a:pPr>
                <a:r>
                  <a:rPr lang="en-GB" sz="2000" dirty="0"/>
                  <a:t>Using Bayes theorem:</a:t>
                </a:r>
              </a:p>
              <a:p>
                <a:pPr marL="0" indent="0">
                  <a:buNone/>
                </a:pPr>
                <a:endParaRPr lang="en-GB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sz="20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000" b="0" i="1" noProof="0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de-DE" sz="2000" b="0" i="1" noProof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num>
                            <m:den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sz="20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000" b="0" i="1" noProof="0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de-DE" sz="2000" b="0" i="1" noProof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de-DE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num>
                            <m:den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de-DE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den>
                      </m:f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  <a:p>
                <a:pPr marL="0" indent="0">
                  <a:buNone/>
                </a:pPr>
                <a:endParaRPr lang="en-GB" sz="1000" noProof="0" dirty="0"/>
              </a:p>
            </p:txBody>
          </p:sp>
        </mc:Choice>
        <mc:Fallback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5B13C930-9ECC-F1AC-EB34-347907A4F8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761" t="-167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26258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CE388-5E92-BF7B-E011-072660DAE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4335ACA-CF0F-CFCE-90B4-036BAE86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Bayes factor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C60BD99-92A8-B72F-BE6B-D880B758E0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2400" noProof="0" dirty="0"/>
              <a:t>In a pairwise comparison, the Bayes factor is defined as the likelihood ratio of the two models under consideration</a:t>
            </a:r>
          </a:p>
          <a:p>
            <a:r>
              <a:rPr lang="en-GB" sz="2400" dirty="0"/>
              <a:t>Unlike the frequentist LR ratio test which uses ML, the Bayes factor is based on the integral over the parameter space</a:t>
            </a:r>
          </a:p>
          <a:p>
            <a:r>
              <a:rPr lang="en-GB" sz="2400" noProof="0" dirty="0"/>
              <a:t>For models in which the posterior cannot be solved analytically, we need to approximate the BF</a:t>
            </a:r>
          </a:p>
          <a:p>
            <a:r>
              <a:rPr lang="en-GB" sz="2400" b="1" dirty="0"/>
              <a:t>Highly prior-sensitive! Should probably not be used with the type of regularising, minimally informative priors we have used for parameter estimation</a:t>
            </a:r>
            <a:endParaRPr lang="en-GB" sz="2400" b="1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6D408B1D-5DBD-76A4-B1A8-6E3C87685F4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ln>
                <a:solidFill>
                  <a:schemeClr val="tx1"/>
                </a:solidFill>
              </a:ln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sz="2400" noProof="0" dirty="0"/>
                  <a:t>Interpretation Bayes factor:</a:t>
                </a:r>
              </a:p>
              <a:p>
                <a:pPr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de-DE" sz="2000" b="0" i="1" noProof="0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de-DE" sz="2000" b="0" i="1" noProof="0" smtClean="0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de-DE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de-DE" sz="2000" b="0" i="1" noProof="0" smtClean="0">
                        <a:latin typeface="Cambria Math" panose="02040503050406030204" pitchFamily="18" charset="0"/>
                      </a:rPr>
                      <m:t>&lt;3.16</m:t>
                    </m:r>
                  </m:oMath>
                </a14:m>
                <a:r>
                  <a:rPr lang="en-GB" sz="2000" noProof="0" dirty="0"/>
                  <a:t>: </a:t>
                </a:r>
                <a:br>
                  <a:rPr lang="en-GB" sz="2000" noProof="0" dirty="0"/>
                </a:br>
                <a:r>
                  <a:rPr lang="en-GB" sz="2000" noProof="0" dirty="0"/>
                  <a:t>Anecdotal evidence in favour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sz="2000" noProof="0" dirty="0"/>
              </a:p>
              <a:p>
                <a:pPr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3.16</m:t>
                    </m:r>
                    <m:r>
                      <a:rPr lang="de-DE" sz="2000" b="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de-DE" sz="2000" b="0" i="1" noProof="0" smtClean="0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de-DE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de-DE" sz="2000" b="0" i="1" noProof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de-DE" sz="2000" b="0" i="0" noProof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GB" sz="2000" noProof="0" dirty="0"/>
                  <a:t>: </a:t>
                </a:r>
                <a:br>
                  <a:rPr lang="en-GB" sz="2000" noProof="0" dirty="0"/>
                </a:br>
                <a:r>
                  <a:rPr lang="en-GB" sz="2000" noProof="0" dirty="0"/>
                  <a:t>Substantial evidence in favour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sz="2000" noProof="0" dirty="0"/>
              </a:p>
              <a:p>
                <a:pPr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de-DE" sz="2000" b="0" i="1" noProof="0" smtClean="0">
                        <a:latin typeface="Cambria Math" panose="02040503050406030204" pitchFamily="18" charset="0"/>
                      </a:rPr>
                      <m:t>10≤</m:t>
                    </m:r>
                    <m:r>
                      <a:rPr lang="de-DE" sz="2000" b="0" i="1" noProof="0" smtClean="0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de-DE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de-DE" sz="2000" b="0" i="1" noProof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de-DE" sz="2000" b="0" i="0" noProof="0" smtClean="0">
                        <a:latin typeface="Cambria Math" panose="02040503050406030204" pitchFamily="18" charset="0"/>
                      </a:rPr>
                      <m:t>31.6</m:t>
                    </m:r>
                  </m:oMath>
                </a14:m>
                <a:r>
                  <a:rPr lang="en-GB" sz="2000" noProof="0" dirty="0"/>
                  <a:t>: </a:t>
                </a:r>
                <a:br>
                  <a:rPr lang="en-GB" sz="2000" noProof="0" dirty="0"/>
                </a:br>
                <a:r>
                  <a:rPr lang="en-GB" sz="2000" noProof="0" dirty="0"/>
                  <a:t>Strong evidence in favour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sz="2000" noProof="0" dirty="0"/>
              </a:p>
              <a:p>
                <a:pPr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de-DE" sz="2000" b="0" i="1" noProof="0" smtClean="0">
                        <a:latin typeface="Cambria Math" panose="02040503050406030204" pitchFamily="18" charset="0"/>
                      </a:rPr>
                      <m:t>31.6≤</m:t>
                    </m:r>
                    <m:r>
                      <a:rPr lang="de-DE" sz="2000" b="0" i="1" noProof="0" smtClean="0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de-DE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de-DE" sz="2000" b="0" i="1" noProof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de-DE" sz="2000" b="0" i="0" noProof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GB" sz="2000" noProof="0" dirty="0"/>
                  <a:t>: </a:t>
                </a:r>
                <a:br>
                  <a:rPr lang="en-GB" sz="2000" noProof="0" dirty="0"/>
                </a:br>
                <a:r>
                  <a:rPr lang="en-GB" sz="2000" noProof="0" dirty="0"/>
                  <a:t>Very strong evidence in favour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sz="2000" noProof="0" dirty="0"/>
              </a:p>
              <a:p>
                <a:pPr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de-DE" sz="2000" b="0" i="1" noProof="0" smtClean="0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de-DE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de-DE" sz="2000" b="0" i="1" noProof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de-DE" sz="2000" b="0" i="0" noProof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GB" sz="2000" noProof="0" dirty="0"/>
                  <a:t>: </a:t>
                </a:r>
                <a:br>
                  <a:rPr lang="en-GB" sz="2000" noProof="0" dirty="0"/>
                </a:br>
                <a:r>
                  <a:rPr lang="en-GB" sz="2000" noProof="0" dirty="0"/>
                  <a:t>Decisive evidence in favour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sz="2000" noProof="0" dirty="0"/>
              </a:p>
              <a:p>
                <a:pPr marL="0" indent="0">
                  <a:buNone/>
                </a:pPr>
                <a:r>
                  <a:rPr lang="en-GB" sz="2000" noProof="0" dirty="0"/>
                  <a:t>Analog for </a:t>
                </a:r>
                <a14:m>
                  <m:oMath xmlns:m="http://schemas.openxmlformats.org/officeDocument/2006/math">
                    <m:r>
                      <a:rPr lang="de-DE" sz="2000" b="0" i="1" noProof="0" smtClean="0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de-DE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de-DE" sz="2000" b="0" i="1" noProof="0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r>
                      <a:rPr lang="de-DE" sz="2000" i="1">
                        <a:latin typeface="Cambria Math" panose="02040503050406030204" pitchFamily="18" charset="0"/>
                      </a:rPr>
                      <m:t>=1/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GB" sz="2000" noProof="0" dirty="0"/>
              </a:p>
            </p:txBody>
          </p:sp>
        </mc:Choice>
        <mc:Fallback xmlns="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6D408B1D-5DBD-76A4-B1A8-6E3C87685F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761" t="-167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70104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6FF24-1215-0F8F-FA7C-0491D00F1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54B194D-104C-60CE-7EB1-012E61AF0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Bayesian information criterion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4DA318B-B2B1-A5AF-CC3B-CE5897DB11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GB" sz="2400" noProof="0" dirty="0"/>
              <a:t>The Bayesian information criterion (BIC) follows a similar approach as the AIC</a:t>
            </a:r>
          </a:p>
          <a:p>
            <a:r>
              <a:rPr lang="en-GB" sz="2400" dirty="0"/>
              <a:t>However,</a:t>
            </a:r>
            <a:r>
              <a:rPr lang="en-GB" sz="2400" noProof="0" dirty="0"/>
              <a:t> the BIC is not based on information theory, but firmly grounded in Bayesian inference</a:t>
            </a:r>
          </a:p>
          <a:p>
            <a:r>
              <a:rPr lang="en-GB" sz="2400" noProof="0" dirty="0"/>
              <a:t>The BIC can be used to approximate the Bayes factor, using </a:t>
            </a:r>
            <a:r>
              <a:rPr lang="en-GB" sz="2400" b="1" noProof="0" dirty="0"/>
              <a:t>only the ML</a:t>
            </a:r>
          </a:p>
          <a:p>
            <a:r>
              <a:rPr lang="en-GB" sz="2400" dirty="0"/>
              <a:t>The BIC can be used for model comparison, just like the AIC. In this case, the BIC can be (and is) used in frequentist approaches also</a:t>
            </a:r>
            <a:endParaRPr lang="en-GB" sz="2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963DCD8A-FE1E-6190-CE5F-64F98367969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Definition BIC:</a:t>
                </a:r>
              </a:p>
              <a:p>
                <a:pPr marL="0" indent="0">
                  <a:buNone/>
                </a:pPr>
                <a:endParaRPr lang="de-DE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𝐵𝐼𝐶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=−2</m:t>
                      </m:r>
                      <m:func>
                        <m:func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0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</m:d>
                        </m:e>
                      </m:func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  <m:func>
                        <m:func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0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de-DE" sz="2000" b="0" dirty="0"/>
              </a:p>
              <a:p>
                <a:pPr marL="0" indent="0">
                  <a:buNone/>
                </a:pPr>
                <a:endParaRPr lang="en-GB" sz="2000" noProof="0" dirty="0"/>
              </a:p>
              <a:p>
                <a:pPr marL="0" indent="0">
                  <a:buNone/>
                </a:pPr>
                <a:r>
                  <a:rPr lang="en-GB" sz="2000" noProof="0" dirty="0"/>
                  <a:t>The BIC is a large </a:t>
                </a:r>
                <a14:m>
                  <m:oMath xmlns:m="http://schemas.openxmlformats.org/officeDocument/2006/math">
                    <m:r>
                      <a:rPr lang="en-GB" sz="2000" i="1" noProof="0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000" noProof="0" dirty="0"/>
                  <a:t> approximation of the Bayes factor:</a:t>
                </a:r>
              </a:p>
              <a:p>
                <a:pPr marL="0" indent="0">
                  <a:buNone/>
                </a:pPr>
                <a:endParaRPr lang="en-GB" sz="2000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2000" b="0" i="0" noProof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−0.5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e-DE" sz="2000" b="0" i="0" noProof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𝐵𝐼</m:t>
                                  </m:r>
                                  <m:sSub>
                                    <m:sSubPr>
                                      <m:ctrlPr>
                                        <a:rPr lang="de-DE" sz="20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000" b="0" i="1" noProof="0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de-DE" sz="2000" b="0" i="1" noProof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2000" b="0" i="0" noProof="0" smtClean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e-DE" sz="20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000" b="0" i="1" noProof="0" smtClean="0">
                                          <a:latin typeface="Cambria Math" panose="02040503050406030204" pitchFamily="18" charset="0"/>
                                        </a:rPr>
                                        <m:t>−0.5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de-DE" sz="2000" b="0" i="0" noProof="0" smtClean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de-DE" sz="2000" b="0" i="1" noProof="0" smtClean="0">
                                          <a:latin typeface="Cambria Math" panose="02040503050406030204" pitchFamily="18" charset="0"/>
                                        </a:rPr>
                                        <m:t>𝐵𝐼</m:t>
                                      </m:r>
                                      <m:sSub>
                                        <m:sSubPr>
                                          <m:ctrlPr>
                                            <a:rPr lang="de-DE" sz="2000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sz="2000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de-DE" sz="2000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</m:oMath>
                  </m:oMathPara>
                </a14:m>
                <a:endParaRPr lang="en-GB" sz="2000" noProof="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r>
                  <a:rPr lang="en-GB" sz="2000" dirty="0"/>
                  <a:t>That is, the relative model posterior probabilities assuming a uniform prior (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GB" sz="2000" dirty="0"/>
                  <a:t>)</a:t>
                </a:r>
                <a:endParaRPr lang="en-GB" sz="2000" noProof="0" dirty="0"/>
              </a:p>
            </p:txBody>
          </p:sp>
        </mc:Choice>
        <mc:Fallback xmlns="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963DCD8A-FE1E-6190-CE5F-64F9836796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882" t="-1821" b="-210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35762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C23A7E-1B54-C13A-FB66-B29A6A58F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Approximating Bayes factors by BIC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37B2E76-52B0-3CBD-CD96-1C02629321B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noProof="0" dirty="0"/>
                  <a:t>To obtain Bayes factors for models without an analytic solution of the posterior:</a:t>
                </a:r>
              </a:p>
              <a:p>
                <a:pPr lvl="1"/>
                <a:r>
                  <a:rPr lang="en-GB" noProof="0" dirty="0"/>
                  <a:t>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0" noProof="0" dirty="0" smtClean="0">
                        <a:latin typeface="Cambria Math" panose="02040503050406030204" pitchFamily="18" charset="0"/>
                      </a:rPr>
                      <m:t>BIC</m:t>
                    </m:r>
                  </m:oMath>
                </a14:m>
                <a:r>
                  <a:rPr lang="en-GB" noProof="0" dirty="0"/>
                  <a:t> values</a:t>
                </a:r>
              </a:p>
              <a:p>
                <a:pPr lvl="1"/>
                <a:r>
                  <a:rPr lang="en-GB" noProof="0" dirty="0"/>
                  <a:t>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noProof="0" smtClean="0">
                        <a:latin typeface="Cambria Math" panose="02040503050406030204" pitchFamily="18" charset="0"/>
                      </a:rPr>
                      <m:t>ΔBIC</m:t>
                    </m:r>
                  </m:oMath>
                </a14:m>
                <a:r>
                  <a:rPr lang="en-GB" noProof="0" dirty="0"/>
                  <a:t> values</a:t>
                </a:r>
              </a:p>
              <a:p>
                <a:pPr lvl="1"/>
                <a:r>
                  <a:rPr lang="en-GB" noProof="0" dirty="0"/>
                  <a:t>Obtain the approximate posterior probabilities</a:t>
                </a:r>
              </a:p>
              <a:p>
                <a:pPr lvl="1"/>
                <a:r>
                  <a:rPr lang="en-GB" noProof="0" dirty="0"/>
                  <a:t>Transform the posterior probabilities into a Bayes factor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37B2E76-52B0-3CBD-CD96-1C02629321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23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1F8D129-6789-FA87-3884-9507ECE24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GB" sz="1600" noProof="0" dirty="0">
                <a:latin typeface="Consolas" panose="020B0609020204030204" pitchFamily="49" charset="0"/>
              </a:rPr>
              <a:t>bic2bf &lt;- </a:t>
            </a:r>
            <a:r>
              <a:rPr lang="en-GB" sz="16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GB" sz="1600" noProof="0" dirty="0">
                <a:latin typeface="Consolas" panose="020B0609020204030204" pitchFamily="49" charset="0"/>
              </a:rPr>
              <a:t>(BIC)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sz="1600" noProof="0" dirty="0">
                <a:latin typeface="Consolas" panose="020B0609020204030204" pitchFamily="49" charset="0"/>
              </a:rPr>
              <a:t>  </a:t>
            </a:r>
            <a:r>
              <a:rPr lang="en-GB" sz="1600" noProof="0" dirty="0" err="1">
                <a:latin typeface="Consolas" panose="020B0609020204030204" pitchFamily="49" charset="0"/>
              </a:rPr>
              <a:t>dBIC</a:t>
            </a:r>
            <a:r>
              <a:rPr lang="en-GB" sz="1600" noProof="0" dirty="0">
                <a:latin typeface="Consolas" panose="020B0609020204030204" pitchFamily="49" charset="0"/>
              </a:rPr>
              <a:t> &lt;- BIC - min(BIC) </a:t>
            </a:r>
            <a:r>
              <a:rPr lang="en-GB" sz="1600" noProof="0" dirty="0">
                <a:solidFill>
                  <a:schemeClr val="accent3"/>
                </a:solidFill>
                <a:latin typeface="Consolas" panose="020B0609020204030204" pitchFamily="49" charset="0"/>
              </a:rPr>
              <a:t># delta BIC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sz="1600" noProof="0" dirty="0">
                <a:latin typeface="Consolas" panose="020B0609020204030204" pitchFamily="49" charset="0"/>
              </a:rPr>
              <a:t>  posterior &lt;- exp(-.</a:t>
            </a:r>
            <a:r>
              <a:rPr lang="en-GB" sz="16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  <a:r>
              <a:rPr lang="en-GB" sz="1600" noProof="0" dirty="0">
                <a:latin typeface="Consolas" panose="020B0609020204030204" pitchFamily="49" charset="0"/>
              </a:rPr>
              <a:t>*</a:t>
            </a:r>
            <a:r>
              <a:rPr lang="en-GB" sz="1600" noProof="0" dirty="0" err="1">
                <a:latin typeface="Consolas" panose="020B0609020204030204" pitchFamily="49" charset="0"/>
              </a:rPr>
              <a:t>dBIC</a:t>
            </a:r>
            <a:r>
              <a:rPr lang="en-GB" sz="1600" noProof="0" dirty="0">
                <a:latin typeface="Consolas" panose="020B0609020204030204" pitchFamily="49" charset="0"/>
              </a:rPr>
              <a:t>)/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sz="1600" dirty="0">
                <a:latin typeface="Consolas" panose="020B0609020204030204" pitchFamily="49" charset="0"/>
              </a:rPr>
              <a:t>	</a:t>
            </a:r>
            <a:r>
              <a:rPr lang="en-GB" sz="1600" noProof="0" dirty="0">
                <a:latin typeface="Consolas" panose="020B0609020204030204" pitchFamily="49" charset="0"/>
              </a:rPr>
              <a:t>sum(exp(-.</a:t>
            </a:r>
            <a:r>
              <a:rPr lang="en-GB" sz="16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  <a:r>
              <a:rPr lang="en-GB" sz="1600" noProof="0" dirty="0">
                <a:latin typeface="Consolas" panose="020B0609020204030204" pitchFamily="49" charset="0"/>
              </a:rPr>
              <a:t>*</a:t>
            </a:r>
            <a:r>
              <a:rPr lang="en-GB" sz="1600" noProof="0" dirty="0" err="1">
                <a:latin typeface="Consolas" panose="020B0609020204030204" pitchFamily="49" charset="0"/>
              </a:rPr>
              <a:t>dBIC</a:t>
            </a:r>
            <a:r>
              <a:rPr lang="en-GB" sz="1600" noProof="0" dirty="0">
                <a:latin typeface="Consolas" panose="020B0609020204030204" pitchFamily="49" charset="0"/>
              </a:rPr>
              <a:t>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sz="1600" noProof="0" dirty="0">
                <a:latin typeface="Consolas" panose="020B0609020204030204" pitchFamily="49" charset="0"/>
              </a:rPr>
              <a:t>  BF &lt;- posterior / min(posterior)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sz="1600" noProof="0" dirty="0">
                <a:latin typeface="Consolas" panose="020B0609020204030204" pitchFamily="49" charset="0"/>
              </a:rPr>
              <a:t>  </a:t>
            </a:r>
            <a:r>
              <a:rPr lang="en-GB" sz="1600" noProof="0" dirty="0" err="1">
                <a:latin typeface="Consolas" panose="020B0609020204030204" pitchFamily="49" charset="0"/>
              </a:rPr>
              <a:t>data.frame</a:t>
            </a:r>
            <a:r>
              <a:rPr lang="en-GB" sz="1600" noProof="0" dirty="0">
                <a:latin typeface="Consolas" panose="020B0609020204030204" pitchFamily="49" charset="0"/>
              </a:rPr>
              <a:t>(BIC, posterior, BF)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sz="1600" noProof="0" dirty="0"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sz="1600" noProof="0" dirty="0">
                <a:latin typeface="Consolas" panose="020B0609020204030204" pitchFamily="49" charset="0"/>
              </a:rPr>
              <a:t>bic2bf(BIC=c(</a:t>
            </a:r>
            <a:r>
              <a:rPr lang="en-GB" sz="16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  <a:r>
              <a:rPr lang="en-GB" sz="1600" noProof="0" dirty="0">
                <a:latin typeface="Consolas" panose="020B0609020204030204" pitchFamily="49" charset="0"/>
              </a:rPr>
              <a:t>.</a:t>
            </a:r>
            <a:r>
              <a:rPr lang="en-GB" sz="16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32</a:t>
            </a:r>
            <a:r>
              <a:rPr lang="en-GB" sz="1600" noProof="0" dirty="0">
                <a:latin typeface="Consolas" panose="020B0609020204030204" pitchFamily="49" charset="0"/>
              </a:rPr>
              <a:t>, </a:t>
            </a:r>
            <a:r>
              <a:rPr lang="en-GB" sz="16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  <a:r>
              <a:rPr lang="en-GB" sz="1600" noProof="0" dirty="0">
                <a:latin typeface="Consolas" panose="020B0609020204030204" pitchFamily="49" charset="0"/>
              </a:rPr>
              <a:t>.</a:t>
            </a:r>
            <a:r>
              <a:rPr lang="en-GB" sz="16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45</a:t>
            </a:r>
            <a:r>
              <a:rPr lang="en-GB" sz="1600" noProof="0" dirty="0">
                <a:latin typeface="Consolas" panose="020B0609020204030204" pitchFamily="49" charset="0"/>
              </a:rPr>
              <a:t>, </a:t>
            </a:r>
            <a:r>
              <a:rPr lang="en-GB" sz="16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  <a:r>
              <a:rPr lang="en-GB" sz="1600" noProof="0" dirty="0">
                <a:latin typeface="Consolas" panose="020B0609020204030204" pitchFamily="49" charset="0"/>
              </a:rPr>
              <a:t>.</a:t>
            </a:r>
            <a:r>
              <a:rPr lang="en-GB" sz="16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  <a:r>
              <a:rPr lang="en-GB" sz="1600" noProof="0" dirty="0">
                <a:latin typeface="Consolas" panose="020B0609020204030204" pitchFamily="49" charset="0"/>
              </a:rPr>
              <a:t>, </a:t>
            </a:r>
            <a:r>
              <a:rPr lang="en-GB" sz="16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GB" sz="1600" noProof="0" dirty="0">
                <a:latin typeface="Consolas" panose="020B0609020204030204" pitchFamily="49" charset="0"/>
              </a:rPr>
              <a:t>.</a:t>
            </a:r>
            <a:r>
              <a:rPr lang="en-GB" sz="16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91</a:t>
            </a:r>
            <a:r>
              <a:rPr lang="en-GB" sz="1600" noProof="0" dirty="0"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endParaRPr lang="en-GB" sz="1600" noProof="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600" noProof="0" dirty="0">
                <a:latin typeface="Consolas" panose="020B0609020204030204" pitchFamily="49" charset="0"/>
              </a:rPr>
              <a:t>   BIC  posterior        BF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noProof="0" dirty="0">
                <a:latin typeface="Consolas" panose="020B0609020204030204" pitchFamily="49" charset="0"/>
              </a:rPr>
              <a:t>1 2.32 0.39574517 11.078430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noProof="0" dirty="0">
                <a:latin typeface="Consolas" panose="020B0609020204030204" pitchFamily="49" charset="0"/>
              </a:rPr>
              <a:t>2 5.45 0.08274557  2.316367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noProof="0" dirty="0">
                <a:latin typeface="Consolas" panose="020B0609020204030204" pitchFamily="49" charset="0"/>
              </a:rPr>
              <a:t>3 7.13 0.03572213  1.000000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noProof="0" dirty="0">
                <a:latin typeface="Consolas" panose="020B0609020204030204" pitchFamily="49" charset="0"/>
              </a:rPr>
              <a:t>4 1.91 0.48578712 13.599051</a:t>
            </a:r>
          </a:p>
        </p:txBody>
      </p:sp>
    </p:spTree>
    <p:extLst>
      <p:ext uri="{BB962C8B-B14F-4D97-AF65-F5344CB8AC3E}">
        <p14:creationId xmlns:p14="http://schemas.microsoft.com/office/powerpoint/2010/main" val="16385274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9EEE3-5FF5-D5D1-222F-994289879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C9AF67-881A-ECA6-AB3E-6CE3D3DB6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comparison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DE99BE-5877-114D-A0EB-70B502B86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Beyond parameter count: Minimum description length</a:t>
            </a:r>
          </a:p>
        </p:txBody>
      </p:sp>
    </p:spTree>
    <p:extLst>
      <p:ext uri="{BB962C8B-B14F-4D97-AF65-F5344CB8AC3E}">
        <p14:creationId xmlns:p14="http://schemas.microsoft.com/office/powerpoint/2010/main" val="21990797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D35EE-5926-A7D2-0DC4-745EAF66E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DE9D22-4294-F79A-83CE-52B30BF44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Source coding theorem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E8AD64-9EB6-6080-A2AB-394F8DC79A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 noProof="0" dirty="0"/>
              <a:t>Minimum description length is, like AIC, an information theory derived quantity</a:t>
            </a:r>
          </a:p>
          <a:p>
            <a:r>
              <a:rPr lang="en-GB" sz="2400" noProof="0" dirty="0"/>
              <a:t>In addition to entropy, the </a:t>
            </a:r>
            <a:r>
              <a:rPr lang="en-GB" sz="2400" b="1" noProof="0" dirty="0"/>
              <a:t>coding scheme </a:t>
            </a:r>
            <a:r>
              <a:rPr lang="en-GB" sz="2400" noProof="0" dirty="0"/>
              <a:t>determines, how much information we need to transmit to a receiver</a:t>
            </a:r>
          </a:p>
          <a:p>
            <a:r>
              <a:rPr lang="en-GB" sz="2400" noProof="0" dirty="0"/>
              <a:t>Optimal coding:</a:t>
            </a:r>
          </a:p>
          <a:p>
            <a:pPr lvl="1"/>
            <a:r>
              <a:rPr lang="en-GB" sz="2000" dirty="0"/>
              <a:t>More likely events should have shorter coding length</a:t>
            </a:r>
          </a:p>
          <a:p>
            <a:pPr lvl="1"/>
            <a:r>
              <a:rPr lang="en-GB" sz="2000" noProof="0" dirty="0"/>
              <a:t>Longer coding </a:t>
            </a:r>
            <a:r>
              <a:rPr lang="en-GB" sz="2000" dirty="0"/>
              <a:t>lengths for l</a:t>
            </a:r>
            <a:r>
              <a:rPr lang="en-GB" sz="2000" noProof="0" dirty="0"/>
              <a:t>ess likely events</a:t>
            </a:r>
            <a:endParaRPr lang="en-GB" sz="16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BDDDF13A-1A86-9D3A-9FF1-D4A1FD358C5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000" noProof="0" dirty="0"/>
                  <a:t>Example: </a:t>
                </a:r>
                <a:r>
                  <a:rPr lang="de-DE" sz="2000" noProof="0" dirty="0"/>
                  <a:t>Coding </a:t>
                </a:r>
                <a:r>
                  <a:rPr lang="en-GB" sz="2000" noProof="0" dirty="0"/>
                  <a:t>schemes</a:t>
                </a:r>
              </a:p>
              <a:p>
                <a:pPr marL="0" indent="0">
                  <a:buNone/>
                </a:pPr>
                <a:r>
                  <a:rPr lang="en-GB" sz="1800" noProof="0" dirty="0"/>
                  <a:t>Entropy of </a:t>
                </a:r>
                <a14:m>
                  <m:oMath xmlns:m="http://schemas.openxmlformats.org/officeDocument/2006/math">
                    <m:r>
                      <a:rPr lang="en-GB" sz="1800" i="1" noProof="0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de-DE" sz="1800" b="0" i="1" noProof="0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𝒰</m:t>
                    </m:r>
                    <m:d>
                      <m:dPr>
                        <m:ctrlPr>
                          <a:rPr lang="de-DE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0;7</m:t>
                        </m:r>
                      </m:e>
                    </m:d>
                  </m:oMath>
                </a14:m>
                <a:r>
                  <a:rPr lang="en-GB" sz="1800" noProof="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=−8×</m:t>
                      </m:r>
                      <m:f>
                        <m:f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func>
                        <m:func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de-DE" sz="18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1800" b="0" i="0" noProof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de-DE" sz="18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de-DE" sz="18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sz="18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18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de-DE" sz="1800" b="0" i="1" noProof="0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=3 (</m:t>
                      </m:r>
                      <m:r>
                        <m:rPr>
                          <m:sty m:val="p"/>
                        </m:rPr>
                        <a:rPr lang="de-DE" sz="1800" b="0" i="0" noProof="0" smtClean="0">
                          <a:latin typeface="Cambria Math" panose="02040503050406030204" pitchFamily="18" charset="0"/>
                        </a:rPr>
                        <m:t>bits</m:t>
                      </m:r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1800" b="0" noProof="0" dirty="0"/>
              </a:p>
              <a:p>
                <a:pPr marL="0" indent="0">
                  <a:buNone/>
                </a:pPr>
                <a:r>
                  <a:rPr lang="en-GB" sz="1800" noProof="0" dirty="0"/>
                  <a:t>Entropy of </a:t>
                </a:r>
                <a14:m>
                  <m:oMath xmlns:m="http://schemas.openxmlformats.org/officeDocument/2006/math">
                    <m:r>
                      <a:rPr lang="de-DE" sz="1800" b="0" i="1" noProof="0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1800" noProof="0" dirty="0"/>
                  <a:t>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8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e-DE" sz="1800" b="0" i="1" noProof="0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de-DE" sz="1800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sz="18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de-DE" sz="18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de-DE" sz="18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a:rPr lang="de-DE" sz="18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a:rPr lang="de-DE" sz="18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  <m:t>64</m:t>
                            </m:r>
                          </m:den>
                        </m:f>
                        <m:r>
                          <a:rPr lang="de-DE" sz="18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  <m:t>64</m:t>
                            </m:r>
                          </m:den>
                        </m:f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de-DE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64</m:t>
                            </m:r>
                          </m:den>
                        </m:f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de-DE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64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1800" noProof="0" dirty="0"/>
                  <a:t>:</a:t>
                </a:r>
              </a:p>
              <a:p>
                <a:pPr marL="0" indent="0">
                  <a:buNone/>
                </a:pPr>
                <a:endParaRPr lang="en-GB" sz="800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=2 (</m:t>
                      </m:r>
                      <m:r>
                        <m:rPr>
                          <m:sty m:val="p"/>
                        </m:rPr>
                        <a:rPr lang="de-DE" sz="1800" b="0" i="0" noProof="0" smtClean="0">
                          <a:latin typeface="Cambria Math" panose="02040503050406030204" pitchFamily="18" charset="0"/>
                        </a:rPr>
                        <m:t>bits</m:t>
                      </m:r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000" b="0" noProof="0" dirty="0"/>
              </a:p>
              <a:p>
                <a:pPr marL="0" indent="0">
                  <a:buNone/>
                </a:pPr>
                <a:r>
                  <a:rPr lang="en-GB" sz="2000" b="0" noProof="0" dirty="0"/>
                  <a:t>Average code length:</a:t>
                </a:r>
              </a:p>
              <a:p>
                <a:pPr marL="0" indent="0">
                  <a:buNone/>
                </a:pPr>
                <a:r>
                  <a:rPr lang="en-GB" sz="1800" dirty="0"/>
                  <a:t>Using 3-bit coding scheme: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800" b="0" i="0" noProof="0" smtClean="0">
                          <a:latin typeface="Cambria Math" panose="02040503050406030204" pitchFamily="18" charset="0"/>
                        </a:rPr>
                        <m:t>ACL</m:t>
                      </m:r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+4×</m:t>
                      </m:r>
                      <m:f>
                        <m:f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64</m:t>
                          </m:r>
                        </m:den>
                      </m:f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de-DE" sz="1800" b="0" noProof="0" dirty="0"/>
              </a:p>
              <a:p>
                <a:pPr marL="0" indent="0">
                  <a:buNone/>
                </a:pPr>
                <a:r>
                  <a:rPr lang="en-GB" sz="1800" dirty="0"/>
                  <a:t>Using optimal coding scheme: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800" b="0" i="0" noProof="0" smtClean="0">
                          <a:latin typeface="Cambria Math" panose="02040503050406030204" pitchFamily="18" charset="0"/>
                        </a:rPr>
                        <m:t>ACL</m:t>
                      </m:r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+4×</m:t>
                      </m:r>
                      <m:f>
                        <m:f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64</m:t>
                          </m:r>
                        </m:den>
                      </m:f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800" b="0" noProof="0" dirty="0"/>
              </a:p>
              <a:p>
                <a:pPr marL="0" indent="0">
                  <a:buNone/>
                </a:pPr>
                <a:endParaRPr lang="de-DE" sz="2000" b="0" noProof="0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BDDDF13A-1A86-9D3A-9FF1-D4A1FD358C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174" t="-111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feld 4">
            <a:extLst>
              <a:ext uri="{FF2B5EF4-FFF2-40B4-BE49-F238E27FC236}">
                <a16:creationId xmlns:a16="http://schemas.microsoft.com/office/drawing/2014/main" id="{EF77EEFC-76AB-9AD5-BFD0-34B5B64C0907}"/>
              </a:ext>
            </a:extLst>
          </p:cNvPr>
          <p:cNvSpPr txBox="1"/>
          <p:nvPr/>
        </p:nvSpPr>
        <p:spPr>
          <a:xfrm>
            <a:off x="9934832" y="6417276"/>
            <a:ext cx="13516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Shannon, 1948</a:t>
            </a:r>
          </a:p>
        </p:txBody>
      </p:sp>
    </p:spTree>
    <p:extLst>
      <p:ext uri="{BB962C8B-B14F-4D97-AF65-F5344CB8AC3E}">
        <p14:creationId xmlns:p14="http://schemas.microsoft.com/office/powerpoint/2010/main" val="3134205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96ADB-B4AF-F1C3-55B0-8D881AB0C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BD67D8-0F98-27F6-DA68-0C5F9BBE3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Source coding theorem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5096A8-719C-B4A5-4B14-8C62B62504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 noProof="0" dirty="0"/>
              <a:t>Optimal coding:</a:t>
            </a:r>
          </a:p>
          <a:p>
            <a:pPr lvl="1"/>
            <a:r>
              <a:rPr lang="en-GB" sz="2000" dirty="0"/>
              <a:t>More likely events should have shorter coding length</a:t>
            </a:r>
          </a:p>
          <a:p>
            <a:pPr lvl="1"/>
            <a:r>
              <a:rPr lang="en-GB" sz="2000" noProof="0" dirty="0"/>
              <a:t>Longer coding </a:t>
            </a:r>
            <a:r>
              <a:rPr lang="en-GB" sz="2000" dirty="0"/>
              <a:t>lengths for l</a:t>
            </a:r>
            <a:r>
              <a:rPr lang="en-GB" sz="2000" noProof="0" dirty="0"/>
              <a:t>ess likely events</a:t>
            </a:r>
          </a:p>
          <a:p>
            <a:r>
              <a:rPr lang="en-GB" sz="2400" dirty="0"/>
              <a:t>However, optimal coding requires knowledge of the </a:t>
            </a:r>
            <a:r>
              <a:rPr lang="en-GB" sz="2400" dirty="0" err="1"/>
              <a:t>pmf</a:t>
            </a:r>
            <a:r>
              <a:rPr lang="en-GB" sz="2400" dirty="0"/>
              <a:t>/likelihood</a:t>
            </a:r>
          </a:p>
          <a:p>
            <a:r>
              <a:rPr lang="en-GB" sz="2400" noProof="0" dirty="0"/>
              <a:t>Without that knowledge, we need to resort to less efficient coding schemes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527AF1F0-C519-3025-E459-BD798EF7A90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000" noProof="0" dirty="0"/>
                  <a:t>Example: </a:t>
                </a:r>
                <a:r>
                  <a:rPr lang="de-DE" sz="2000" noProof="0" dirty="0"/>
                  <a:t>Coding </a:t>
                </a:r>
                <a:r>
                  <a:rPr lang="en-GB" sz="2000" noProof="0" dirty="0"/>
                  <a:t>schemes</a:t>
                </a:r>
              </a:p>
              <a:p>
                <a:pPr marL="0" indent="0">
                  <a:buNone/>
                </a:pPr>
                <a:r>
                  <a:rPr lang="en-GB" sz="1800" noProof="0" dirty="0"/>
                  <a:t>Entropy of </a:t>
                </a:r>
                <a14:m>
                  <m:oMath xmlns:m="http://schemas.openxmlformats.org/officeDocument/2006/math">
                    <m:r>
                      <a:rPr lang="en-GB" sz="1800" i="1" noProof="0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de-DE" sz="1800" b="0" i="1" noProof="0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𝒰</m:t>
                    </m:r>
                    <m:d>
                      <m:dPr>
                        <m:ctrlPr>
                          <a:rPr lang="de-DE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0;7</m:t>
                        </m:r>
                      </m:e>
                    </m:d>
                  </m:oMath>
                </a14:m>
                <a:r>
                  <a:rPr lang="en-GB" sz="1800" noProof="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=−8×</m:t>
                      </m:r>
                      <m:f>
                        <m:f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func>
                        <m:func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de-DE" sz="18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1800" b="0" i="0" noProof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de-DE" sz="18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de-DE" sz="18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sz="18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18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de-DE" sz="1800" b="0" i="1" noProof="0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=3 (</m:t>
                      </m:r>
                      <m:r>
                        <m:rPr>
                          <m:sty m:val="p"/>
                        </m:rPr>
                        <a:rPr lang="de-DE" sz="1800" b="0" i="0" noProof="0" smtClean="0">
                          <a:latin typeface="Cambria Math" panose="02040503050406030204" pitchFamily="18" charset="0"/>
                        </a:rPr>
                        <m:t>bits</m:t>
                      </m:r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1800" b="0" noProof="0" dirty="0"/>
              </a:p>
              <a:p>
                <a:pPr marL="0" indent="0">
                  <a:buNone/>
                </a:pPr>
                <a:r>
                  <a:rPr lang="en-GB" sz="1800" noProof="0" dirty="0"/>
                  <a:t>Entropy of </a:t>
                </a:r>
                <a14:m>
                  <m:oMath xmlns:m="http://schemas.openxmlformats.org/officeDocument/2006/math">
                    <m:r>
                      <a:rPr lang="de-DE" sz="1800" b="0" i="1" noProof="0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1800" noProof="0" dirty="0"/>
                  <a:t>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8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e-DE" sz="1800" b="0" i="1" noProof="0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de-DE" sz="1800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sz="18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de-DE" sz="18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de-DE" sz="18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a:rPr lang="de-DE" sz="18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a:rPr lang="de-DE" sz="18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  <m:t>64</m:t>
                            </m:r>
                          </m:den>
                        </m:f>
                        <m:r>
                          <a:rPr lang="de-DE" sz="18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1800" b="0" i="1" noProof="0" smtClean="0">
                                <a:latin typeface="Cambria Math" panose="02040503050406030204" pitchFamily="18" charset="0"/>
                              </a:rPr>
                              <m:t>64</m:t>
                            </m:r>
                          </m:den>
                        </m:f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de-DE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64</m:t>
                            </m:r>
                          </m:den>
                        </m:f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de-DE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1800" i="1">
                                <a:latin typeface="Cambria Math" panose="02040503050406030204" pitchFamily="18" charset="0"/>
                              </a:rPr>
                              <m:t>64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1800" noProof="0" dirty="0"/>
                  <a:t>:</a:t>
                </a:r>
              </a:p>
              <a:p>
                <a:pPr marL="0" indent="0">
                  <a:buNone/>
                </a:pPr>
                <a:endParaRPr lang="en-GB" sz="800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=2 (</m:t>
                      </m:r>
                      <m:r>
                        <m:rPr>
                          <m:sty m:val="p"/>
                        </m:rPr>
                        <a:rPr lang="de-DE" sz="1800" b="0" i="0" noProof="0" smtClean="0">
                          <a:latin typeface="Cambria Math" panose="02040503050406030204" pitchFamily="18" charset="0"/>
                        </a:rPr>
                        <m:t>bits</m:t>
                      </m:r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000" b="0" noProof="0" dirty="0"/>
              </a:p>
              <a:p>
                <a:pPr marL="0" indent="0">
                  <a:buNone/>
                </a:pPr>
                <a:r>
                  <a:rPr lang="en-GB" sz="2000" b="0" noProof="0" dirty="0"/>
                  <a:t>Average code length:</a:t>
                </a:r>
              </a:p>
              <a:p>
                <a:pPr marL="0" indent="0">
                  <a:buNone/>
                </a:pPr>
                <a:r>
                  <a:rPr lang="en-GB" sz="1800" dirty="0"/>
                  <a:t>Using 3-bit coding scheme: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800" b="0" i="0" noProof="0" smtClean="0">
                          <a:latin typeface="Cambria Math" panose="02040503050406030204" pitchFamily="18" charset="0"/>
                        </a:rPr>
                        <m:t>ACL</m:t>
                      </m:r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+4×</m:t>
                      </m:r>
                      <m:f>
                        <m:f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64</m:t>
                          </m:r>
                        </m:den>
                      </m:f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de-DE" sz="1800" b="0" noProof="0" dirty="0"/>
              </a:p>
              <a:p>
                <a:pPr marL="0" indent="0">
                  <a:buNone/>
                </a:pPr>
                <a:r>
                  <a:rPr lang="en-GB" sz="1800" dirty="0"/>
                  <a:t>Using optimal coding scheme: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800" b="0" i="0" noProof="0" smtClean="0">
                          <a:latin typeface="Cambria Math" panose="02040503050406030204" pitchFamily="18" charset="0"/>
                        </a:rPr>
                        <m:t>ACL</m:t>
                      </m:r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+4×</m:t>
                      </m:r>
                      <m:f>
                        <m:fPr>
                          <m:ctrlP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de-DE" sz="1800" b="0" i="1" noProof="0" smtClean="0">
                              <a:latin typeface="Cambria Math" panose="02040503050406030204" pitchFamily="18" charset="0"/>
                            </a:rPr>
                            <m:t>64</m:t>
                          </m:r>
                        </m:den>
                      </m:f>
                      <m:r>
                        <a:rPr lang="de-DE" sz="1800" b="0" i="1" noProof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800" b="0" noProof="0" dirty="0"/>
              </a:p>
              <a:p>
                <a:pPr marL="0" indent="0">
                  <a:buNone/>
                </a:pPr>
                <a:endParaRPr lang="de-DE" sz="2000" b="0" noProof="0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527AF1F0-C519-3025-E459-BD798EF7A9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174" t="-111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feld 4">
            <a:extLst>
              <a:ext uri="{FF2B5EF4-FFF2-40B4-BE49-F238E27FC236}">
                <a16:creationId xmlns:a16="http://schemas.microsoft.com/office/drawing/2014/main" id="{B7C844A6-5D1D-DC97-9633-AA5C2C23B81B}"/>
              </a:ext>
            </a:extLst>
          </p:cNvPr>
          <p:cNvSpPr txBox="1"/>
          <p:nvPr/>
        </p:nvSpPr>
        <p:spPr>
          <a:xfrm>
            <a:off x="9934832" y="6417276"/>
            <a:ext cx="13516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Shannon, 1948</a:t>
            </a:r>
          </a:p>
        </p:txBody>
      </p:sp>
    </p:spTree>
    <p:extLst>
      <p:ext uri="{BB962C8B-B14F-4D97-AF65-F5344CB8AC3E}">
        <p14:creationId xmlns:p14="http://schemas.microsoft.com/office/powerpoint/2010/main" val="11571761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61B6F3-45DB-DBB2-2B83-8ABDF2EDA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Minimum description length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D5EBDD-BA34-9E5A-1707-841FB54250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GB" sz="2400" noProof="0" dirty="0"/>
              <a:t>So far, we have exclusively focused on the number of parameters as a source of complexity</a:t>
            </a:r>
          </a:p>
          <a:p>
            <a:r>
              <a:rPr lang="en-GB" sz="2400" dirty="0"/>
              <a:t>However, models differ in their inherent ability to account for data</a:t>
            </a:r>
          </a:p>
          <a:p>
            <a:r>
              <a:rPr lang="en-GB" sz="2400" noProof="0" dirty="0"/>
              <a:t>Also, we have so far assumed </a:t>
            </a:r>
            <a:r>
              <a:rPr lang="en-GB" sz="2400" dirty="0"/>
              <a:t>that there is a true distribution that generated the data</a:t>
            </a:r>
          </a:p>
          <a:p>
            <a:r>
              <a:rPr lang="en-GB" sz="2400" noProof="0" dirty="0"/>
              <a:t>Using minimum description length for model comparison, we take inherent complexity into account and dispose of the true distribution assumption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5F08DA74-C1BE-0F19-0A71-6EFD631DF92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noProof="0" dirty="0"/>
                  <a:t>Definition: Normalized maximum likelihood (NML)</a:t>
                </a:r>
              </a:p>
              <a:p>
                <a:pPr marL="0" indent="0">
                  <a:buNone/>
                </a:pPr>
                <a:endParaRPr lang="en-GB" sz="2400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noProof="0" smtClean="0">
                          <a:latin typeface="Cambria Math" panose="02040503050406030204" pitchFamily="18" charset="0"/>
                        </a:rPr>
                        <m:t>𝑁𝑀𝐿</m:t>
                      </m:r>
                      <m:r>
                        <a:rPr lang="de-DE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de-DE" sz="24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de-DE" sz="24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4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de-DE" sz="2400" b="0" i="1" noProof="0" dirty="0" smtClean="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de-DE" sz="2400" b="0" i="1" noProof="0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∫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de-DE" sz="2400" i="1" dirty="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de-DE" sz="2400" b="0" i="1" dirty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de-DE" sz="2400" b="0" i="1" dirty="0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</m:oMath>
                  </m:oMathPara>
                </a14:m>
                <a:endParaRPr lang="en-GB" sz="2400" noProof="0" dirty="0"/>
              </a:p>
              <a:p>
                <a:pPr marL="0" indent="0">
                  <a:buNone/>
                </a:pPr>
                <a:r>
                  <a:rPr lang="en-GB" sz="2400" dirty="0"/>
                  <a:t>Example: Binomial model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noProof="0" smtClean="0">
                          <a:latin typeface="Cambria Math" panose="02040503050406030204" pitchFamily="18" charset="0"/>
                        </a:rPr>
                        <m:t>𝑁𝑀𝐿</m:t>
                      </m:r>
                      <m:r>
                        <a:rPr lang="de-DE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de-DE" sz="24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de-DE" sz="24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de-DE" sz="24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e>
                                  <m:r>
                                    <a:rPr lang="de-DE" sz="24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eqArr>
                            </m:e>
                          </m:d>
                          <m:sSup>
                            <m:sSupPr>
                              <m:ctrlPr>
                                <a:rPr lang="de-DE" sz="24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sz="24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de-DE" sz="2400" b="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2400" b="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de-DE" sz="2400" b="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de-DE" sz="24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de-DE" sz="24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sz="24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de-DE" sz="2400" b="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2400" b="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de-DE" sz="2400" b="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de-DE" sz="2400" b="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de-DE" sz="2400" b="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de-DE" sz="24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de-DE" sz="24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sz="24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de-DE" sz="2400" b="0" i="1" noProof="0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de-DE" sz="2400" b="0" i="1" noProof="0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de-DE" sz="2400" b="0" i="1" noProof="0" dirty="0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de-DE" sz="2400" b="0" i="1" noProof="0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de-DE" sz="2400" b="0" i="1" noProof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de-DE" sz="2400" b="0" i="1" noProof="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de-DE" sz="2400" b="0" i="1" noProof="0" dirty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e>
                                      <m:r>
                                        <a:rPr lang="de-DE" sz="2400" b="0" i="1" noProof="0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eqArr>
                                </m:e>
                              </m:d>
                              <m:sSup>
                                <m:sSupPr>
                                  <m:ctrlPr>
                                    <a:rPr lang="de-DE" sz="2400" b="0" i="1" noProof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sz="2400" b="0" i="1" noProof="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de-DE" sz="2400" b="0" i="1" noProof="0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DE" sz="2400" b="0" i="1" noProof="0" dirty="0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num>
                                        <m:den>
                                          <m:r>
                                            <a:rPr lang="de-DE" sz="2400" b="0" i="1" noProof="0" dirty="0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de-DE" sz="2400" b="0" i="1" noProof="0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de-DE" sz="2400" b="0" i="1" noProof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sz="2400" b="0" i="1" noProof="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de-DE" sz="2400" b="0" i="1" noProof="0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DE" sz="2400" b="0" i="1" noProof="0" dirty="0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de-DE" sz="2400" b="0" i="1" noProof="0" dirty="0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de-DE" sz="2400" b="0" i="1" noProof="0" dirty="0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num>
                                        <m:den>
                                          <m:r>
                                            <a:rPr lang="de-DE" sz="2400" b="0" i="1" noProof="0" dirty="0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de-DE" sz="2400" b="0" i="1" noProof="0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de-DE" sz="2400" b="0" i="1" noProof="0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sz="2400" b="0" i="1" noProof="0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GB" sz="2400" noProof="0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5F08DA74-C1BE-0F19-0A71-6EFD631DF9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882" t="-18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58109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70C85-E8B6-DB4A-CC9C-0B4EE674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765813-483D-0255-EE0F-AD1B84EDF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Further considerations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8BADAE-1802-8877-B1FF-FA16AB7C6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identifiability and model testability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0484727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43EB74-7FCC-21A0-73FD-DCBE244AA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Parameter identifiability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F22CFB-0016-28A7-83EB-61FC12DF00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 noProof="0" dirty="0"/>
              <a:t>There are situations in which parameters cannot be uniquely identified</a:t>
            </a:r>
          </a:p>
          <a:p>
            <a:r>
              <a:rPr lang="en-GB" sz="2400" dirty="0"/>
              <a:t>Scaling: In some models (e.g., DDM, LBA, EBA) one or more parameters need to be fixed, so that the remaining ones are identifiable</a:t>
            </a:r>
          </a:p>
          <a:p>
            <a:r>
              <a:rPr lang="en-GB" sz="2400" noProof="0" dirty="0"/>
              <a:t>Without this restriction, the solution is not unique; there can be infinitely many combinations that provide the same quality of fit and predictions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A3046CF4-4379-B404-1291-86FE8E91C6B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noProof="0" dirty="0"/>
                  <a:t>Example: EBA (BTL)</a:t>
                </a:r>
              </a:p>
              <a:p>
                <a:pPr marL="0" indent="0">
                  <a:buNone/>
                </a:pPr>
                <a:r>
                  <a:rPr lang="en-GB" sz="2000" dirty="0"/>
                  <a:t>Three alternatives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2000" dirty="0"/>
                  <a:t> with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GB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de-DE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sz="20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000" b="0" i="1" noProof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e-DE" sz="2000" b="0" i="1" noProof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GB" sz="2000" noProof="0" dirty="0"/>
              </a:p>
              <a:p>
                <a:pPr marL="0" indent="0">
                  <a:buNone/>
                </a:pPr>
                <a:r>
                  <a:rPr lang="en-GB" sz="2000" dirty="0"/>
                  <a:t>Same predictions for</a:t>
                </a:r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=2.0, </m:t>
                      </m:r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=1.0, </m:t>
                      </m:r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de-DE" sz="2000" b="0" noProof="0" dirty="0"/>
              </a:p>
              <a:p>
                <a:pPr marL="0" indent="0">
                  <a:buNone/>
                </a:pPr>
                <a:r>
                  <a:rPr lang="en-GB" sz="2000" dirty="0"/>
                  <a:t>and</a:t>
                </a:r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=4.0, </m:t>
                      </m:r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=2.0, </m:t>
                      </m:r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2000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de-DE" sz="2000" b="0" i="1" noProof="0" smtClean="0">
                          <a:latin typeface="Cambria Math" panose="02040503050406030204" pitchFamily="18" charset="0"/>
                        </a:rPr>
                        <m:t>=1.</m:t>
                      </m:r>
                      <m:r>
                        <a:rPr lang="de-DE" sz="2000" b="0" i="0" noProof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de-DE" sz="2000" b="0" noProof="0" dirty="0"/>
              </a:p>
              <a:p>
                <a:pPr marL="0" indent="0">
                  <a:buNone/>
                </a:pPr>
                <a:endParaRPr lang="en-GB" sz="2000" noProof="0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A3046CF4-4379-B404-1291-86FE8E91C6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761" t="-167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98800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DEEA3E-2E26-F04F-0024-72F3741DD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Model testability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9BACBB-03CF-DF40-AB9D-FC60F946F6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 noProof="0" dirty="0"/>
              <a:t>The question if a model is testable is a different but related issue</a:t>
            </a:r>
          </a:p>
          <a:p>
            <a:r>
              <a:rPr lang="en-GB" sz="2400" noProof="0" dirty="0"/>
              <a:t>Testability issues arises most frequently, if the number of datapoints is low in relation to the number of free parameters</a:t>
            </a:r>
          </a:p>
          <a:p>
            <a:r>
              <a:rPr lang="en-GB" sz="2400" noProof="0" dirty="0"/>
              <a:t>If the number of free data points equals the number of free parameters, those parameters are identifiable, but the model is not testable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877FFDC-0A5C-7E94-7A30-C3DC571A3E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noProof="0" dirty="0"/>
              <a:t>Examples:</a:t>
            </a:r>
          </a:p>
          <a:p>
            <a:r>
              <a:rPr lang="en-GB" sz="2000" b="1" noProof="0" dirty="0"/>
              <a:t>Polynomial regression </a:t>
            </a:r>
            <a:r>
              <a:rPr lang="en-GB" sz="2000" noProof="0" dirty="0"/>
              <a:t>in which the grade of the polynomial is one less than data points</a:t>
            </a:r>
          </a:p>
          <a:p>
            <a:r>
              <a:rPr lang="en-GB" sz="2000" b="1" dirty="0"/>
              <a:t>Signal detection theory</a:t>
            </a:r>
            <a:r>
              <a:rPr lang="en-GB" sz="2000" dirty="0"/>
              <a:t>: In an experiment with signal and noise trials there are only two free data points, the equal variance SDT has exactly two free parameters (hits and False alarm; since both rows must sum to 1, misses and correct rejections are given). The model is therefore not testable</a:t>
            </a:r>
            <a:endParaRPr lang="en-GB" sz="2400" dirty="0"/>
          </a:p>
          <a:p>
            <a:pPr marL="0" indent="0">
              <a:buNone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39178543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23F2B0-8CA0-0273-278C-A872F5BAF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Summary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AD4DC5-2970-D41E-CCD5-D144BDF66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400" noProof="0" dirty="0"/>
              <a:t>After fitting a model to data, we want to know how good the fit is</a:t>
            </a:r>
          </a:p>
          <a:p>
            <a:r>
              <a:rPr lang="en-GB" sz="2400" dirty="0"/>
              <a:t>Quality of fit is best assessed in comparison to another model</a:t>
            </a:r>
          </a:p>
          <a:p>
            <a:r>
              <a:rPr lang="en-GB" sz="2400" dirty="0"/>
              <a:t>This can be done via significance tests for nested models</a:t>
            </a:r>
          </a:p>
          <a:p>
            <a:r>
              <a:rPr lang="en-GB" sz="2400" dirty="0"/>
              <a:t>For non-nested models, other criteria (AIC, BIC) are needed</a:t>
            </a:r>
          </a:p>
          <a:p>
            <a:r>
              <a:rPr lang="en-GB" sz="2400" dirty="0"/>
              <a:t>Model comparisons allow for testing the influence of single parameters</a:t>
            </a:r>
          </a:p>
          <a:p>
            <a:r>
              <a:rPr lang="en-GB" sz="2400" dirty="0"/>
              <a:t>In addition, we need to pay attention to parameter identifiability and if the model is testable at all</a:t>
            </a:r>
          </a:p>
        </p:txBody>
      </p:sp>
    </p:spTree>
    <p:extLst>
      <p:ext uri="{BB962C8B-B14F-4D97-AF65-F5344CB8AC3E}">
        <p14:creationId xmlns:p14="http://schemas.microsoft.com/office/powerpoint/2010/main" val="3367943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13768</TotalTime>
  <Words>4042</Words>
  <Application>Microsoft Office PowerPoint</Application>
  <PresentationFormat>Widescreen</PresentationFormat>
  <Paragraphs>453</Paragraphs>
  <Slides>43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Aptos</vt:lpstr>
      <vt:lpstr>Aptos Display</vt:lpstr>
      <vt:lpstr>Arial</vt:lpstr>
      <vt:lpstr>Cambria Math</vt:lpstr>
      <vt:lpstr>Consolas</vt:lpstr>
      <vt:lpstr>Office Theme</vt:lpstr>
      <vt:lpstr>Cognitive Modelling</vt:lpstr>
      <vt:lpstr>Course overview</vt:lpstr>
      <vt:lpstr>Course overview</vt:lpstr>
      <vt:lpstr>Todays plan: Model comparison </vt:lpstr>
      <vt:lpstr>Todays plan: Model comparison </vt:lpstr>
      <vt:lpstr>Todays plan: Model comparison </vt:lpstr>
      <vt:lpstr>Model comparison</vt:lpstr>
      <vt:lpstr>The problem of model complexity</vt:lpstr>
      <vt:lpstr>The problem of model complexity</vt:lpstr>
      <vt:lpstr>Overfitting</vt:lpstr>
      <vt:lpstr>Nested model tests</vt:lpstr>
      <vt:lpstr>The likelihood-ratio test</vt:lpstr>
      <vt:lpstr>Practice task:</vt:lpstr>
      <vt:lpstr>Non-nested model tests</vt:lpstr>
      <vt:lpstr>Information theory</vt:lpstr>
      <vt:lpstr>KL-divergence</vt:lpstr>
      <vt:lpstr>Estimating KL-divergence</vt:lpstr>
      <vt:lpstr>An information criterion</vt:lpstr>
      <vt:lpstr>Akaike information criterion</vt:lpstr>
      <vt:lpstr>Akaike information criterion</vt:lpstr>
      <vt:lpstr>Interim summary</vt:lpstr>
      <vt:lpstr>Correction for small samples</vt:lpstr>
      <vt:lpstr>AIC in practise</vt:lpstr>
      <vt:lpstr>Multi-model comparisons</vt:lpstr>
      <vt:lpstr>Multi-model comparisons</vt:lpstr>
      <vt:lpstr>Corrected AIC</vt:lpstr>
      <vt:lpstr>Leave-one-out-cross-validation (LOO-CV)</vt:lpstr>
      <vt:lpstr>Practice task: PSIS-LOO-CV</vt:lpstr>
      <vt:lpstr>AIC and LOO-CV</vt:lpstr>
      <vt:lpstr>Model comparison</vt:lpstr>
      <vt:lpstr>Bayes factor</vt:lpstr>
      <vt:lpstr>Bayes factor</vt:lpstr>
      <vt:lpstr>Bayes factor</vt:lpstr>
      <vt:lpstr>Bayesian information criterion</vt:lpstr>
      <vt:lpstr>Approximating Bayes factors by BIC </vt:lpstr>
      <vt:lpstr>Model comparison</vt:lpstr>
      <vt:lpstr>Source coding theorem</vt:lpstr>
      <vt:lpstr>Source coding theorem</vt:lpstr>
      <vt:lpstr>Minimum description length</vt:lpstr>
      <vt:lpstr>Further considerations</vt:lpstr>
      <vt:lpstr>Parameter identifiability</vt:lpstr>
      <vt:lpstr>Model testability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Skjoldan Mortensen</dc:creator>
  <cp:lastModifiedBy>Erik Skjoldan Mortensen</cp:lastModifiedBy>
  <cp:revision>6</cp:revision>
  <dcterms:created xsi:type="dcterms:W3CDTF">2026-03-18T12:03:46Z</dcterms:created>
  <dcterms:modified xsi:type="dcterms:W3CDTF">2026-05-11T12:30:45Z</dcterms:modified>
</cp:coreProperties>
</file>